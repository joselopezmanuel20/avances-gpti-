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ED083AE6-46FA-4A59-8FB0-9F97EB10719F}" styleName="Estilo claro 3 - Acento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269D01E-BC32-4049-B463-5C60D7B0CCD2}" styleName="Estilo temático 2 - Énfasis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F5AB1C69-6EDB-4FF4-983F-18BD219EF322}" styleName="Estilo medio 2 - Énfasis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1173" autoAdjust="0"/>
  </p:normalViewPr>
  <p:slideViewPr>
    <p:cSldViewPr snapToGrid="0">
      <p:cViewPr>
        <p:scale>
          <a:sx n="75" d="100"/>
          <a:sy n="75" d="100"/>
        </p:scale>
        <p:origin x="946" y="10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C1156E1E-2F98-4D2E-85AD-598FFB0C4B21}"/>
              </a:ext>
            </a:extLst>
          </p:cNvPr>
          <p:cNvSpPr>
            <a:spLocks noGrp="1"/>
          </p:cNvSpPr>
          <p:nvPr/>
        </p:nvSpPr>
        <p:spPr>
          <a:xfrm>
            <a:off x="5791200" y="22098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63985A90-0C60-4E2A-ADFC-CD5F7DB9BC7F}"/>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Subtitle">
            <a:extLst>
              <a:ext uri="{FF2B5EF4-FFF2-40B4-BE49-F238E27FC236}">
                <a16:creationId xmlns:a16="http://schemas.microsoft.com/office/drawing/2014/main" id="{AC280828-C32C-4B01-9550-7191C22120B8}"/>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3" name="Accent rule">
            <a:extLst>
              <a:ext uri="{FF2B5EF4-FFF2-40B4-BE49-F238E27FC236}">
                <a16:creationId xmlns:a16="http://schemas.microsoft.com/office/drawing/2014/main" id="{C583245C-6F3D-4BB0-BE69-AFDB8E1DEAB3}"/>
              </a:ext>
            </a:extLst>
          </p:cNvPr>
          <p:cNvSpPr>
            <a:spLocks noGrp="1"/>
          </p:cNvSpPr>
          <p:nvPr/>
        </p:nvSpPr>
        <p:spPr>
          <a:xfrm>
            <a:off x="5791200" y="2476500"/>
            <a:ext cx="609600" cy="38100"/>
          </a:xfrm>
          <a:prstGeom prst="rect">
            <a:avLst/>
          </a:prstGeom>
          <a:solidFill>
            <a:schemeClr val="accent1"/>
          </a:solidFill>
          <a:ln>
            <a:noFill/>
            <a:prstDash val="solid"/>
          </a:ln>
        </p:spPr>
      </p:sp>
      <p:sp>
        <p:nvSpPr>
          <p:cNvPr id="2" name="Section title">
            <a:extLst>
              <a:ext uri="{FF2B5EF4-FFF2-40B4-BE49-F238E27FC236}">
                <a16:creationId xmlns:a16="http://schemas.microsoft.com/office/drawing/2014/main" id="{7666CBF4-96F5-4610-A9D1-75DCB142BB2F}"/>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8495B5EB-78EF-434A-A694-99D422487BBE}"/>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E8B0912E-BCA3-4470-B062-0524216D3529}"/>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Body">
            <a:extLst>
              <a:ext uri="{FF2B5EF4-FFF2-40B4-BE49-F238E27FC236}">
                <a16:creationId xmlns:a16="http://schemas.microsoft.com/office/drawing/2014/main" id="{97479483-0C7A-49BB-9C2E-04005019E0F2}"/>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5" name="Accent rule">
            <a:extLst>
              <a:ext uri="{FF2B5EF4-FFF2-40B4-BE49-F238E27FC236}">
                <a16:creationId xmlns:a16="http://schemas.microsoft.com/office/drawing/2014/main" id="{1A6C4DED-B2C7-4A57-AE54-27E247E1C177}"/>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96540502-DD00-4B87-BA29-432032DA56D3}"/>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Left column">
            <a:extLst>
              <a:ext uri="{FF2B5EF4-FFF2-40B4-BE49-F238E27FC236}">
                <a16:creationId xmlns:a16="http://schemas.microsoft.com/office/drawing/2014/main" id="{DACE879D-9EAB-4DDF-BE95-18015248E703}"/>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4" name="Right column">
            <a:extLst>
              <a:ext uri="{FF2B5EF4-FFF2-40B4-BE49-F238E27FC236}">
                <a16:creationId xmlns:a16="http://schemas.microsoft.com/office/drawing/2014/main" id="{01B8DFB6-5F0C-4C2C-82D2-F733E2DE5653}"/>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55C15733-C5C0-470D-82DF-29DEF5C94D86}"/>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A57B4F5D-D9DB-4887-BE16-B092AFEF8327}"/>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Left column">
            <a:extLst>
              <a:ext uri="{FF2B5EF4-FFF2-40B4-BE49-F238E27FC236}">
                <a16:creationId xmlns:a16="http://schemas.microsoft.com/office/drawing/2014/main" id="{27B35DFC-7C91-4428-B34E-902DF3171FE6}"/>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CFD"/>
        </a:solidFill>
        <a:effectLst/>
      </p:bgPr>
    </p:bg>
    <p:spTree>
      <p:nvGrpSpPr>
        <p:cNvPr id="1" name=""/>
        <p:cNvGrpSpPr/>
        <p:nvPr/>
      </p:nvGrpSpPr>
      <p:grpSpPr>
        <a:xfrm>
          <a:off x="0" y="0"/>
          <a:ext cx="0" cy="0"/>
          <a:chOff x="0" y="0"/>
          <a:chExt cx="0" cy="0"/>
        </a:xfrm>
      </p:grpSpPr>
      <p:pic>
        <p:nvPicPr>
          <p:cNvPr id="12" name="Imagen 11">
            <a:extLst>
              <a:ext uri="{FF2B5EF4-FFF2-40B4-BE49-F238E27FC236}">
                <a16:creationId xmlns:a16="http://schemas.microsoft.com/office/drawing/2014/main" id="{9BDCCB61-BC0E-4E33-9AC7-ACA17D9A3AA2}"/>
              </a:ext>
            </a:extLst>
          </p:cNvPr>
          <p:cNvPicPr>
            <a:picLocks noChangeAspect="1"/>
          </p:cNvPicPr>
          <p:nvPr/>
        </p:nvPicPr>
        <p:blipFill>
          <a:blip r:embed="rId3"/>
          <a:stretch>
            <a:fillRect/>
          </a:stretch>
        </p:blipFill>
        <p:spPr>
          <a:xfrm>
            <a:off x="8310059" y="375251"/>
            <a:ext cx="2362200" cy="1039927"/>
          </a:xfrm>
          <a:prstGeom prst="rect">
            <a:avLst/>
          </a:prstGeom>
        </p:spPr>
      </p:pic>
      <p:pic>
        <p:nvPicPr>
          <p:cNvPr id="13" name="Imagen 12">
            <a:extLst>
              <a:ext uri="{FF2B5EF4-FFF2-40B4-BE49-F238E27FC236}">
                <a16:creationId xmlns:a16="http://schemas.microsoft.com/office/drawing/2014/main" id="{C86EC79A-CC93-4773-88D4-D02C03309EC8}"/>
              </a:ext>
            </a:extLst>
          </p:cNvPr>
          <p:cNvPicPr>
            <a:picLocks noChangeAspect="1"/>
          </p:cNvPicPr>
          <p:nvPr/>
        </p:nvPicPr>
        <p:blipFill>
          <a:blip r:embed="rId4"/>
          <a:stretch>
            <a:fillRect/>
          </a:stretch>
        </p:blipFill>
        <p:spPr>
          <a:xfrm>
            <a:off x="5126730" y="253289"/>
            <a:ext cx="2143125" cy="1039927"/>
          </a:xfrm>
          <a:prstGeom prst="rect">
            <a:avLst/>
          </a:prstGeom>
        </p:spPr>
      </p:pic>
      <p:sp>
        <p:nvSpPr>
          <p:cNvPr id="14" name="Rectángulo 13">
            <a:extLst>
              <a:ext uri="{FF2B5EF4-FFF2-40B4-BE49-F238E27FC236}">
                <a16:creationId xmlns:a16="http://schemas.microsoft.com/office/drawing/2014/main" id="{498009BF-098C-4FE6-AFBF-8F3961A1DCEF}"/>
              </a:ext>
            </a:extLst>
          </p:cNvPr>
          <p:cNvSpPr/>
          <p:nvPr/>
        </p:nvSpPr>
        <p:spPr>
          <a:xfrm>
            <a:off x="1282120" y="1475557"/>
            <a:ext cx="9699811" cy="707886"/>
          </a:xfrm>
          <a:prstGeom prst="rect">
            <a:avLst/>
          </a:prstGeom>
          <a:noFill/>
        </p:spPr>
        <p:txBody>
          <a:bodyPr wrap="square" lIns="91440" tIns="45720" rIns="91440" bIns="45720">
            <a:spAutoFit/>
          </a:bodyPr>
          <a:lstStyle/>
          <a:p>
            <a:pPr algn="ctr"/>
            <a:r>
              <a:rPr lang="es-ES" sz="4000" dirty="0"/>
              <a:t>Instituto Tecnológico de Frontera Comalapa</a:t>
            </a:r>
          </a:p>
        </p:txBody>
      </p:sp>
      <p:pic>
        <p:nvPicPr>
          <p:cNvPr id="15" name="Imagen 14">
            <a:extLst>
              <a:ext uri="{FF2B5EF4-FFF2-40B4-BE49-F238E27FC236}">
                <a16:creationId xmlns:a16="http://schemas.microsoft.com/office/drawing/2014/main" id="{0CB0CF2D-F626-4FAC-9E46-1A46707D68F8}"/>
              </a:ext>
            </a:extLst>
          </p:cNvPr>
          <p:cNvPicPr>
            <a:picLocks noChangeAspect="1"/>
          </p:cNvPicPr>
          <p:nvPr/>
        </p:nvPicPr>
        <p:blipFill>
          <a:blip r:embed="rId5"/>
          <a:stretch>
            <a:fillRect/>
          </a:stretch>
        </p:blipFill>
        <p:spPr>
          <a:xfrm>
            <a:off x="1282120" y="239842"/>
            <a:ext cx="3276602" cy="1025761"/>
          </a:xfrm>
          <a:prstGeom prst="rect">
            <a:avLst/>
          </a:prstGeom>
        </p:spPr>
      </p:pic>
      <p:sp>
        <p:nvSpPr>
          <p:cNvPr id="16" name="CuadroTexto 15">
            <a:extLst>
              <a:ext uri="{FF2B5EF4-FFF2-40B4-BE49-F238E27FC236}">
                <a16:creationId xmlns:a16="http://schemas.microsoft.com/office/drawing/2014/main" id="{7F880FD3-66BC-429F-AA50-79B2115CCCC0}"/>
              </a:ext>
            </a:extLst>
          </p:cNvPr>
          <p:cNvSpPr txBox="1"/>
          <p:nvPr/>
        </p:nvSpPr>
        <p:spPr>
          <a:xfrm>
            <a:off x="2920421" y="2212427"/>
            <a:ext cx="6106160" cy="4524315"/>
          </a:xfrm>
          <a:prstGeom prst="rect">
            <a:avLst/>
          </a:prstGeom>
          <a:noFill/>
        </p:spPr>
        <p:txBody>
          <a:bodyPr wrap="square" rtlCol="0">
            <a:spAutoFit/>
          </a:bodyPr>
          <a:lstStyle/>
          <a:p>
            <a:pPr algn="ctr"/>
            <a:r>
              <a:rPr lang="es-MX" sz="1600" b="1" dirty="0">
                <a:latin typeface="Arial" panose="020B0604020202020204" pitchFamily="34" charset="0"/>
                <a:cs typeface="Arial" panose="020B0604020202020204" pitchFamily="34" charset="0"/>
              </a:rPr>
              <a:t>Nombre del docente: </a:t>
            </a:r>
          </a:p>
          <a:p>
            <a:pPr algn="ctr"/>
            <a:r>
              <a:rPr lang="es-MX" sz="1600" dirty="0"/>
              <a:t>Ing. Francisco Javier mingo Velázquez</a:t>
            </a:r>
          </a:p>
          <a:p>
            <a:pPr algn="ctr"/>
            <a:r>
              <a:rPr lang="es-MX" sz="1600" b="1" dirty="0">
                <a:latin typeface="Arial" panose="020B0604020202020204" pitchFamily="34" charset="0"/>
                <a:cs typeface="Arial" panose="020B0604020202020204" pitchFamily="34" charset="0"/>
              </a:rPr>
              <a:t>Materia: </a:t>
            </a:r>
          </a:p>
          <a:p>
            <a:pPr algn="ctr"/>
            <a:r>
              <a:rPr lang="es-MX" sz="1600" dirty="0"/>
              <a:t>Gestión de proyectos de Ti</a:t>
            </a:r>
          </a:p>
          <a:p>
            <a:pPr algn="ctr"/>
            <a:r>
              <a:rPr lang="es-MX" sz="1600" b="1" dirty="0">
                <a:latin typeface="Arial" panose="020B0604020202020204" pitchFamily="34" charset="0"/>
                <a:cs typeface="Arial" panose="020B0604020202020204" pitchFamily="34" charset="0"/>
              </a:rPr>
              <a:t>Carrera:</a:t>
            </a:r>
          </a:p>
          <a:p>
            <a:pPr algn="ctr"/>
            <a:r>
              <a:rPr lang="es-MX" sz="1600" dirty="0"/>
              <a:t>Ing. Sistemas computacionales</a:t>
            </a:r>
          </a:p>
          <a:p>
            <a:pPr algn="ctr"/>
            <a:r>
              <a:rPr lang="es-MX" sz="1600" b="1" dirty="0">
                <a:latin typeface="Arial" panose="020B0604020202020204" pitchFamily="34" charset="0"/>
                <a:cs typeface="Arial" panose="020B0604020202020204" pitchFamily="34" charset="0"/>
              </a:rPr>
              <a:t>Modalidad:</a:t>
            </a:r>
          </a:p>
          <a:p>
            <a:pPr algn="ctr"/>
            <a:r>
              <a:rPr lang="es-MX" sz="1600" dirty="0"/>
              <a:t>Mixta</a:t>
            </a:r>
          </a:p>
          <a:p>
            <a:pPr algn="ctr"/>
            <a:r>
              <a:rPr lang="es-MX" sz="1600" b="1" dirty="0">
                <a:latin typeface="Arial" panose="020B0604020202020204" pitchFamily="34" charset="0"/>
                <a:cs typeface="Arial" panose="020B0604020202020204" pitchFamily="34" charset="0"/>
              </a:rPr>
              <a:t>Num.control:</a:t>
            </a:r>
          </a:p>
          <a:p>
            <a:pPr algn="ctr"/>
            <a:r>
              <a:rPr lang="es-MX" sz="1600" dirty="0"/>
              <a:t>231260036</a:t>
            </a:r>
          </a:p>
          <a:p>
            <a:pPr algn="ctr"/>
            <a:r>
              <a:rPr lang="es-MX" sz="1600" b="1" dirty="0">
                <a:latin typeface="Arial" panose="020B0604020202020204" pitchFamily="34" charset="0"/>
                <a:cs typeface="Arial" panose="020B0604020202020204" pitchFamily="34" charset="0"/>
              </a:rPr>
              <a:t>Nombre del alumno:</a:t>
            </a:r>
          </a:p>
          <a:p>
            <a:pPr algn="ctr"/>
            <a:r>
              <a:rPr lang="es-MX" sz="1600" dirty="0"/>
              <a:t>Jose Manuel Vazquez Lopez</a:t>
            </a:r>
          </a:p>
          <a:p>
            <a:pPr algn="ctr"/>
            <a:r>
              <a:rPr lang="es-MX" sz="1600" b="1" dirty="0">
                <a:latin typeface="Arial" panose="020B0604020202020204" pitchFamily="34" charset="0"/>
                <a:cs typeface="Arial" panose="020B0604020202020204" pitchFamily="34" charset="0"/>
              </a:rPr>
              <a:t>Semestre:</a:t>
            </a:r>
          </a:p>
          <a:p>
            <a:pPr algn="ctr"/>
            <a:r>
              <a:rPr lang="es-MX" sz="1600" dirty="0"/>
              <a:t>Sexto Semestre</a:t>
            </a:r>
          </a:p>
          <a:p>
            <a:pPr algn="ctr"/>
            <a:r>
              <a:rPr lang="es-MX" sz="1600" b="1" dirty="0">
                <a:latin typeface="Arial" panose="020B0604020202020204" pitchFamily="34" charset="0"/>
                <a:cs typeface="Arial" panose="020B0604020202020204" pitchFamily="34" charset="0"/>
              </a:rPr>
              <a:t>Nombre del trabajo:</a:t>
            </a:r>
          </a:p>
          <a:p>
            <a:pPr algn="ctr"/>
            <a:r>
              <a:rPr lang="es-MX" sz="1600" dirty="0"/>
              <a:t>Actividad 6.2-Reporte de Practica</a:t>
            </a:r>
          </a:p>
          <a:p>
            <a:pPr algn="ctr"/>
            <a:r>
              <a:rPr lang="es-MX" sz="1600" dirty="0"/>
              <a:t>Fecha:</a:t>
            </a:r>
          </a:p>
          <a:p>
            <a:pPr algn="ctr"/>
            <a:r>
              <a:rPr lang="es-MX" sz="1600" dirty="0"/>
              <a:t>14/02/2026</a:t>
            </a:r>
          </a:p>
        </p:txBody>
      </p:sp>
    </p:spTree>
    <p:extLst>
      <p:ext uri="{BB962C8B-B14F-4D97-AF65-F5344CB8AC3E}">
        <p14:creationId xmlns:p14="http://schemas.microsoft.com/office/powerpoint/2010/main" val="14761819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CFD"/>
        </a:solid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77A9F323-39CB-45BB-A4CA-3A3EDBD0DAEA}"/>
              </a:ext>
            </a:extLst>
          </p:cNvPr>
          <p:cNvSpPr>
            <a:spLocks noGrp="1"/>
          </p:cNvSpPr>
          <p:nvPr/>
        </p:nvSpPr>
        <p:spPr>
          <a:xfrm>
            <a:off x="11049000" y="6238875"/>
            <a:ext cx="571500" cy="285750"/>
          </a:xfrm>
          <a:prstGeom prst="rect">
            <a:avLst/>
          </a:prstGeom>
          <a:noFill/>
          <a:ln w="0">
            <a:noFill/>
          </a:ln>
        </p:spPr>
        <p:txBody>
          <a:bodyPr>
            <a:noAutofit/>
          </a:bodyPr>
          <a:lstStyle/>
          <a:p>
            <a:pPr algn="just">
              <a:defRPr sz="1350" b="0">
                <a:solidFill>
                  <a:srgbClr val="136A91"/>
                </a:solidFill>
                <a:latin typeface="Aptos"/>
                <a:ea typeface="Aptos"/>
                <a:cs typeface="Aptos"/>
              </a:defRPr>
            </a:pPr>
            <a:r>
              <a:rPr sz="1350" b="0" dirty="0">
                <a:solidFill>
                  <a:srgbClr val="136A91"/>
                </a:solidFill>
                <a:latin typeface="Arial" panose="020B0604020202020204" pitchFamily="34" charset="0"/>
                <a:ea typeface="Aptos"/>
                <a:cs typeface="Arial" panose="020B0604020202020204" pitchFamily="34" charset="0"/>
              </a:rPr>
              <a:t>02</a:t>
            </a:r>
          </a:p>
        </p:txBody>
      </p:sp>
      <p:sp>
        <p:nvSpPr>
          <p:cNvPr id="3" name="Rectángulo 2">
            <a:extLst>
              <a:ext uri="{FF2B5EF4-FFF2-40B4-BE49-F238E27FC236}">
                <a16:creationId xmlns:a16="http://schemas.microsoft.com/office/drawing/2014/main" id="{7D5A64C8-D8FA-490D-B97F-4CD94E92D5E1}"/>
              </a:ext>
            </a:extLst>
          </p:cNvPr>
          <p:cNvSpPr>
            <a:spLocks noGrp="1"/>
          </p:cNvSpPr>
          <p:nvPr/>
        </p:nvSpPr>
        <p:spPr>
          <a:xfrm>
            <a:off x="666750" y="495300"/>
            <a:ext cx="10382250" cy="904875"/>
          </a:xfrm>
          <a:prstGeom prst="rect">
            <a:avLst/>
          </a:prstGeom>
          <a:noFill/>
          <a:ln w="0">
            <a:noFill/>
          </a:ln>
        </p:spPr>
        <p:txBody>
          <a:bodyPr>
            <a:noAutofit/>
          </a:bodyPr>
          <a:lstStyle/>
          <a:p>
            <a:pPr algn="just">
              <a:defRPr sz="3225" b="1">
                <a:solidFill>
                  <a:srgbClr val="102B4E"/>
                </a:solidFill>
                <a:latin typeface="Aptos"/>
                <a:ea typeface="Aptos"/>
                <a:cs typeface="Aptos"/>
              </a:defRPr>
            </a:pPr>
            <a:r>
              <a:rPr sz="3225" b="1">
                <a:solidFill>
                  <a:srgbClr val="102B4E"/>
                </a:solidFill>
                <a:latin typeface="Arial" panose="020B0604020202020204" pitchFamily="34" charset="0"/>
                <a:ea typeface="Aptos"/>
                <a:cs typeface="Arial" panose="020B0604020202020204" pitchFamily="34" charset="0"/>
              </a:rPr>
              <a:t>Introducción</a:t>
            </a:r>
          </a:p>
        </p:txBody>
      </p:sp>
      <p:sp>
        <p:nvSpPr>
          <p:cNvPr id="6" name="Rectángulo 5">
            <a:extLst>
              <a:ext uri="{FF2B5EF4-FFF2-40B4-BE49-F238E27FC236}">
                <a16:creationId xmlns:a16="http://schemas.microsoft.com/office/drawing/2014/main" id="{C274DF55-6833-4694-8B8D-825067FA0DC5}"/>
              </a:ext>
            </a:extLst>
          </p:cNvPr>
          <p:cNvSpPr>
            <a:spLocks noGrp="1"/>
          </p:cNvSpPr>
          <p:nvPr/>
        </p:nvSpPr>
        <p:spPr>
          <a:xfrm>
            <a:off x="666750" y="1302855"/>
            <a:ext cx="10713554" cy="1295400"/>
          </a:xfrm>
          <a:prstGeom prst="rect">
            <a:avLst/>
          </a:prstGeom>
          <a:noFill/>
          <a:ln w="0">
            <a:noFill/>
          </a:ln>
        </p:spPr>
        <p:txBody>
          <a:bodyPr>
            <a:noAutofit/>
          </a:bodyPr>
          <a:lstStyle/>
          <a:p>
            <a:pPr algn="just">
              <a:lnSpc>
                <a:spcPct val="150000"/>
              </a:lnSpc>
            </a:pPr>
            <a:r>
              <a:rPr lang="es-MX" sz="2400" dirty="0">
                <a:latin typeface="Arial" panose="020B0604020202020204" pitchFamily="34" charset="0"/>
                <a:cs typeface="Arial" panose="020B0604020202020204" pitchFamily="34" charset="0"/>
              </a:rPr>
              <a:t>La evaluación permite comparar los objetivos planteados con las actividades realizadas y las evidencias obtenidas durante el desarrollo de cada proyecto. Por su parte, el cierre reúne los resultados, registra los aprendizajes y formaliza la entrega de los productos comprometidos.</a:t>
            </a:r>
          </a:p>
          <a:p>
            <a:pPr algn="just">
              <a:lnSpc>
                <a:spcPct val="150000"/>
              </a:lnSpc>
            </a:pPr>
            <a:r>
              <a:rPr lang="es-MX" sz="2400" b="0" dirty="0">
                <a:solidFill>
                  <a:srgbClr val="000000"/>
                </a:solidFill>
                <a:effectLst/>
                <a:latin typeface="Arial" panose="020B0604020202020204" pitchFamily="34" charset="0"/>
                <a:cs typeface="Arial" panose="020B0604020202020204" pitchFamily="34" charset="0"/>
              </a:rPr>
              <a:t>Este trabajo aplica ambos procesos a tres proyectos: Panadería, Fábrica y Banco </a:t>
            </a:r>
            <a:r>
              <a:rPr lang="es-MX" sz="2400" b="0" dirty="0" err="1">
                <a:solidFill>
                  <a:srgbClr val="000000"/>
                </a:solidFill>
                <a:effectLst/>
                <a:latin typeface="Arial" panose="020B0604020202020204" pitchFamily="34" charset="0"/>
                <a:cs typeface="Arial" panose="020B0604020202020204" pitchFamily="34" charset="0"/>
              </a:rPr>
              <a:t>Bansiso</a:t>
            </a:r>
            <a:r>
              <a:rPr lang="es-MX" sz="2400" b="0" dirty="0">
                <a:solidFill>
                  <a:srgbClr val="000000"/>
                </a:solidFill>
                <a:effectLst/>
                <a:latin typeface="Arial" panose="020B0604020202020204" pitchFamily="34" charset="0"/>
                <a:cs typeface="Arial" panose="020B0604020202020204" pitchFamily="34" charset="0"/>
              </a:rPr>
              <a:t>. Se distingue lo planificado del avance real para asegurar que cada conclusión cuente con respaldo documental.</a:t>
            </a:r>
          </a:p>
        </p:txBody>
      </p:sp>
    </p:spTree>
    <p:extLst>
      <p:ext uri="{BB962C8B-B14F-4D97-AF65-F5344CB8AC3E}">
        <p14:creationId xmlns:p14="http://schemas.microsoft.com/office/powerpoint/2010/main" val="10165579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CFD"/>
        </a:solid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57D0EAAC-9124-4519-8976-C4032FAD35AE}"/>
              </a:ext>
            </a:extLst>
          </p:cNvPr>
          <p:cNvSpPr>
            <a:spLocks noGrp="1"/>
          </p:cNvSpPr>
          <p:nvPr/>
        </p:nvSpPr>
        <p:spPr>
          <a:xfrm>
            <a:off x="11049000" y="6238875"/>
            <a:ext cx="571500" cy="285750"/>
          </a:xfrm>
          <a:prstGeom prst="rect">
            <a:avLst/>
          </a:prstGeom>
          <a:noFill/>
          <a:ln w="0">
            <a:noFill/>
          </a:ln>
        </p:spPr>
        <p:txBody>
          <a:bodyPr>
            <a:noAutofit/>
          </a:bodyPr>
          <a:lstStyle/>
          <a:p>
            <a:pPr>
              <a:defRPr sz="1350" b="0">
                <a:solidFill>
                  <a:srgbClr val="136A91"/>
                </a:solidFill>
                <a:latin typeface="Aptos"/>
                <a:ea typeface="Aptos"/>
                <a:cs typeface="Aptos"/>
              </a:defRPr>
            </a:pPr>
            <a:r>
              <a:rPr sz="1350" b="0">
                <a:solidFill>
                  <a:srgbClr val="136A91"/>
                </a:solidFill>
                <a:latin typeface="Aptos"/>
                <a:ea typeface="Aptos"/>
                <a:cs typeface="Aptos"/>
              </a:rPr>
              <a:t>03</a:t>
            </a:r>
          </a:p>
        </p:txBody>
      </p:sp>
      <p:sp>
        <p:nvSpPr>
          <p:cNvPr id="3" name="Rectángulo 2">
            <a:extLst>
              <a:ext uri="{FF2B5EF4-FFF2-40B4-BE49-F238E27FC236}">
                <a16:creationId xmlns:a16="http://schemas.microsoft.com/office/drawing/2014/main" id="{A626E74B-BE0B-41E3-80DC-E8252EBC95D5}"/>
              </a:ext>
            </a:extLst>
          </p:cNvPr>
          <p:cNvSpPr>
            <a:spLocks noGrp="1"/>
          </p:cNvSpPr>
          <p:nvPr/>
        </p:nvSpPr>
        <p:spPr>
          <a:xfrm>
            <a:off x="666750" y="495300"/>
            <a:ext cx="10382250" cy="904875"/>
          </a:xfrm>
          <a:prstGeom prst="rect">
            <a:avLst/>
          </a:prstGeom>
          <a:noFill/>
          <a:ln w="0">
            <a:noFill/>
          </a:ln>
        </p:spPr>
        <p:txBody>
          <a:bodyPr>
            <a:noAutofit/>
          </a:bodyPr>
          <a:lstStyle/>
          <a:p>
            <a:pPr algn="just">
              <a:defRPr sz="3225" b="1">
                <a:solidFill>
                  <a:srgbClr val="102B4E"/>
                </a:solidFill>
                <a:latin typeface="Aptos"/>
                <a:ea typeface="Aptos"/>
                <a:cs typeface="Aptos"/>
              </a:defRPr>
            </a:pPr>
            <a:r>
              <a:rPr sz="3225" b="1">
                <a:solidFill>
                  <a:srgbClr val="102B4E"/>
                </a:solidFill>
                <a:latin typeface="Arial" panose="020B0604020202020204" pitchFamily="34" charset="0"/>
                <a:ea typeface="Aptos"/>
                <a:cs typeface="Arial" panose="020B0604020202020204" pitchFamily="34" charset="0"/>
              </a:rPr>
              <a:t>Justificación</a:t>
            </a:r>
          </a:p>
        </p:txBody>
      </p:sp>
      <p:sp>
        <p:nvSpPr>
          <p:cNvPr id="6" name="Rectángulo 5">
            <a:extLst>
              <a:ext uri="{FF2B5EF4-FFF2-40B4-BE49-F238E27FC236}">
                <a16:creationId xmlns:a16="http://schemas.microsoft.com/office/drawing/2014/main" id="{BCE560E8-4B52-4EEC-9987-CF680C59CD85}"/>
              </a:ext>
            </a:extLst>
          </p:cNvPr>
          <p:cNvSpPr>
            <a:spLocks noGrp="1"/>
          </p:cNvSpPr>
          <p:nvPr/>
        </p:nvSpPr>
        <p:spPr>
          <a:xfrm>
            <a:off x="666750" y="1551331"/>
            <a:ext cx="10953750" cy="1390651"/>
          </a:xfrm>
          <a:prstGeom prst="rect">
            <a:avLst/>
          </a:prstGeom>
          <a:noFill/>
          <a:ln w="0">
            <a:noFill/>
          </a:ln>
        </p:spPr>
        <p:txBody>
          <a:bodyPr>
            <a:noAutofit/>
          </a:bodyPr>
          <a:lstStyle/>
          <a:p>
            <a:pPr algn="just">
              <a:lnSpc>
                <a:spcPct val="150000"/>
              </a:lnSpc>
            </a:pPr>
            <a:r>
              <a:rPr lang="es-MX" sz="2400" dirty="0"/>
              <a:t>Contar con una evaluación ordenada permite identificar desviaciones de alcance, retrasos y requisitos pendientes antes de dar por concluido un proyecto. Los cronogramas, tableros de trabajo como los de Trello y los modelos de proceso aportan la evidencia necesaria para revisar el desempeño y justificar los cambios aplicados.</a:t>
            </a:r>
          </a:p>
          <a:p>
            <a:pPr algn="just">
              <a:lnSpc>
                <a:spcPct val="150000"/>
              </a:lnSpc>
            </a:pPr>
            <a:r>
              <a:rPr lang="es-MX" sz="2400" dirty="0"/>
              <a:t>Registrar las lecciones aprendidas y preparar el expediente final facilita la continuidad del trabajo y sirve como referencia para futuras prácticas.</a:t>
            </a:r>
          </a:p>
        </p:txBody>
      </p:sp>
    </p:spTree>
    <p:extLst>
      <p:ext uri="{BB962C8B-B14F-4D97-AF65-F5344CB8AC3E}">
        <p14:creationId xmlns:p14="http://schemas.microsoft.com/office/powerpoint/2010/main" val="2508546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CFD"/>
        </a:solid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34BF1592-198B-4DEA-B4A8-0AA705750534}"/>
              </a:ext>
            </a:extLst>
          </p:cNvPr>
          <p:cNvSpPr>
            <a:spLocks noGrp="1"/>
          </p:cNvSpPr>
          <p:nvPr/>
        </p:nvSpPr>
        <p:spPr>
          <a:xfrm>
            <a:off x="11049000" y="6238875"/>
            <a:ext cx="571500" cy="285750"/>
          </a:xfrm>
          <a:prstGeom prst="rect">
            <a:avLst/>
          </a:prstGeom>
          <a:noFill/>
          <a:ln w="0">
            <a:noFill/>
          </a:ln>
        </p:spPr>
        <p:txBody>
          <a:bodyPr>
            <a:noAutofit/>
          </a:bodyPr>
          <a:lstStyle/>
          <a:p>
            <a:pPr algn="just">
              <a:defRPr sz="1350" b="0">
                <a:solidFill>
                  <a:srgbClr val="136A91"/>
                </a:solidFill>
                <a:latin typeface="Aptos"/>
                <a:ea typeface="Aptos"/>
                <a:cs typeface="Aptos"/>
              </a:defRPr>
            </a:pPr>
            <a:r>
              <a:rPr sz="1350" b="0">
                <a:solidFill>
                  <a:srgbClr val="136A91"/>
                </a:solidFill>
                <a:latin typeface="Arial" panose="020B0604020202020204" pitchFamily="34" charset="0"/>
                <a:ea typeface="Aptos"/>
                <a:cs typeface="Arial" panose="020B0604020202020204" pitchFamily="34" charset="0"/>
              </a:rPr>
              <a:t>04</a:t>
            </a:r>
          </a:p>
        </p:txBody>
      </p:sp>
      <p:sp>
        <p:nvSpPr>
          <p:cNvPr id="3" name="Rectángulo 2">
            <a:extLst>
              <a:ext uri="{FF2B5EF4-FFF2-40B4-BE49-F238E27FC236}">
                <a16:creationId xmlns:a16="http://schemas.microsoft.com/office/drawing/2014/main" id="{CBBA4C1A-5325-4435-8DAD-64C2ED4D0184}"/>
              </a:ext>
            </a:extLst>
          </p:cNvPr>
          <p:cNvSpPr>
            <a:spLocks noGrp="1"/>
          </p:cNvSpPr>
          <p:nvPr/>
        </p:nvSpPr>
        <p:spPr>
          <a:xfrm>
            <a:off x="666750" y="495300"/>
            <a:ext cx="10382250" cy="904875"/>
          </a:xfrm>
          <a:prstGeom prst="rect">
            <a:avLst/>
          </a:prstGeom>
          <a:noFill/>
          <a:ln w="0">
            <a:noFill/>
          </a:ln>
        </p:spPr>
        <p:txBody>
          <a:bodyPr>
            <a:noAutofit/>
          </a:bodyPr>
          <a:lstStyle/>
          <a:p>
            <a:pPr algn="just">
              <a:defRPr sz="3225" b="1">
                <a:solidFill>
                  <a:srgbClr val="102B4E"/>
                </a:solidFill>
                <a:latin typeface="Aptos"/>
                <a:ea typeface="Aptos"/>
                <a:cs typeface="Aptos"/>
              </a:defRPr>
            </a:pPr>
            <a:r>
              <a:rPr sz="3225" b="1">
                <a:solidFill>
                  <a:srgbClr val="102B4E"/>
                </a:solidFill>
                <a:latin typeface="Arial" panose="020B0604020202020204" pitchFamily="34" charset="0"/>
                <a:ea typeface="Aptos"/>
                <a:cs typeface="Arial" panose="020B0604020202020204" pitchFamily="34" charset="0"/>
              </a:rPr>
              <a:t>Objetivos de la práctica</a:t>
            </a:r>
          </a:p>
        </p:txBody>
      </p:sp>
      <p:sp>
        <p:nvSpPr>
          <p:cNvPr id="4" name="Rectángulo 3">
            <a:extLst>
              <a:ext uri="{FF2B5EF4-FFF2-40B4-BE49-F238E27FC236}">
                <a16:creationId xmlns:a16="http://schemas.microsoft.com/office/drawing/2014/main" id="{85DFFFA0-F9CE-4231-A98B-657009339BE6}"/>
              </a:ext>
            </a:extLst>
          </p:cNvPr>
          <p:cNvSpPr>
            <a:spLocks noGrp="1"/>
          </p:cNvSpPr>
          <p:nvPr/>
        </p:nvSpPr>
        <p:spPr>
          <a:xfrm>
            <a:off x="666750" y="1524000"/>
            <a:ext cx="8858250" cy="809625"/>
          </a:xfrm>
          <a:prstGeom prst="rect">
            <a:avLst/>
          </a:prstGeom>
          <a:noFill/>
          <a:ln w="0">
            <a:noFill/>
          </a:ln>
        </p:spPr>
        <p:txBody>
          <a:bodyPr>
            <a:noAutofit/>
          </a:bodyPr>
          <a:lstStyle/>
          <a:p>
            <a:pPr algn="just">
              <a:defRPr sz="2100" b="1">
                <a:solidFill>
                  <a:srgbClr val="136A91"/>
                </a:solidFill>
                <a:latin typeface="Aptos"/>
                <a:ea typeface="Aptos"/>
                <a:cs typeface="Aptos"/>
              </a:defRPr>
            </a:pPr>
            <a:endParaRPr dirty="0">
              <a:solidFill>
                <a:schemeClr val="tx1">
                  <a:lumMod val="95000"/>
                  <a:lumOff val="5000"/>
                </a:schemeClr>
              </a:solidFill>
            </a:endParaRPr>
          </a:p>
        </p:txBody>
      </p:sp>
      <p:sp>
        <p:nvSpPr>
          <p:cNvPr id="10" name="Rectangle 1">
            <a:extLst>
              <a:ext uri="{FF2B5EF4-FFF2-40B4-BE49-F238E27FC236}">
                <a16:creationId xmlns:a16="http://schemas.microsoft.com/office/drawing/2014/main" id="{8FEA3145-0873-472C-AA75-226EA62BA4CA}"/>
              </a:ext>
            </a:extLst>
          </p:cNvPr>
          <p:cNvSpPr>
            <a:spLocks noChangeArrowheads="1"/>
          </p:cNvSpPr>
          <p:nvPr/>
        </p:nvSpPr>
        <p:spPr bwMode="auto">
          <a:xfrm>
            <a:off x="633205" y="1616312"/>
            <a:ext cx="10117207" cy="31839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endParaRPr lang="es-ES" altLang="es-ES" sz="2000" dirty="0"/>
          </a:p>
          <a:p>
            <a:pPr marL="0" marR="0" lvl="0" indent="0" algn="just" defTabSz="914400" rtl="0" eaLnBrk="0" fontAlgn="base" latinLnBrk="0" hangingPunct="0">
              <a:lnSpc>
                <a:spcPct val="150000"/>
              </a:lnSpc>
              <a:spcBef>
                <a:spcPct val="0"/>
              </a:spcBef>
              <a:spcAft>
                <a:spcPct val="0"/>
              </a:spcAft>
              <a:buClrTx/>
              <a:buSzTx/>
              <a:buFontTx/>
              <a:buChar char="•"/>
              <a:tabLst/>
            </a:pPr>
            <a:r>
              <a:rPr lang="es-ES" altLang="es-ES" sz="2000" dirty="0"/>
              <a:t>Analizar la evaluación y el cierre de proyectos de TI mediante criterios de cumplimiento, lecciones aprendidas y documentación final. </a:t>
            </a:r>
          </a:p>
          <a:p>
            <a:pPr marL="0" marR="0" lvl="0" indent="0" algn="just" defTabSz="914400" rtl="0" eaLnBrk="0" fontAlgn="base" latinLnBrk="0" hangingPunct="0">
              <a:lnSpc>
                <a:spcPct val="150000"/>
              </a:lnSpc>
              <a:spcBef>
                <a:spcPct val="0"/>
              </a:spcBef>
              <a:spcAft>
                <a:spcPct val="0"/>
              </a:spcAft>
              <a:buClrTx/>
              <a:buSzTx/>
              <a:buFontTx/>
              <a:buChar char="•"/>
              <a:tabLst/>
            </a:pPr>
            <a:r>
              <a:rPr lang="es-ES" altLang="es-ES" sz="2000" dirty="0"/>
              <a:t>Definir indicadores y evidencias para medir el éxito de cada proyecto. </a:t>
            </a:r>
          </a:p>
          <a:p>
            <a:pPr marL="0" marR="0" lvl="0" indent="0" algn="just" defTabSz="914400" rtl="0" eaLnBrk="0" fontAlgn="base" latinLnBrk="0" hangingPunct="0">
              <a:lnSpc>
                <a:spcPct val="150000"/>
              </a:lnSpc>
              <a:spcBef>
                <a:spcPct val="0"/>
              </a:spcBef>
              <a:spcAft>
                <a:spcPct val="0"/>
              </a:spcAft>
              <a:buClrTx/>
              <a:buSzTx/>
              <a:buFontTx/>
              <a:buChar char="•"/>
              <a:tabLst/>
            </a:pPr>
            <a:r>
              <a:rPr lang="es-ES" altLang="es-ES" sz="2000" dirty="0"/>
              <a:t>Contrastar lo planificado con el avance disponible en cada caso. </a:t>
            </a:r>
          </a:p>
          <a:p>
            <a:pPr marL="0" marR="0" lvl="0" indent="0" algn="just" defTabSz="914400" rtl="0" eaLnBrk="0" fontAlgn="base" latinLnBrk="0" hangingPunct="0">
              <a:lnSpc>
                <a:spcPct val="150000"/>
              </a:lnSpc>
              <a:spcBef>
                <a:spcPct val="0"/>
              </a:spcBef>
              <a:spcAft>
                <a:spcPct val="0"/>
              </a:spcAft>
              <a:buClrTx/>
              <a:buSzTx/>
              <a:buFontTx/>
              <a:buChar char="•"/>
              <a:tabLst/>
            </a:pPr>
            <a:r>
              <a:rPr lang="es-ES" altLang="es-ES" sz="2000" dirty="0"/>
              <a:t>Registrar problemas detectados, sus causas y las recomendaciones correspondientes. </a:t>
            </a:r>
          </a:p>
          <a:p>
            <a:pPr marL="0" marR="0" lvl="0" indent="0" algn="just" defTabSz="914400" rtl="0" eaLnBrk="0" fontAlgn="base" latinLnBrk="0" hangingPunct="0">
              <a:lnSpc>
                <a:spcPct val="150000"/>
              </a:lnSpc>
              <a:spcBef>
                <a:spcPct val="0"/>
              </a:spcBef>
              <a:spcAft>
                <a:spcPct val="0"/>
              </a:spcAft>
              <a:buClrTx/>
              <a:buSzTx/>
              <a:buFontTx/>
              <a:buChar char="•"/>
              <a:tabLst/>
            </a:pPr>
            <a:r>
              <a:rPr lang="es-ES" altLang="es-ES" sz="2000" dirty="0"/>
              <a:t>Organizar el expediente de cierre y la validación de la entrega de cada proyecto. </a:t>
            </a:r>
          </a:p>
        </p:txBody>
      </p:sp>
      <p:sp>
        <p:nvSpPr>
          <p:cNvPr id="11" name="CuadroTexto 10">
            <a:extLst>
              <a:ext uri="{FF2B5EF4-FFF2-40B4-BE49-F238E27FC236}">
                <a16:creationId xmlns:a16="http://schemas.microsoft.com/office/drawing/2014/main" id="{D4BAB711-36D6-41B5-B13D-7CC9A3963FE3}"/>
              </a:ext>
            </a:extLst>
          </p:cNvPr>
          <p:cNvSpPr txBox="1"/>
          <p:nvPr/>
        </p:nvSpPr>
        <p:spPr>
          <a:xfrm>
            <a:off x="633205" y="1400175"/>
            <a:ext cx="8925339" cy="984885"/>
          </a:xfrm>
          <a:prstGeom prst="rect">
            <a:avLst/>
          </a:prstGeom>
          <a:noFill/>
        </p:spPr>
        <p:txBody>
          <a:bodyPr wrap="square" rtlCol="0">
            <a:spAutoFit/>
          </a:bodyPr>
          <a:lstStyle/>
          <a:p>
            <a:r>
              <a:rPr lang="es-MX" sz="2000" dirty="0">
                <a:solidFill>
                  <a:schemeClr val="tx1">
                    <a:lumMod val="95000"/>
                    <a:lumOff val="5000"/>
                  </a:schemeClr>
                </a:solidFill>
              </a:rPr>
              <a:t>Analizar la evaluación y el cierre de proyectos de TI mediante criterios de cumplimiento, lecciones aprendidas y documentación final.</a:t>
            </a:r>
          </a:p>
          <a:p>
            <a:endParaRPr lang="es-ES" dirty="0"/>
          </a:p>
        </p:txBody>
      </p:sp>
    </p:spTree>
    <p:extLst>
      <p:ext uri="{BB962C8B-B14F-4D97-AF65-F5344CB8AC3E}">
        <p14:creationId xmlns:p14="http://schemas.microsoft.com/office/powerpoint/2010/main" val="4371318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CFD"/>
        </a:solid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FE4AF55E-AFD1-4888-BF96-B6BDA5D504EF}"/>
              </a:ext>
            </a:extLst>
          </p:cNvPr>
          <p:cNvSpPr>
            <a:spLocks noGrp="1"/>
          </p:cNvSpPr>
          <p:nvPr/>
        </p:nvSpPr>
        <p:spPr>
          <a:xfrm>
            <a:off x="11049000" y="6238875"/>
            <a:ext cx="571500" cy="285750"/>
          </a:xfrm>
          <a:prstGeom prst="rect">
            <a:avLst/>
          </a:prstGeom>
          <a:noFill/>
          <a:ln w="0">
            <a:noFill/>
          </a:ln>
        </p:spPr>
        <p:txBody>
          <a:bodyPr>
            <a:noAutofit/>
          </a:bodyPr>
          <a:lstStyle/>
          <a:p>
            <a:pPr algn="just">
              <a:defRPr sz="1350" b="0">
                <a:solidFill>
                  <a:srgbClr val="136A91"/>
                </a:solidFill>
                <a:latin typeface="Aptos"/>
                <a:ea typeface="Aptos"/>
                <a:cs typeface="Aptos"/>
              </a:defRPr>
            </a:pPr>
            <a:r>
              <a:rPr sz="1350" b="0">
                <a:solidFill>
                  <a:srgbClr val="136A91"/>
                </a:solidFill>
                <a:latin typeface="Arial" panose="020B0604020202020204" pitchFamily="34" charset="0"/>
                <a:ea typeface="Aptos"/>
                <a:cs typeface="Arial" panose="020B0604020202020204" pitchFamily="34" charset="0"/>
              </a:rPr>
              <a:t>05</a:t>
            </a:r>
          </a:p>
        </p:txBody>
      </p:sp>
      <p:sp>
        <p:nvSpPr>
          <p:cNvPr id="3" name="Rectángulo 2">
            <a:extLst>
              <a:ext uri="{FF2B5EF4-FFF2-40B4-BE49-F238E27FC236}">
                <a16:creationId xmlns:a16="http://schemas.microsoft.com/office/drawing/2014/main" id="{32F5D35B-585C-40E6-B098-B737880B7D01}"/>
              </a:ext>
            </a:extLst>
          </p:cNvPr>
          <p:cNvSpPr>
            <a:spLocks noGrp="1"/>
          </p:cNvSpPr>
          <p:nvPr/>
        </p:nvSpPr>
        <p:spPr>
          <a:xfrm>
            <a:off x="666750" y="495300"/>
            <a:ext cx="10382250" cy="904875"/>
          </a:xfrm>
          <a:prstGeom prst="rect">
            <a:avLst/>
          </a:prstGeom>
          <a:noFill/>
          <a:ln w="0">
            <a:noFill/>
          </a:ln>
        </p:spPr>
        <p:txBody>
          <a:bodyPr>
            <a:noAutofit/>
          </a:bodyPr>
          <a:lstStyle/>
          <a:p>
            <a:pPr algn="just">
              <a:defRPr sz="3225" b="1">
                <a:solidFill>
                  <a:srgbClr val="102B4E"/>
                </a:solidFill>
                <a:latin typeface="Aptos"/>
                <a:ea typeface="Aptos"/>
                <a:cs typeface="Aptos"/>
              </a:defRPr>
            </a:pPr>
            <a:r>
              <a:rPr sz="3225" b="1">
                <a:solidFill>
                  <a:srgbClr val="102B4E"/>
                </a:solidFill>
                <a:latin typeface="Arial" panose="020B0604020202020204" pitchFamily="34" charset="0"/>
                <a:ea typeface="Aptos"/>
                <a:cs typeface="Arial" panose="020B0604020202020204" pitchFamily="34" charset="0"/>
              </a:rPr>
              <a:t>Evaluación y cierre</a:t>
            </a:r>
          </a:p>
        </p:txBody>
      </p:sp>
      <p:sp>
        <p:nvSpPr>
          <p:cNvPr id="11" name="CuadroTexto 10">
            <a:extLst>
              <a:ext uri="{FF2B5EF4-FFF2-40B4-BE49-F238E27FC236}">
                <a16:creationId xmlns:a16="http://schemas.microsoft.com/office/drawing/2014/main" id="{15A5B16E-935D-4732-B468-71BAF2707B99}"/>
              </a:ext>
            </a:extLst>
          </p:cNvPr>
          <p:cNvSpPr txBox="1"/>
          <p:nvPr/>
        </p:nvSpPr>
        <p:spPr>
          <a:xfrm>
            <a:off x="666750" y="1222117"/>
            <a:ext cx="10764078" cy="5016758"/>
          </a:xfrm>
          <a:prstGeom prst="rect">
            <a:avLst/>
          </a:prstGeom>
          <a:noFill/>
        </p:spPr>
        <p:txBody>
          <a:bodyPr wrap="square">
            <a:spAutoFit/>
          </a:bodyPr>
          <a:lstStyle/>
          <a:p>
            <a:pPr algn="just"/>
            <a:r>
              <a:rPr lang="es-MX" sz="2000" b="1" dirty="0">
                <a:solidFill>
                  <a:srgbClr val="000000"/>
                </a:solidFill>
                <a:effectLst/>
                <a:latin typeface="ui-sans-serif"/>
              </a:rPr>
              <a:t>Evaluación</a:t>
            </a:r>
          </a:p>
          <a:p>
            <a:pPr algn="just"/>
            <a:r>
              <a:rPr lang="es-MX" sz="2000" b="0" dirty="0">
                <a:solidFill>
                  <a:srgbClr val="000000"/>
                </a:solidFill>
                <a:effectLst/>
                <a:latin typeface="ui-sans-serif"/>
              </a:rPr>
              <a:t>La evaluación consiste en comparar el desempeño real del proyecto con lo establecido desde su planificación, verificando el cumplimiento del alcance definido, el respeto a las fechas y cronogramas pactados, la cobertura de los requisitos planteados y el logro de los estándares de calidad acordados. Implica revisar cada actividad concluida, analizar si se alcanzaron los resultados esperados, identificar las desviaciones que pudieron presentarse y determinar las causas que las originaron, así como valorar si los recursos asignados se utilizaron de manera eficiente y adecuada durante todo el desarrollo del proyecto.</a:t>
            </a:r>
          </a:p>
          <a:p>
            <a:pPr algn="just"/>
            <a:r>
              <a:rPr lang="es-MX" sz="2000" b="1" dirty="0">
                <a:solidFill>
                  <a:srgbClr val="000000"/>
                </a:solidFill>
                <a:effectLst/>
                <a:latin typeface="ui-sans-serif"/>
              </a:rPr>
              <a:t>Cierre</a:t>
            </a:r>
          </a:p>
          <a:p>
            <a:pPr algn="just"/>
            <a:r>
              <a:rPr lang="es-MX" sz="2000" b="0" dirty="0">
                <a:solidFill>
                  <a:srgbClr val="000000"/>
                </a:solidFill>
                <a:effectLst/>
                <a:latin typeface="ui-sans-serif"/>
              </a:rPr>
              <a:t>El cierre constituye la etapa final en la que se concluyen formalmente todas las actividades programadas, se integran y organizan los documentos, reportes y evidencias generados para conformar el expediente final del proyecto, y se deja constancia de la aceptación de los resultados obtenidos por parte de quienes reciben el trabajo. Asimismo, se identifican y registran los puntos pendientes que requieren atención posterior, se documentan las lecciones aprendidas a lo largo del proceso y se formaliza la finalización del proyecto, asegurando que toda la información quede disponible y ordenada para futuros trabajos o consultas.</a:t>
            </a:r>
          </a:p>
        </p:txBody>
      </p:sp>
    </p:spTree>
    <p:extLst>
      <p:ext uri="{BB962C8B-B14F-4D97-AF65-F5344CB8AC3E}">
        <p14:creationId xmlns:p14="http://schemas.microsoft.com/office/powerpoint/2010/main" val="7412936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CFD"/>
        </a:solidFill>
        <a:effectLst/>
      </p:bgPr>
    </p:bg>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A234FFCD-2C9D-4702-AC41-EADFD4AD59A5}"/>
              </a:ext>
            </a:extLst>
          </p:cNvPr>
          <p:cNvSpPr>
            <a:spLocks noGrp="1"/>
          </p:cNvSpPr>
          <p:nvPr/>
        </p:nvSpPr>
        <p:spPr>
          <a:xfrm>
            <a:off x="11049000" y="6238875"/>
            <a:ext cx="571500" cy="285750"/>
          </a:xfrm>
          <a:prstGeom prst="rect">
            <a:avLst/>
          </a:prstGeom>
          <a:noFill/>
          <a:ln w="0">
            <a:noFill/>
          </a:ln>
        </p:spPr>
        <p:txBody>
          <a:bodyPr>
            <a:noAutofit/>
          </a:bodyPr>
          <a:lstStyle/>
          <a:p>
            <a:pPr algn="just">
              <a:defRPr sz="1350" b="0">
                <a:solidFill>
                  <a:srgbClr val="136A91"/>
                </a:solidFill>
                <a:latin typeface="Aptos"/>
                <a:ea typeface="Aptos"/>
                <a:cs typeface="Aptos"/>
              </a:defRPr>
            </a:pPr>
            <a:r>
              <a:rPr sz="1350" b="0">
                <a:solidFill>
                  <a:srgbClr val="136A91"/>
                </a:solidFill>
                <a:latin typeface="Arial" panose="020B0604020202020204" pitchFamily="34" charset="0"/>
                <a:ea typeface="Aptos"/>
                <a:cs typeface="Arial" panose="020B0604020202020204" pitchFamily="34" charset="0"/>
              </a:rPr>
              <a:t>06</a:t>
            </a:r>
          </a:p>
        </p:txBody>
      </p:sp>
      <p:sp>
        <p:nvSpPr>
          <p:cNvPr id="2" name="Rectángulo 1">
            <a:extLst>
              <a:ext uri="{FF2B5EF4-FFF2-40B4-BE49-F238E27FC236}">
                <a16:creationId xmlns:a16="http://schemas.microsoft.com/office/drawing/2014/main" id="{C63671BD-C33E-4A2D-830B-38C62C8870FE}"/>
              </a:ext>
            </a:extLst>
          </p:cNvPr>
          <p:cNvSpPr>
            <a:spLocks noGrp="1"/>
          </p:cNvSpPr>
          <p:nvPr/>
        </p:nvSpPr>
        <p:spPr>
          <a:xfrm>
            <a:off x="666750" y="495300"/>
            <a:ext cx="10382250" cy="904875"/>
          </a:xfrm>
          <a:prstGeom prst="rect">
            <a:avLst/>
          </a:prstGeom>
          <a:noFill/>
          <a:ln w="0">
            <a:noFill/>
          </a:ln>
        </p:spPr>
        <p:txBody>
          <a:bodyPr>
            <a:noAutofit/>
          </a:bodyPr>
          <a:lstStyle/>
          <a:p>
            <a:pPr algn="just">
              <a:defRPr sz="3225" b="1">
                <a:solidFill>
                  <a:srgbClr val="102B4E"/>
                </a:solidFill>
                <a:latin typeface="Aptos"/>
                <a:ea typeface="Aptos"/>
                <a:cs typeface="Aptos"/>
              </a:defRPr>
            </a:pPr>
            <a:r>
              <a:rPr sz="3225" b="1">
                <a:solidFill>
                  <a:srgbClr val="102B4E"/>
                </a:solidFill>
                <a:latin typeface="Arial" panose="020B0604020202020204" pitchFamily="34" charset="0"/>
                <a:ea typeface="Aptos"/>
                <a:cs typeface="Arial" panose="020B0604020202020204" pitchFamily="34" charset="0"/>
              </a:rPr>
              <a:t>Criterios para medir el éxito</a:t>
            </a:r>
          </a:p>
        </p:txBody>
      </p:sp>
      <p:graphicFrame>
        <p:nvGraphicFramePr>
          <p:cNvPr id="3" name="Tabla 2">
            <a:extLst>
              <a:ext uri="{FF2B5EF4-FFF2-40B4-BE49-F238E27FC236}">
                <a16:creationId xmlns:a16="http://schemas.microsoft.com/office/drawing/2014/main" id="{30E56C74-D44E-484F-A40D-D46EBFD670D4}"/>
              </a:ext>
            </a:extLst>
          </p:cNvPr>
          <p:cNvGraphicFramePr>
            <a:graphicFrameLocks noGrp="1"/>
          </p:cNvGraphicFramePr>
          <p:nvPr>
            <p:extLst>
              <p:ext uri="{D42A27DB-BD31-4B8C-83A1-F6EECF244321}">
                <p14:modId xmlns:p14="http://schemas.microsoft.com/office/powerpoint/2010/main" val="145980993"/>
              </p:ext>
            </p:extLst>
          </p:nvPr>
        </p:nvGraphicFramePr>
        <p:xfrm>
          <a:off x="884582" y="1400175"/>
          <a:ext cx="9806610" cy="4351336"/>
        </p:xfrm>
        <a:graphic>
          <a:graphicData uri="http://schemas.openxmlformats.org/drawingml/2006/table">
            <a:tbl>
              <a:tblPr>
                <a:tableStyleId>{F5AB1C69-6EDB-4FF4-983F-18BD219EF322}</a:tableStyleId>
              </a:tblPr>
              <a:tblGrid>
                <a:gridCol w="3268870">
                  <a:extLst>
                    <a:ext uri="{9D8B030D-6E8A-4147-A177-3AD203B41FA5}">
                      <a16:colId xmlns:a16="http://schemas.microsoft.com/office/drawing/2014/main" val="307129562"/>
                    </a:ext>
                  </a:extLst>
                </a:gridCol>
                <a:gridCol w="3268870">
                  <a:extLst>
                    <a:ext uri="{9D8B030D-6E8A-4147-A177-3AD203B41FA5}">
                      <a16:colId xmlns:a16="http://schemas.microsoft.com/office/drawing/2014/main" val="919695135"/>
                    </a:ext>
                  </a:extLst>
                </a:gridCol>
                <a:gridCol w="3268870">
                  <a:extLst>
                    <a:ext uri="{9D8B030D-6E8A-4147-A177-3AD203B41FA5}">
                      <a16:colId xmlns:a16="http://schemas.microsoft.com/office/drawing/2014/main" val="2316634029"/>
                    </a:ext>
                  </a:extLst>
                </a:gridCol>
              </a:tblGrid>
              <a:tr h="359722">
                <a:tc>
                  <a:txBody>
                    <a:bodyPr/>
                    <a:lstStyle/>
                    <a:p>
                      <a:pPr algn="l"/>
                      <a:r>
                        <a:rPr lang="es-ES"/>
                        <a:t>Criterio</a:t>
                      </a:r>
                    </a:p>
                  </a:txBody>
                  <a:tcPr marL="4334" marR="4334" marT="4334" marB="4334" anchor="ctr"/>
                </a:tc>
                <a:tc>
                  <a:txBody>
                    <a:bodyPr/>
                    <a:lstStyle/>
                    <a:p>
                      <a:pPr algn="l"/>
                      <a:r>
                        <a:rPr lang="es-ES"/>
                        <a:t>Aspecto que se evalúa</a:t>
                      </a:r>
                    </a:p>
                  </a:txBody>
                  <a:tcPr marL="4334" marR="4334" marT="4334" marB="4334" anchor="ctr"/>
                </a:tc>
                <a:tc>
                  <a:txBody>
                    <a:bodyPr/>
                    <a:lstStyle/>
                    <a:p>
                      <a:pPr algn="l"/>
                      <a:r>
                        <a:rPr lang="es-ES" dirty="0"/>
                        <a:t>Evidencia necesaria</a:t>
                      </a:r>
                    </a:p>
                  </a:txBody>
                  <a:tcPr marL="4334" marR="4334" marT="4334" marB="4334" anchor="ctr"/>
                </a:tc>
                <a:extLst>
                  <a:ext uri="{0D108BD9-81ED-4DB2-BD59-A6C34878D82A}">
                    <a16:rowId xmlns:a16="http://schemas.microsoft.com/office/drawing/2014/main" val="3425102646"/>
                  </a:ext>
                </a:extLst>
              </a:tr>
              <a:tr h="613261">
                <a:tc>
                  <a:txBody>
                    <a:bodyPr/>
                    <a:lstStyle/>
                    <a:p>
                      <a:pPr algn="l"/>
                      <a:r>
                        <a:rPr lang="es-ES"/>
                        <a:t>Alcance</a:t>
                      </a:r>
                    </a:p>
                  </a:txBody>
                  <a:tcPr marL="4334" marR="4334" marT="4334" marB="4334" anchor="ctr"/>
                </a:tc>
                <a:tc>
                  <a:txBody>
                    <a:bodyPr/>
                    <a:lstStyle/>
                    <a:p>
                      <a:pPr algn="l"/>
                      <a:r>
                        <a:rPr lang="es-ES"/>
                        <a:t>Funciones y actividades acordadas</a:t>
                      </a:r>
                    </a:p>
                  </a:txBody>
                  <a:tcPr marL="4334" marR="4334" marT="4334" marB="4334" anchor="ctr"/>
                </a:tc>
                <a:tc>
                  <a:txBody>
                    <a:bodyPr/>
                    <a:lstStyle/>
                    <a:p>
                      <a:pPr algn="l"/>
                      <a:r>
                        <a:rPr lang="es-ES"/>
                        <a:t>Requisitos y entregables revisados</a:t>
                      </a:r>
                    </a:p>
                  </a:txBody>
                  <a:tcPr marL="4334" marR="4334" marT="4334" marB="4334" anchor="ctr"/>
                </a:tc>
                <a:extLst>
                  <a:ext uri="{0D108BD9-81ED-4DB2-BD59-A6C34878D82A}">
                    <a16:rowId xmlns:a16="http://schemas.microsoft.com/office/drawing/2014/main" val="2524878017"/>
                  </a:ext>
                </a:extLst>
              </a:tr>
              <a:tr h="671770">
                <a:tc>
                  <a:txBody>
                    <a:bodyPr/>
                    <a:lstStyle/>
                    <a:p>
                      <a:pPr algn="l"/>
                      <a:r>
                        <a:rPr lang="es-ES"/>
                        <a:t>Tiempo</a:t>
                      </a:r>
                    </a:p>
                  </a:txBody>
                  <a:tcPr marL="4334" marR="4334" marT="4334" marB="4334" anchor="ctr"/>
                </a:tc>
                <a:tc>
                  <a:txBody>
                    <a:bodyPr/>
                    <a:lstStyle/>
                    <a:p>
                      <a:pPr algn="l"/>
                      <a:r>
                        <a:rPr lang="es-ES"/>
                        <a:t>Fechas previstas frente a fechas reales</a:t>
                      </a:r>
                    </a:p>
                  </a:txBody>
                  <a:tcPr marL="4334" marR="4334" marT="4334" marB="4334" anchor="ctr"/>
                </a:tc>
                <a:tc>
                  <a:txBody>
                    <a:bodyPr/>
                    <a:lstStyle/>
                    <a:p>
                      <a:pPr algn="l"/>
                      <a:r>
                        <a:rPr lang="es-ES"/>
                        <a:t>Cronograma y registros de avance</a:t>
                      </a:r>
                    </a:p>
                  </a:txBody>
                  <a:tcPr marL="4334" marR="4334" marT="4334" marB="4334" anchor="ctr"/>
                </a:tc>
                <a:extLst>
                  <a:ext uri="{0D108BD9-81ED-4DB2-BD59-A6C34878D82A}">
                    <a16:rowId xmlns:a16="http://schemas.microsoft.com/office/drawing/2014/main" val="4179089392"/>
                  </a:ext>
                </a:extLst>
              </a:tr>
              <a:tr h="632764">
                <a:tc>
                  <a:txBody>
                    <a:bodyPr/>
                    <a:lstStyle/>
                    <a:p>
                      <a:pPr algn="l"/>
                      <a:r>
                        <a:rPr lang="es-ES"/>
                        <a:t>Calidad</a:t>
                      </a:r>
                    </a:p>
                  </a:txBody>
                  <a:tcPr marL="4334" marR="4334" marT="4334" marB="4334" anchor="ctr"/>
                </a:tc>
                <a:tc>
                  <a:txBody>
                    <a:bodyPr/>
                    <a:lstStyle/>
                    <a:p>
                      <a:pPr algn="l"/>
                      <a:r>
                        <a:rPr lang="es-ES"/>
                        <a:t>Funcionamiento y errores detectados</a:t>
                      </a:r>
                    </a:p>
                  </a:txBody>
                  <a:tcPr marL="4334" marR="4334" marT="4334" marB="4334" anchor="ctr"/>
                </a:tc>
                <a:tc>
                  <a:txBody>
                    <a:bodyPr/>
                    <a:lstStyle/>
                    <a:p>
                      <a:pPr algn="l"/>
                      <a:r>
                        <a:rPr lang="es-MX"/>
                        <a:t>Casos de prueba y resultados</a:t>
                      </a:r>
                    </a:p>
                  </a:txBody>
                  <a:tcPr marL="4334" marR="4334" marT="4334" marB="4334" anchor="ctr"/>
                </a:tc>
                <a:extLst>
                  <a:ext uri="{0D108BD9-81ED-4DB2-BD59-A6C34878D82A}">
                    <a16:rowId xmlns:a16="http://schemas.microsoft.com/office/drawing/2014/main" val="683955588"/>
                  </a:ext>
                </a:extLst>
              </a:tr>
              <a:tr h="632764">
                <a:tc>
                  <a:txBody>
                    <a:bodyPr/>
                    <a:lstStyle/>
                    <a:p>
                      <a:pPr algn="l"/>
                      <a:r>
                        <a:rPr lang="es-ES"/>
                        <a:t>Requisitos</a:t>
                      </a:r>
                    </a:p>
                  </a:txBody>
                  <a:tcPr marL="4334" marR="4334" marT="4334" marB="4334" anchor="ctr"/>
                </a:tc>
                <a:tc>
                  <a:txBody>
                    <a:bodyPr/>
                    <a:lstStyle/>
                    <a:p>
                      <a:pPr algn="l"/>
                      <a:r>
                        <a:rPr lang="es-MX"/>
                        <a:t>Cobertura de las funciones definidas</a:t>
                      </a:r>
                    </a:p>
                  </a:txBody>
                  <a:tcPr marL="4334" marR="4334" marT="4334" marB="4334" anchor="ctr"/>
                </a:tc>
                <a:tc>
                  <a:txBody>
                    <a:bodyPr/>
                    <a:lstStyle/>
                    <a:p>
                      <a:pPr algn="l"/>
                      <a:r>
                        <a:rPr lang="es-ES"/>
                        <a:t>Historias de usuario validadas</a:t>
                      </a:r>
                    </a:p>
                  </a:txBody>
                  <a:tcPr marL="4334" marR="4334" marT="4334" marB="4334" anchor="ctr"/>
                </a:tc>
                <a:extLst>
                  <a:ext uri="{0D108BD9-81ED-4DB2-BD59-A6C34878D82A}">
                    <a16:rowId xmlns:a16="http://schemas.microsoft.com/office/drawing/2014/main" val="2058278678"/>
                  </a:ext>
                </a:extLst>
              </a:tr>
              <a:tr h="710776">
                <a:tc>
                  <a:txBody>
                    <a:bodyPr/>
                    <a:lstStyle/>
                    <a:p>
                      <a:pPr algn="l"/>
                      <a:r>
                        <a:rPr lang="es-ES"/>
                        <a:t>Documentación</a:t>
                      </a:r>
                    </a:p>
                  </a:txBody>
                  <a:tcPr marL="4334" marR="4334" marT="4334" marB="4334" anchor="ctr"/>
                </a:tc>
                <a:tc>
                  <a:txBody>
                    <a:bodyPr/>
                    <a:lstStyle/>
                    <a:p>
                      <a:pPr algn="l"/>
                      <a:r>
                        <a:rPr lang="es-ES"/>
                        <a:t>Información técnica y administrativa</a:t>
                      </a:r>
                    </a:p>
                  </a:txBody>
                  <a:tcPr marL="4334" marR="4334" marT="4334" marB="4334" anchor="ctr"/>
                </a:tc>
                <a:tc>
                  <a:txBody>
                    <a:bodyPr/>
                    <a:lstStyle/>
                    <a:p>
                      <a:pPr algn="l"/>
                      <a:r>
                        <a:rPr lang="es-MX"/>
                        <a:t>Reportes, manuales y capturas de pantalla</a:t>
                      </a:r>
                    </a:p>
                  </a:txBody>
                  <a:tcPr marL="4334" marR="4334" marT="4334" marB="4334" anchor="ctr"/>
                </a:tc>
                <a:extLst>
                  <a:ext uri="{0D108BD9-81ED-4DB2-BD59-A6C34878D82A}">
                    <a16:rowId xmlns:a16="http://schemas.microsoft.com/office/drawing/2014/main" val="1081199731"/>
                  </a:ext>
                </a:extLst>
              </a:tr>
              <a:tr h="730279">
                <a:tc>
                  <a:txBody>
                    <a:bodyPr/>
                    <a:lstStyle/>
                    <a:p>
                      <a:pPr algn="l"/>
                      <a:r>
                        <a:rPr lang="es-ES"/>
                        <a:t>Aceptación</a:t>
                      </a:r>
                    </a:p>
                  </a:txBody>
                  <a:tcPr marL="4334" marR="4334" marT="4334" marB="4334" anchor="ctr"/>
                </a:tc>
                <a:tc>
                  <a:txBody>
                    <a:bodyPr/>
                    <a:lstStyle/>
                    <a:p>
                      <a:pPr algn="l"/>
                      <a:r>
                        <a:rPr lang="es-MX"/>
                        <a:t>Conformidad del responsable o cliente</a:t>
                      </a:r>
                    </a:p>
                  </a:txBody>
                  <a:tcPr marL="4334" marR="4334" marT="4334" marB="4334" anchor="ctr"/>
                </a:tc>
                <a:tc>
                  <a:txBody>
                    <a:bodyPr/>
                    <a:lstStyle/>
                    <a:p>
                      <a:pPr algn="l"/>
                      <a:r>
                        <a:rPr lang="es-MX" dirty="0"/>
                        <a:t>Registro de validación o acta de aceptación</a:t>
                      </a:r>
                    </a:p>
                  </a:txBody>
                  <a:tcPr marL="4334" marR="4334" marT="4334" marB="4334" anchor="ctr"/>
                </a:tc>
                <a:extLst>
                  <a:ext uri="{0D108BD9-81ED-4DB2-BD59-A6C34878D82A}">
                    <a16:rowId xmlns:a16="http://schemas.microsoft.com/office/drawing/2014/main" val="2564867286"/>
                  </a:ext>
                </a:extLst>
              </a:tr>
            </a:tbl>
          </a:graphicData>
        </a:graphic>
      </p:graphicFrame>
    </p:spTree>
    <p:extLst>
      <p:ext uri="{BB962C8B-B14F-4D97-AF65-F5344CB8AC3E}">
        <p14:creationId xmlns:p14="http://schemas.microsoft.com/office/powerpoint/2010/main" val="8979850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CFD"/>
        </a:solidFill>
        <a:effectLst/>
      </p:bgPr>
    </p:bg>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EEBB7DB5-5A78-4955-943D-F9EB54F7DAFF}"/>
              </a:ext>
            </a:extLst>
          </p:cNvPr>
          <p:cNvSpPr>
            <a:spLocks noGrp="1"/>
          </p:cNvSpPr>
          <p:nvPr/>
        </p:nvSpPr>
        <p:spPr>
          <a:xfrm>
            <a:off x="11049000" y="6238875"/>
            <a:ext cx="571500" cy="285750"/>
          </a:xfrm>
          <a:prstGeom prst="rect">
            <a:avLst/>
          </a:prstGeom>
          <a:noFill/>
          <a:ln w="0">
            <a:noFill/>
          </a:ln>
        </p:spPr>
        <p:txBody>
          <a:bodyPr>
            <a:noAutofit/>
          </a:bodyPr>
          <a:lstStyle/>
          <a:p>
            <a:pPr algn="just">
              <a:defRPr sz="1350" b="0">
                <a:solidFill>
                  <a:srgbClr val="136A91"/>
                </a:solidFill>
                <a:latin typeface="Aptos"/>
                <a:ea typeface="Aptos"/>
                <a:cs typeface="Aptos"/>
              </a:defRPr>
            </a:pPr>
            <a:r>
              <a:rPr sz="1350" b="0">
                <a:solidFill>
                  <a:srgbClr val="136A91"/>
                </a:solidFill>
                <a:latin typeface="Arial" panose="020B0604020202020204" pitchFamily="34" charset="0"/>
                <a:ea typeface="Aptos"/>
                <a:cs typeface="Arial" panose="020B0604020202020204" pitchFamily="34" charset="0"/>
              </a:rPr>
              <a:t>07</a:t>
            </a:r>
          </a:p>
        </p:txBody>
      </p:sp>
      <p:sp>
        <p:nvSpPr>
          <p:cNvPr id="2" name="Rectángulo 1">
            <a:extLst>
              <a:ext uri="{FF2B5EF4-FFF2-40B4-BE49-F238E27FC236}">
                <a16:creationId xmlns:a16="http://schemas.microsoft.com/office/drawing/2014/main" id="{BDB7024E-2803-44ED-8230-F80184621F57}"/>
              </a:ext>
            </a:extLst>
          </p:cNvPr>
          <p:cNvSpPr>
            <a:spLocks noGrp="1"/>
          </p:cNvSpPr>
          <p:nvPr/>
        </p:nvSpPr>
        <p:spPr>
          <a:xfrm>
            <a:off x="666750" y="495300"/>
            <a:ext cx="10382250" cy="904875"/>
          </a:xfrm>
          <a:prstGeom prst="rect">
            <a:avLst/>
          </a:prstGeom>
          <a:noFill/>
          <a:ln w="0">
            <a:noFill/>
          </a:ln>
        </p:spPr>
        <p:txBody>
          <a:bodyPr>
            <a:noAutofit/>
          </a:bodyPr>
          <a:lstStyle/>
          <a:p>
            <a:pPr algn="just">
              <a:defRPr sz="3225" b="1">
                <a:solidFill>
                  <a:srgbClr val="102B4E"/>
                </a:solidFill>
                <a:latin typeface="Aptos"/>
                <a:ea typeface="Aptos"/>
                <a:cs typeface="Aptos"/>
              </a:defRPr>
            </a:pPr>
            <a:r>
              <a:rPr sz="3225" b="1">
                <a:solidFill>
                  <a:srgbClr val="102B4E"/>
                </a:solidFill>
                <a:latin typeface="Arial" panose="020B0604020202020204" pitchFamily="34" charset="0"/>
                <a:ea typeface="Aptos"/>
                <a:cs typeface="Arial" panose="020B0604020202020204" pitchFamily="34" charset="0"/>
              </a:rPr>
              <a:t>Registro de evaluación</a:t>
            </a:r>
          </a:p>
        </p:txBody>
      </p:sp>
      <p:graphicFrame>
        <p:nvGraphicFramePr>
          <p:cNvPr id="3" name="Tabla 2">
            <a:extLst>
              <a:ext uri="{FF2B5EF4-FFF2-40B4-BE49-F238E27FC236}">
                <a16:creationId xmlns:a16="http://schemas.microsoft.com/office/drawing/2014/main" id="{0E8DA4DA-1987-4CF8-8C9A-507DD03425C6}"/>
              </a:ext>
            </a:extLst>
          </p:cNvPr>
          <p:cNvGraphicFramePr>
            <a:graphicFrameLocks noGrp="1"/>
          </p:cNvGraphicFramePr>
          <p:nvPr>
            <p:extLst>
              <p:ext uri="{D42A27DB-BD31-4B8C-83A1-F6EECF244321}">
                <p14:modId xmlns:p14="http://schemas.microsoft.com/office/powerpoint/2010/main" val="2307591205"/>
              </p:ext>
            </p:extLst>
          </p:nvPr>
        </p:nvGraphicFramePr>
        <p:xfrm>
          <a:off x="666750" y="1400175"/>
          <a:ext cx="10382252" cy="4508944"/>
        </p:xfrm>
        <a:graphic>
          <a:graphicData uri="http://schemas.openxmlformats.org/drawingml/2006/table">
            <a:tbl>
              <a:tblPr>
                <a:tableStyleId>{073A0DAA-6AF3-43AB-8588-CEC1D06C72B9}</a:tableStyleId>
              </a:tblPr>
              <a:tblGrid>
                <a:gridCol w="2595563">
                  <a:extLst>
                    <a:ext uri="{9D8B030D-6E8A-4147-A177-3AD203B41FA5}">
                      <a16:colId xmlns:a16="http://schemas.microsoft.com/office/drawing/2014/main" val="838121670"/>
                    </a:ext>
                  </a:extLst>
                </a:gridCol>
                <a:gridCol w="2595563">
                  <a:extLst>
                    <a:ext uri="{9D8B030D-6E8A-4147-A177-3AD203B41FA5}">
                      <a16:colId xmlns:a16="http://schemas.microsoft.com/office/drawing/2014/main" val="1797473486"/>
                    </a:ext>
                  </a:extLst>
                </a:gridCol>
                <a:gridCol w="2595563">
                  <a:extLst>
                    <a:ext uri="{9D8B030D-6E8A-4147-A177-3AD203B41FA5}">
                      <a16:colId xmlns:a16="http://schemas.microsoft.com/office/drawing/2014/main" val="1107019310"/>
                    </a:ext>
                  </a:extLst>
                </a:gridCol>
                <a:gridCol w="2595563">
                  <a:extLst>
                    <a:ext uri="{9D8B030D-6E8A-4147-A177-3AD203B41FA5}">
                      <a16:colId xmlns:a16="http://schemas.microsoft.com/office/drawing/2014/main" val="451484801"/>
                    </a:ext>
                  </a:extLst>
                </a:gridCol>
              </a:tblGrid>
              <a:tr h="255532">
                <a:tc>
                  <a:txBody>
                    <a:bodyPr/>
                    <a:lstStyle/>
                    <a:p>
                      <a:pPr algn="l"/>
                      <a:r>
                        <a:rPr lang="es-ES" sz="1600"/>
                        <a:t>Criterio</a:t>
                      </a:r>
                    </a:p>
                  </a:txBody>
                  <a:tcPr marL="2920" marR="2920" marT="2920" marB="2920" anchor="ctr"/>
                </a:tc>
                <a:tc>
                  <a:txBody>
                    <a:bodyPr/>
                    <a:lstStyle/>
                    <a:p>
                      <a:pPr algn="l"/>
                      <a:r>
                        <a:rPr lang="es-ES" sz="1600"/>
                        <a:t>Meta de referencia</a:t>
                      </a:r>
                    </a:p>
                  </a:txBody>
                  <a:tcPr marL="2920" marR="2920" marT="2920" marB="2920" anchor="ctr"/>
                </a:tc>
                <a:tc>
                  <a:txBody>
                    <a:bodyPr/>
                    <a:lstStyle/>
                    <a:p>
                      <a:pPr algn="l"/>
                      <a:r>
                        <a:rPr lang="es-ES" sz="1600"/>
                        <a:t>Resultado disponible</a:t>
                      </a:r>
                    </a:p>
                  </a:txBody>
                  <a:tcPr marL="2920" marR="2920" marT="2920" marB="2920" anchor="ctr"/>
                </a:tc>
                <a:tc>
                  <a:txBody>
                    <a:bodyPr/>
                    <a:lstStyle/>
                    <a:p>
                      <a:pPr algn="l"/>
                      <a:r>
                        <a:rPr lang="es-ES" sz="1600"/>
                        <a:t>Estado</a:t>
                      </a:r>
                    </a:p>
                  </a:txBody>
                  <a:tcPr marL="2920" marR="2920" marT="2920" marB="2920" anchor="ctr"/>
                </a:tc>
                <a:extLst>
                  <a:ext uri="{0D108BD9-81ED-4DB2-BD59-A6C34878D82A}">
                    <a16:rowId xmlns:a16="http://schemas.microsoft.com/office/drawing/2014/main" val="3773861330"/>
                  </a:ext>
                </a:extLst>
              </a:tr>
              <a:tr h="702347">
                <a:tc>
                  <a:txBody>
                    <a:bodyPr/>
                    <a:lstStyle/>
                    <a:p>
                      <a:pPr algn="l"/>
                      <a:r>
                        <a:rPr lang="es-ES" sz="1600"/>
                        <a:t>Alcance</a:t>
                      </a:r>
                    </a:p>
                  </a:txBody>
                  <a:tcPr marL="2920" marR="2920" marT="2920" marB="2920" anchor="ctr"/>
                </a:tc>
                <a:tc>
                  <a:txBody>
                    <a:bodyPr/>
                    <a:lstStyle/>
                    <a:p>
                      <a:pPr algn="l"/>
                      <a:r>
                        <a:rPr lang="es-ES" sz="1600"/>
                        <a:t>Tareas completas definidas para Banco, Fábrica y Panadería</a:t>
                      </a:r>
                    </a:p>
                  </a:txBody>
                  <a:tcPr marL="2920" marR="2920" marT="2920" marB="2920" anchor="ctr"/>
                </a:tc>
                <a:tc>
                  <a:txBody>
                    <a:bodyPr/>
                    <a:lstStyle/>
                    <a:p>
                      <a:pPr algn="l"/>
                      <a:r>
                        <a:rPr lang="es-MX" sz="1600"/>
                        <a:t>Estructura de actividades y recursos cargada en ProjectLibre</a:t>
                      </a:r>
                    </a:p>
                  </a:txBody>
                  <a:tcPr marL="2920" marR="2920" marT="2920" marB="2920" anchor="ctr"/>
                </a:tc>
                <a:tc>
                  <a:txBody>
                    <a:bodyPr/>
                    <a:lstStyle/>
                    <a:p>
                      <a:pPr algn="l"/>
                      <a:r>
                        <a:rPr lang="es-ES" sz="1600"/>
                        <a:t>Por evaluar</a:t>
                      </a:r>
                    </a:p>
                  </a:txBody>
                  <a:tcPr marL="2920" marR="2920" marT="2920" marB="2920" anchor="ctr"/>
                </a:tc>
                <a:extLst>
                  <a:ext uri="{0D108BD9-81ED-4DB2-BD59-A6C34878D82A}">
                    <a16:rowId xmlns:a16="http://schemas.microsoft.com/office/drawing/2014/main" val="325389626"/>
                  </a:ext>
                </a:extLst>
              </a:tr>
              <a:tr h="649780">
                <a:tc>
                  <a:txBody>
                    <a:bodyPr/>
                    <a:lstStyle/>
                    <a:p>
                      <a:pPr algn="l"/>
                      <a:r>
                        <a:rPr lang="es-ES" sz="1600"/>
                        <a:t>Cronograma</a:t>
                      </a:r>
                    </a:p>
                  </a:txBody>
                  <a:tcPr marL="2920" marR="2920" marT="2920" marB="2920" anchor="ctr"/>
                </a:tc>
                <a:tc>
                  <a:txBody>
                    <a:bodyPr/>
                    <a:lstStyle/>
                    <a:p>
                      <a:pPr algn="l"/>
                      <a:r>
                        <a:rPr lang="es-MX" sz="1600" dirty="0"/>
                        <a:t>Fechas establecidas y respetadas</a:t>
                      </a:r>
                    </a:p>
                  </a:txBody>
                  <a:tcPr marL="2920" marR="2920" marT="2920" marB="2920" anchor="ctr"/>
                </a:tc>
                <a:tc>
                  <a:txBody>
                    <a:bodyPr/>
                    <a:lstStyle/>
                    <a:p>
                      <a:pPr algn="l"/>
                      <a:r>
                        <a:rPr lang="es-MX" sz="1600"/>
                        <a:t>Diagramas de Gantt con secuencia y dependencias trazadas</a:t>
                      </a:r>
                    </a:p>
                  </a:txBody>
                  <a:tcPr marL="2920" marR="2920" marT="2920" marB="2920" anchor="ctr"/>
                </a:tc>
                <a:tc>
                  <a:txBody>
                    <a:bodyPr/>
                    <a:lstStyle/>
                    <a:p>
                      <a:pPr algn="l"/>
                      <a:r>
                        <a:rPr lang="es-ES" sz="1600"/>
                        <a:t>Por evaluar</a:t>
                      </a:r>
                    </a:p>
                  </a:txBody>
                  <a:tcPr marL="2920" marR="2920" marT="2920" marB="2920" anchor="ctr"/>
                </a:tc>
                <a:extLst>
                  <a:ext uri="{0D108BD9-81ED-4DB2-BD59-A6C34878D82A}">
                    <a16:rowId xmlns:a16="http://schemas.microsoft.com/office/drawing/2014/main" val="2255853427"/>
                  </a:ext>
                </a:extLst>
              </a:tr>
              <a:tr h="702347">
                <a:tc>
                  <a:txBody>
                    <a:bodyPr/>
                    <a:lstStyle/>
                    <a:p>
                      <a:pPr algn="l"/>
                      <a:r>
                        <a:rPr lang="es-ES" sz="1600"/>
                        <a:t>Calidad</a:t>
                      </a:r>
                    </a:p>
                  </a:txBody>
                  <a:tcPr marL="2920" marR="2920" marT="2920" marB="2920" anchor="ctr"/>
                </a:tc>
                <a:tc>
                  <a:txBody>
                    <a:bodyPr/>
                    <a:lstStyle/>
                    <a:p>
                      <a:pPr algn="l"/>
                      <a:r>
                        <a:rPr lang="es-ES" sz="1600"/>
                        <a:t>Procesos funcionales adaptados a cada sector</a:t>
                      </a:r>
                    </a:p>
                  </a:txBody>
                  <a:tcPr marL="2920" marR="2920" marT="2920" marB="2920" anchor="ctr"/>
                </a:tc>
                <a:tc>
                  <a:txBody>
                    <a:bodyPr/>
                    <a:lstStyle/>
                    <a:p>
                      <a:pPr algn="l"/>
                      <a:r>
                        <a:rPr lang="es-MX" sz="1600"/>
                        <a:t>Simulaciones y tiempos de operación pendientes de validación</a:t>
                      </a:r>
                    </a:p>
                  </a:txBody>
                  <a:tcPr marL="2920" marR="2920" marT="2920" marB="2920" anchor="ctr"/>
                </a:tc>
                <a:tc>
                  <a:txBody>
                    <a:bodyPr/>
                    <a:lstStyle/>
                    <a:p>
                      <a:pPr algn="l"/>
                      <a:r>
                        <a:rPr lang="es-ES" sz="1600"/>
                        <a:t>Por evaluar</a:t>
                      </a:r>
                    </a:p>
                  </a:txBody>
                  <a:tcPr marL="2920" marR="2920" marT="2920" marB="2920" anchor="ctr"/>
                </a:tc>
                <a:extLst>
                  <a:ext uri="{0D108BD9-81ED-4DB2-BD59-A6C34878D82A}">
                    <a16:rowId xmlns:a16="http://schemas.microsoft.com/office/drawing/2014/main" val="1739101854"/>
                  </a:ext>
                </a:extLst>
              </a:tr>
              <a:tr h="662922">
                <a:tc>
                  <a:txBody>
                    <a:bodyPr/>
                    <a:lstStyle/>
                    <a:p>
                      <a:pPr algn="l"/>
                      <a:r>
                        <a:rPr lang="es-ES" sz="1600"/>
                        <a:t>Requisitos</a:t>
                      </a:r>
                    </a:p>
                  </a:txBody>
                  <a:tcPr marL="2920" marR="2920" marT="2920" marB="2920" anchor="ctr"/>
                </a:tc>
                <a:tc>
                  <a:txBody>
                    <a:bodyPr/>
                    <a:lstStyle/>
                    <a:p>
                      <a:pPr algn="l"/>
                      <a:r>
                        <a:rPr lang="es-MX" sz="1600"/>
                        <a:t>Recursos, roles y asignaciones definidos en cada proyecto</a:t>
                      </a:r>
                    </a:p>
                  </a:txBody>
                  <a:tcPr marL="2920" marR="2920" marT="2920" marB="2920" anchor="ctr"/>
                </a:tc>
                <a:tc>
                  <a:txBody>
                    <a:bodyPr/>
                    <a:lstStyle/>
                    <a:p>
                      <a:pPr algn="l"/>
                      <a:r>
                        <a:rPr lang="es-MX" sz="1600"/>
                        <a:t>Cobertura de personal y materiales en revisión</a:t>
                      </a:r>
                    </a:p>
                  </a:txBody>
                  <a:tcPr marL="2920" marR="2920" marT="2920" marB="2920" anchor="ctr"/>
                </a:tc>
                <a:tc>
                  <a:txBody>
                    <a:bodyPr/>
                    <a:lstStyle/>
                    <a:p>
                      <a:pPr algn="l"/>
                      <a:r>
                        <a:rPr lang="es-ES" sz="1600"/>
                        <a:t>Por evaluar</a:t>
                      </a:r>
                    </a:p>
                  </a:txBody>
                  <a:tcPr marL="2920" marR="2920" marT="2920" marB="2920" anchor="ctr"/>
                </a:tc>
                <a:extLst>
                  <a:ext uri="{0D108BD9-81ED-4DB2-BD59-A6C34878D82A}">
                    <a16:rowId xmlns:a16="http://schemas.microsoft.com/office/drawing/2014/main" val="3689986565"/>
                  </a:ext>
                </a:extLst>
              </a:tr>
              <a:tr h="768055">
                <a:tc>
                  <a:txBody>
                    <a:bodyPr/>
                    <a:lstStyle/>
                    <a:p>
                      <a:pPr algn="l"/>
                      <a:r>
                        <a:rPr lang="es-ES" sz="1600"/>
                        <a:t>Documentación</a:t>
                      </a:r>
                    </a:p>
                  </a:txBody>
                  <a:tcPr marL="2920" marR="2920" marT="2920" marB="2920" anchor="ctr"/>
                </a:tc>
                <a:tc>
                  <a:txBody>
                    <a:bodyPr/>
                    <a:lstStyle/>
                    <a:p>
                      <a:pPr algn="l"/>
                      <a:r>
                        <a:rPr lang="es-MX" sz="1600"/>
                        <a:t>Expediente con cronogramas, tablas y evidencias de seguimiento</a:t>
                      </a:r>
                    </a:p>
                  </a:txBody>
                  <a:tcPr marL="2920" marR="2920" marT="2920" marB="2920" anchor="ctr"/>
                </a:tc>
                <a:tc>
                  <a:txBody>
                    <a:bodyPr/>
                    <a:lstStyle/>
                    <a:p>
                      <a:pPr algn="l"/>
                      <a:r>
                        <a:rPr lang="es-MX" sz="1600"/>
                        <a:t>Integración de informes, tableros Trello y diagramas en desarrollo</a:t>
                      </a:r>
                    </a:p>
                  </a:txBody>
                  <a:tcPr marL="2920" marR="2920" marT="2920" marB="2920" anchor="ctr"/>
                </a:tc>
                <a:tc>
                  <a:txBody>
                    <a:bodyPr/>
                    <a:lstStyle/>
                    <a:p>
                      <a:pPr algn="l"/>
                      <a:r>
                        <a:rPr lang="es-ES" sz="1600"/>
                        <a:t>Por evaluar</a:t>
                      </a:r>
                    </a:p>
                  </a:txBody>
                  <a:tcPr marL="2920" marR="2920" marT="2920" marB="2920" anchor="ctr"/>
                </a:tc>
                <a:extLst>
                  <a:ext uri="{0D108BD9-81ED-4DB2-BD59-A6C34878D82A}">
                    <a16:rowId xmlns:a16="http://schemas.microsoft.com/office/drawing/2014/main" val="2182789565"/>
                  </a:ext>
                </a:extLst>
              </a:tr>
              <a:tr h="610355">
                <a:tc>
                  <a:txBody>
                    <a:bodyPr/>
                    <a:lstStyle/>
                    <a:p>
                      <a:pPr algn="l"/>
                      <a:r>
                        <a:rPr lang="es-ES" sz="1600"/>
                        <a:t>Aceptación</a:t>
                      </a:r>
                    </a:p>
                  </a:txBody>
                  <a:tcPr marL="2920" marR="2920" marT="2920" marB="2920" anchor="ctr"/>
                </a:tc>
                <a:tc>
                  <a:txBody>
                    <a:bodyPr/>
                    <a:lstStyle/>
                    <a:p>
                      <a:pPr algn="l"/>
                      <a:r>
                        <a:rPr lang="es-MX" sz="1600"/>
                        <a:t>Entregables de cada iniciativa validados y aprobados</a:t>
                      </a:r>
                    </a:p>
                  </a:txBody>
                  <a:tcPr marL="2920" marR="2920" marT="2920" marB="2920" anchor="ctr"/>
                </a:tc>
                <a:tc>
                  <a:txBody>
                    <a:bodyPr/>
                    <a:lstStyle/>
                    <a:p>
                      <a:pPr algn="l"/>
                      <a:r>
                        <a:rPr lang="es-ES" sz="1600"/>
                        <a:t>Conformidad por responsables pendiente</a:t>
                      </a:r>
                    </a:p>
                  </a:txBody>
                  <a:tcPr marL="2920" marR="2920" marT="2920" marB="2920" anchor="ctr"/>
                </a:tc>
                <a:tc>
                  <a:txBody>
                    <a:bodyPr/>
                    <a:lstStyle/>
                    <a:p>
                      <a:pPr algn="l"/>
                      <a:r>
                        <a:rPr lang="es-ES" sz="1600" dirty="0"/>
                        <a:t>Por evaluar</a:t>
                      </a:r>
                    </a:p>
                  </a:txBody>
                  <a:tcPr marL="2920" marR="2920" marT="2920" marB="2920" anchor="ctr"/>
                </a:tc>
                <a:extLst>
                  <a:ext uri="{0D108BD9-81ED-4DB2-BD59-A6C34878D82A}">
                    <a16:rowId xmlns:a16="http://schemas.microsoft.com/office/drawing/2014/main" val="3294057329"/>
                  </a:ext>
                </a:extLst>
              </a:tr>
            </a:tbl>
          </a:graphicData>
        </a:graphic>
      </p:graphicFrame>
    </p:spTree>
    <p:extLst>
      <p:ext uri="{BB962C8B-B14F-4D97-AF65-F5344CB8AC3E}">
        <p14:creationId xmlns:p14="http://schemas.microsoft.com/office/powerpoint/2010/main" val="14991568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CFD"/>
        </a:solid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014F96EB-406F-43C1-B39E-7C03F0EE5083}"/>
              </a:ext>
            </a:extLst>
          </p:cNvPr>
          <p:cNvSpPr>
            <a:spLocks noGrp="1"/>
          </p:cNvSpPr>
          <p:nvPr/>
        </p:nvSpPr>
        <p:spPr>
          <a:xfrm>
            <a:off x="11049000" y="6238875"/>
            <a:ext cx="571500" cy="285750"/>
          </a:xfrm>
          <a:prstGeom prst="rect">
            <a:avLst/>
          </a:prstGeom>
          <a:noFill/>
          <a:ln w="0">
            <a:noFill/>
          </a:ln>
        </p:spPr>
        <p:txBody>
          <a:bodyPr>
            <a:noAutofit/>
          </a:bodyPr>
          <a:lstStyle/>
          <a:p>
            <a:pPr>
              <a:defRPr sz="1350" b="0">
                <a:solidFill>
                  <a:srgbClr val="136A91"/>
                </a:solidFill>
                <a:latin typeface="Aptos"/>
                <a:ea typeface="Aptos"/>
                <a:cs typeface="Aptos"/>
              </a:defRPr>
            </a:pPr>
            <a:r>
              <a:rPr sz="1350" b="0">
                <a:solidFill>
                  <a:srgbClr val="136A91"/>
                </a:solidFill>
                <a:latin typeface="Arial" panose="020B0604020202020204" pitchFamily="34" charset="0"/>
                <a:ea typeface="Aptos"/>
                <a:cs typeface="Arial" panose="020B0604020202020204" pitchFamily="34" charset="0"/>
              </a:rPr>
              <a:t>08</a:t>
            </a:r>
          </a:p>
        </p:txBody>
      </p:sp>
      <p:sp>
        <p:nvSpPr>
          <p:cNvPr id="3" name="Rectángulo 2">
            <a:extLst>
              <a:ext uri="{FF2B5EF4-FFF2-40B4-BE49-F238E27FC236}">
                <a16:creationId xmlns:a16="http://schemas.microsoft.com/office/drawing/2014/main" id="{2ED7D0D5-7268-4C8A-AF90-01AF5E5829E3}"/>
              </a:ext>
            </a:extLst>
          </p:cNvPr>
          <p:cNvSpPr>
            <a:spLocks noGrp="1"/>
          </p:cNvSpPr>
          <p:nvPr/>
        </p:nvSpPr>
        <p:spPr>
          <a:xfrm>
            <a:off x="487641" y="89205"/>
            <a:ext cx="10382250" cy="904875"/>
          </a:xfrm>
          <a:prstGeom prst="rect">
            <a:avLst/>
          </a:prstGeom>
          <a:noFill/>
          <a:ln w="0">
            <a:noFill/>
          </a:ln>
        </p:spPr>
        <p:txBody>
          <a:bodyPr>
            <a:noAutofit/>
          </a:bodyPr>
          <a:lstStyle/>
          <a:p>
            <a:pPr algn="just">
              <a:defRPr sz="3225" b="1">
                <a:solidFill>
                  <a:srgbClr val="102B4E"/>
                </a:solidFill>
                <a:latin typeface="Aptos"/>
                <a:ea typeface="Aptos"/>
                <a:cs typeface="Aptos"/>
              </a:defRPr>
            </a:pPr>
            <a:r>
              <a:rPr lang="es-MX" sz="3225" b="1" dirty="0" err="1">
                <a:solidFill>
                  <a:srgbClr val="102B4E"/>
                </a:solidFill>
                <a:latin typeface="Arial" panose="020B0604020202020204" pitchFamily="34" charset="0"/>
                <a:ea typeface="Aptos"/>
                <a:cs typeface="Arial" panose="020B0604020202020204" pitchFamily="34" charset="0"/>
              </a:rPr>
              <a:t>Panaderia</a:t>
            </a:r>
            <a:endParaRPr sz="3225" b="1" dirty="0">
              <a:solidFill>
                <a:srgbClr val="102B4E"/>
              </a:solidFill>
              <a:latin typeface="Arial" panose="020B0604020202020204" pitchFamily="34" charset="0"/>
              <a:ea typeface="Aptos"/>
              <a:cs typeface="Arial" panose="020B0604020202020204" pitchFamily="34" charset="0"/>
            </a:endParaRPr>
          </a:p>
        </p:txBody>
      </p:sp>
      <p:pic>
        <p:nvPicPr>
          <p:cNvPr id="15" name="Imagen 14">
            <a:extLst>
              <a:ext uri="{FF2B5EF4-FFF2-40B4-BE49-F238E27FC236}">
                <a16:creationId xmlns:a16="http://schemas.microsoft.com/office/drawing/2014/main" id="{E4B7C225-7D52-4BF9-AB4D-E1B6E7FAF81B}"/>
              </a:ext>
            </a:extLst>
          </p:cNvPr>
          <p:cNvPicPr>
            <a:picLocks noChangeAspect="1"/>
          </p:cNvPicPr>
          <p:nvPr/>
        </p:nvPicPr>
        <p:blipFill>
          <a:blip r:embed="rId3"/>
          <a:stretch>
            <a:fillRect/>
          </a:stretch>
        </p:blipFill>
        <p:spPr>
          <a:xfrm>
            <a:off x="487641" y="2973283"/>
            <a:ext cx="6858000" cy="3408467"/>
          </a:xfrm>
          <a:prstGeom prst="rect">
            <a:avLst/>
          </a:prstGeom>
        </p:spPr>
      </p:pic>
      <p:sp>
        <p:nvSpPr>
          <p:cNvPr id="17" name="CuadroTexto 16">
            <a:extLst>
              <a:ext uri="{FF2B5EF4-FFF2-40B4-BE49-F238E27FC236}">
                <a16:creationId xmlns:a16="http://schemas.microsoft.com/office/drawing/2014/main" id="{3F9131ED-734F-412F-A4FA-051E0F4910AB}"/>
              </a:ext>
            </a:extLst>
          </p:cNvPr>
          <p:cNvSpPr txBox="1"/>
          <p:nvPr/>
        </p:nvSpPr>
        <p:spPr>
          <a:xfrm>
            <a:off x="7824785" y="3022475"/>
            <a:ext cx="3045106" cy="3139321"/>
          </a:xfrm>
          <a:prstGeom prst="rect">
            <a:avLst/>
          </a:prstGeom>
          <a:noFill/>
        </p:spPr>
        <p:txBody>
          <a:bodyPr wrap="square">
            <a:spAutoFit/>
          </a:bodyPr>
          <a:lstStyle/>
          <a:p>
            <a:pPr algn="just"/>
            <a:r>
              <a:rPr lang="es-MX" b="0" dirty="0">
                <a:solidFill>
                  <a:srgbClr val="000000"/>
                </a:solidFill>
                <a:effectLst/>
                <a:latin typeface="ui-sans-serif"/>
              </a:rPr>
              <a:t>Simular y gestionar el ciclo completo de la actividad: compra de insumos, planificación de la producción diaria, elaboración, control de existencias, venta al público y análisis de resultados, buscando eficiencia en los tiempos, reducción de mermas y rentabilidad del servicio.</a:t>
            </a:r>
          </a:p>
        </p:txBody>
      </p:sp>
      <p:sp>
        <p:nvSpPr>
          <p:cNvPr id="18" name="Rectangle 2">
            <a:extLst>
              <a:ext uri="{FF2B5EF4-FFF2-40B4-BE49-F238E27FC236}">
                <a16:creationId xmlns:a16="http://schemas.microsoft.com/office/drawing/2014/main" id="{297633DC-ABAB-4AE8-BFC6-C4FD5B02A465}"/>
              </a:ext>
            </a:extLst>
          </p:cNvPr>
          <p:cNvSpPr>
            <a:spLocks noChangeArrowheads="1"/>
          </p:cNvSpPr>
          <p:nvPr/>
        </p:nvSpPr>
        <p:spPr bwMode="auto">
          <a:xfrm>
            <a:off x="292203" y="786926"/>
            <a:ext cx="11412156" cy="16619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lang="es-ES" altLang="es-ES"/>
              <a:t>Herramienta de cronograma: ProjectLibre — 7 actividades definidas con fechas, duraciones y dependencias, con inicio el 03/08/2026. </a:t>
            </a:r>
          </a:p>
          <a:p>
            <a:pPr marL="0" marR="0" lvl="0" indent="0" algn="l" defTabSz="914400" rtl="0" eaLnBrk="0" fontAlgn="base" latinLnBrk="0" hangingPunct="0">
              <a:lnSpc>
                <a:spcPct val="100000"/>
              </a:lnSpc>
              <a:spcBef>
                <a:spcPct val="0"/>
              </a:spcBef>
              <a:spcAft>
                <a:spcPct val="0"/>
              </a:spcAft>
              <a:buClrTx/>
              <a:buSzTx/>
              <a:buFontTx/>
              <a:buChar char="•"/>
              <a:tabLst/>
            </a:pPr>
            <a:r>
              <a:rPr lang="es-ES" altLang="es-ES"/>
              <a:t>Seguimiento y requisitos: 10 historias de usuario en Jira + tablero en Trello organizado en 4 listas: Por hacer → En proceso → En revisión → Terminado, con tarjetas por cada tarea y fechas límite. </a:t>
            </a:r>
          </a:p>
          <a:p>
            <a:pPr marL="0" marR="0" lvl="0" indent="0" algn="l" defTabSz="914400" rtl="0" eaLnBrk="0" fontAlgn="base" latinLnBrk="0" hangingPunct="0">
              <a:lnSpc>
                <a:spcPct val="100000"/>
              </a:lnSpc>
              <a:spcBef>
                <a:spcPct val="0"/>
              </a:spcBef>
              <a:spcAft>
                <a:spcPct val="0"/>
              </a:spcAft>
              <a:buClrTx/>
              <a:buSzTx/>
              <a:buFontTx/>
              <a:buChar char="•"/>
              <a:tabLst/>
            </a:pPr>
            <a:r>
              <a:rPr lang="es-ES" altLang="es-ES"/>
              <a:t>Etapas del proceso: Compra de insumos → Diseño de recetas → Calendario de producción → Preparación y horneado → Ventas → Control de mermas → Informe final. </a:t>
            </a:r>
          </a:p>
        </p:txBody>
      </p:sp>
    </p:spTree>
    <p:extLst>
      <p:ext uri="{BB962C8B-B14F-4D97-AF65-F5344CB8AC3E}">
        <p14:creationId xmlns:p14="http://schemas.microsoft.com/office/powerpoint/2010/main" val="12263353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CFD"/>
        </a:solid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C0ED4C74-CA90-4CAE-A5A9-610E61D56665}"/>
              </a:ext>
            </a:extLst>
          </p:cNvPr>
          <p:cNvSpPr>
            <a:spLocks noGrp="1"/>
          </p:cNvSpPr>
          <p:nvPr/>
        </p:nvSpPr>
        <p:spPr>
          <a:xfrm>
            <a:off x="11049000" y="6238875"/>
            <a:ext cx="571500" cy="285750"/>
          </a:xfrm>
          <a:prstGeom prst="rect">
            <a:avLst/>
          </a:prstGeom>
          <a:noFill/>
          <a:ln w="0">
            <a:noFill/>
          </a:ln>
        </p:spPr>
        <p:txBody>
          <a:bodyPr>
            <a:noAutofit/>
          </a:bodyPr>
          <a:lstStyle/>
          <a:p>
            <a:pPr>
              <a:defRPr sz="1350" b="0">
                <a:solidFill>
                  <a:srgbClr val="136A91"/>
                </a:solidFill>
                <a:latin typeface="Aptos"/>
                <a:ea typeface="Aptos"/>
                <a:cs typeface="Aptos"/>
              </a:defRPr>
            </a:pPr>
            <a:r>
              <a:rPr sz="1350" b="0">
                <a:solidFill>
                  <a:srgbClr val="136A91"/>
                </a:solidFill>
                <a:latin typeface="Aptos"/>
                <a:ea typeface="Aptos"/>
                <a:cs typeface="Aptos"/>
              </a:rPr>
              <a:t>09</a:t>
            </a:r>
          </a:p>
        </p:txBody>
      </p:sp>
      <p:sp>
        <p:nvSpPr>
          <p:cNvPr id="3" name="Rectángulo 2">
            <a:extLst>
              <a:ext uri="{FF2B5EF4-FFF2-40B4-BE49-F238E27FC236}">
                <a16:creationId xmlns:a16="http://schemas.microsoft.com/office/drawing/2014/main" id="{0DFB908A-8517-4ABF-8A15-F4860E9BC65B}"/>
              </a:ext>
            </a:extLst>
          </p:cNvPr>
          <p:cNvSpPr>
            <a:spLocks noGrp="1"/>
          </p:cNvSpPr>
          <p:nvPr/>
        </p:nvSpPr>
        <p:spPr>
          <a:xfrm>
            <a:off x="333375" y="38100"/>
            <a:ext cx="10382250" cy="904875"/>
          </a:xfrm>
          <a:prstGeom prst="rect">
            <a:avLst/>
          </a:prstGeom>
          <a:noFill/>
          <a:ln w="0">
            <a:noFill/>
          </a:ln>
        </p:spPr>
        <p:txBody>
          <a:bodyPr>
            <a:noAutofit/>
          </a:bodyPr>
          <a:lstStyle/>
          <a:p>
            <a:pPr algn="just">
              <a:defRPr sz="3225" b="1">
                <a:solidFill>
                  <a:srgbClr val="102B4E"/>
                </a:solidFill>
                <a:latin typeface="Aptos"/>
                <a:ea typeface="Aptos"/>
                <a:cs typeface="Aptos"/>
              </a:defRPr>
            </a:pPr>
            <a:r>
              <a:rPr lang="es-MX" sz="3225" b="1" dirty="0">
                <a:solidFill>
                  <a:srgbClr val="102B4E"/>
                </a:solidFill>
                <a:latin typeface="Arial" panose="020B0604020202020204" pitchFamily="34" charset="0"/>
                <a:ea typeface="Aptos"/>
                <a:cs typeface="Arial" panose="020B0604020202020204" pitchFamily="34" charset="0"/>
              </a:rPr>
              <a:t>Fabrica</a:t>
            </a:r>
            <a:endParaRPr sz="3225" b="1" dirty="0">
              <a:solidFill>
                <a:srgbClr val="102B4E"/>
              </a:solidFill>
              <a:latin typeface="Arial" panose="020B0604020202020204" pitchFamily="34" charset="0"/>
              <a:ea typeface="Aptos"/>
              <a:cs typeface="Arial" panose="020B0604020202020204" pitchFamily="34" charset="0"/>
            </a:endParaRPr>
          </a:p>
        </p:txBody>
      </p:sp>
      <p:pic>
        <p:nvPicPr>
          <p:cNvPr id="15" name="Imagen 14">
            <a:extLst>
              <a:ext uri="{FF2B5EF4-FFF2-40B4-BE49-F238E27FC236}">
                <a16:creationId xmlns:a16="http://schemas.microsoft.com/office/drawing/2014/main" id="{6D22DB4C-FC06-490B-B0F2-5E93516355C2}"/>
              </a:ext>
            </a:extLst>
          </p:cNvPr>
          <p:cNvPicPr>
            <a:picLocks noChangeAspect="1"/>
          </p:cNvPicPr>
          <p:nvPr/>
        </p:nvPicPr>
        <p:blipFill>
          <a:blip r:embed="rId3"/>
          <a:stretch>
            <a:fillRect/>
          </a:stretch>
        </p:blipFill>
        <p:spPr>
          <a:xfrm>
            <a:off x="236055" y="2548686"/>
            <a:ext cx="6677025" cy="3885735"/>
          </a:xfrm>
          <a:prstGeom prst="rect">
            <a:avLst/>
          </a:prstGeom>
        </p:spPr>
      </p:pic>
      <p:sp>
        <p:nvSpPr>
          <p:cNvPr id="18" name="CuadroTexto 17">
            <a:extLst>
              <a:ext uri="{FF2B5EF4-FFF2-40B4-BE49-F238E27FC236}">
                <a16:creationId xmlns:a16="http://schemas.microsoft.com/office/drawing/2014/main" id="{90B23A4C-5A24-4FE0-B17E-6C5869F35464}"/>
              </a:ext>
            </a:extLst>
          </p:cNvPr>
          <p:cNvSpPr txBox="1"/>
          <p:nvPr/>
        </p:nvSpPr>
        <p:spPr>
          <a:xfrm>
            <a:off x="6913080" y="3429000"/>
            <a:ext cx="4834973" cy="2031325"/>
          </a:xfrm>
          <a:prstGeom prst="rect">
            <a:avLst/>
          </a:prstGeom>
          <a:noFill/>
        </p:spPr>
        <p:txBody>
          <a:bodyPr wrap="square">
            <a:spAutoFit/>
          </a:bodyPr>
          <a:lstStyle/>
          <a:p>
            <a:pPr algn="just"/>
            <a:r>
              <a:rPr lang="es-MX" b="0" dirty="0">
                <a:solidFill>
                  <a:srgbClr val="000000"/>
                </a:solidFill>
                <a:effectLst/>
                <a:latin typeface="ui-sans-serif"/>
              </a:rPr>
              <a:t>Planificar, simular y optimizar el proceso completo de producción, desde la gestión de inventarios y materias primas hasta la elaboración, control de calidad y distribución de productos, buscando mayor eficiencia, reducción de tiempos y coordinación entre cada etapa operativa.</a:t>
            </a:r>
          </a:p>
        </p:txBody>
      </p:sp>
      <p:sp>
        <p:nvSpPr>
          <p:cNvPr id="19" name="Rectangle 2">
            <a:extLst>
              <a:ext uri="{FF2B5EF4-FFF2-40B4-BE49-F238E27FC236}">
                <a16:creationId xmlns:a16="http://schemas.microsoft.com/office/drawing/2014/main" id="{34089D07-95E9-4D27-B623-4CF053D62541}"/>
              </a:ext>
            </a:extLst>
          </p:cNvPr>
          <p:cNvSpPr>
            <a:spLocks noChangeArrowheads="1"/>
          </p:cNvSpPr>
          <p:nvPr/>
        </p:nvSpPr>
        <p:spPr bwMode="auto">
          <a:xfrm>
            <a:off x="465455" y="704454"/>
            <a:ext cx="10967671" cy="16619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lang="es-ES" altLang="es-ES"/>
              <a:t>Herramienta de cronograma: ProjectLibre — 5 actividades principales con fechas de inicio 03/08/2026, duraciones definidas, dependencias y recursos asignados: Jefe de Producción, Administrador de Stock, Operarios, Jefe de Logística y Equipo de Calidad. </a:t>
            </a:r>
          </a:p>
          <a:p>
            <a:pPr marL="0" marR="0" lvl="0" indent="0" algn="l" defTabSz="914400" rtl="0" eaLnBrk="0" fontAlgn="base" latinLnBrk="0" hangingPunct="0">
              <a:lnSpc>
                <a:spcPct val="100000"/>
              </a:lnSpc>
              <a:spcBef>
                <a:spcPct val="0"/>
              </a:spcBef>
              <a:spcAft>
                <a:spcPct val="0"/>
              </a:spcAft>
              <a:buClrTx/>
              <a:buSzTx/>
              <a:buFontTx/>
              <a:buChar char="•"/>
              <a:tabLst/>
            </a:pPr>
            <a:r>
              <a:rPr lang="es-ES" altLang="es-ES"/>
              <a:t>Seguimiento de tareas: Trello — Tablero estructurado en 4 listas: Por hacer → En proceso → En revisión → Terminado, con tarjetas que detallan cada actividad y sus fechas límite. </a:t>
            </a:r>
          </a:p>
          <a:p>
            <a:pPr marL="0" marR="0" lvl="0" indent="0" algn="l" defTabSz="914400" rtl="0" eaLnBrk="0" fontAlgn="base" latinLnBrk="0" hangingPunct="0">
              <a:lnSpc>
                <a:spcPct val="100000"/>
              </a:lnSpc>
              <a:spcBef>
                <a:spcPct val="0"/>
              </a:spcBef>
              <a:spcAft>
                <a:spcPct val="0"/>
              </a:spcAft>
              <a:buClrTx/>
              <a:buSzTx/>
              <a:buFontTx/>
              <a:buChar char="•"/>
              <a:tabLst/>
            </a:pPr>
            <a:r>
              <a:rPr lang="es-ES" altLang="es-ES"/>
              <a:t>Estructura de trabajo: Planificación → Inventarios → Elaboración → Distribución → Calidad y entrega final. </a:t>
            </a:r>
          </a:p>
        </p:txBody>
      </p:sp>
    </p:spTree>
    <p:extLst>
      <p:ext uri="{BB962C8B-B14F-4D97-AF65-F5344CB8AC3E}">
        <p14:creationId xmlns:p14="http://schemas.microsoft.com/office/powerpoint/2010/main" val="14007212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CFD"/>
        </a:solid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72CA86C2-810A-4F7C-9D84-20E1E2689807}"/>
              </a:ext>
            </a:extLst>
          </p:cNvPr>
          <p:cNvSpPr>
            <a:spLocks noGrp="1"/>
          </p:cNvSpPr>
          <p:nvPr/>
        </p:nvSpPr>
        <p:spPr>
          <a:xfrm>
            <a:off x="11049000" y="6238875"/>
            <a:ext cx="571500" cy="285750"/>
          </a:xfrm>
          <a:prstGeom prst="rect">
            <a:avLst/>
          </a:prstGeom>
          <a:noFill/>
          <a:ln w="0">
            <a:noFill/>
          </a:ln>
        </p:spPr>
        <p:txBody>
          <a:bodyPr>
            <a:noAutofit/>
          </a:bodyPr>
          <a:lstStyle/>
          <a:p>
            <a:pPr>
              <a:defRPr sz="1350" b="0">
                <a:solidFill>
                  <a:srgbClr val="136A91"/>
                </a:solidFill>
                <a:latin typeface="Aptos"/>
                <a:ea typeface="Aptos"/>
                <a:cs typeface="Aptos"/>
              </a:defRPr>
            </a:pPr>
            <a:r>
              <a:rPr sz="1350" b="0">
                <a:solidFill>
                  <a:srgbClr val="136A91"/>
                </a:solidFill>
                <a:latin typeface="Aptos"/>
                <a:ea typeface="Aptos"/>
                <a:cs typeface="Aptos"/>
              </a:rPr>
              <a:t>10</a:t>
            </a:r>
          </a:p>
        </p:txBody>
      </p:sp>
      <p:sp>
        <p:nvSpPr>
          <p:cNvPr id="3" name="Rectángulo 2">
            <a:extLst>
              <a:ext uri="{FF2B5EF4-FFF2-40B4-BE49-F238E27FC236}">
                <a16:creationId xmlns:a16="http://schemas.microsoft.com/office/drawing/2014/main" id="{70DD0608-3E7C-48C0-88EB-F31A63D3BB3E}"/>
              </a:ext>
            </a:extLst>
          </p:cNvPr>
          <p:cNvSpPr>
            <a:spLocks noGrp="1"/>
          </p:cNvSpPr>
          <p:nvPr/>
        </p:nvSpPr>
        <p:spPr>
          <a:xfrm>
            <a:off x="285750" y="0"/>
            <a:ext cx="10382250" cy="904875"/>
          </a:xfrm>
          <a:prstGeom prst="rect">
            <a:avLst/>
          </a:prstGeom>
          <a:noFill/>
          <a:ln w="0">
            <a:noFill/>
          </a:ln>
        </p:spPr>
        <p:txBody>
          <a:bodyPr>
            <a:noAutofit/>
          </a:bodyPr>
          <a:lstStyle/>
          <a:p>
            <a:pPr algn="just">
              <a:defRPr sz="3225" b="1">
                <a:solidFill>
                  <a:srgbClr val="102B4E"/>
                </a:solidFill>
                <a:latin typeface="Aptos"/>
                <a:ea typeface="Aptos"/>
                <a:cs typeface="Aptos"/>
              </a:defRPr>
            </a:pPr>
            <a:r>
              <a:rPr sz="3225" b="1" dirty="0">
                <a:solidFill>
                  <a:srgbClr val="102B4E"/>
                </a:solidFill>
                <a:latin typeface="Arial" panose="020B0604020202020204" pitchFamily="34" charset="0"/>
                <a:ea typeface="Aptos"/>
                <a:cs typeface="Arial" panose="020B0604020202020204" pitchFamily="34" charset="0"/>
              </a:rPr>
              <a:t>Banco Bansiso</a:t>
            </a:r>
          </a:p>
        </p:txBody>
      </p:sp>
      <p:pic>
        <p:nvPicPr>
          <p:cNvPr id="9" name="Imagen 8">
            <a:extLst>
              <a:ext uri="{FF2B5EF4-FFF2-40B4-BE49-F238E27FC236}">
                <a16:creationId xmlns:a16="http://schemas.microsoft.com/office/drawing/2014/main" id="{E2B88060-7A1B-44FF-93D0-EF79174579C1}"/>
              </a:ext>
            </a:extLst>
          </p:cNvPr>
          <p:cNvPicPr>
            <a:picLocks noChangeAspect="1"/>
          </p:cNvPicPr>
          <p:nvPr/>
        </p:nvPicPr>
        <p:blipFill>
          <a:blip r:embed="rId3"/>
          <a:stretch>
            <a:fillRect/>
          </a:stretch>
        </p:blipFill>
        <p:spPr>
          <a:xfrm>
            <a:off x="571500" y="2268203"/>
            <a:ext cx="6646507" cy="4265260"/>
          </a:xfrm>
          <a:prstGeom prst="rect">
            <a:avLst/>
          </a:prstGeom>
        </p:spPr>
      </p:pic>
      <p:sp>
        <p:nvSpPr>
          <p:cNvPr id="14" name="Rectangle 2">
            <a:extLst>
              <a:ext uri="{FF2B5EF4-FFF2-40B4-BE49-F238E27FC236}">
                <a16:creationId xmlns:a16="http://schemas.microsoft.com/office/drawing/2014/main" id="{CA0D103A-B2F8-4D93-9296-B888D9D1FC80}"/>
              </a:ext>
            </a:extLst>
          </p:cNvPr>
          <p:cNvSpPr>
            <a:spLocks noChangeArrowheads="1"/>
          </p:cNvSpPr>
          <p:nvPr/>
        </p:nvSpPr>
        <p:spPr bwMode="auto">
          <a:xfrm>
            <a:off x="285750" y="904875"/>
            <a:ext cx="11620500" cy="12311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lang="es-ES" altLang="es-ES" sz="1600" dirty="0"/>
              <a:t>Herramienta de cronograma: </a:t>
            </a:r>
            <a:r>
              <a:rPr lang="es-ES" altLang="es-ES" sz="1600" dirty="0" err="1"/>
              <a:t>ProjectLibre</a:t>
            </a:r>
            <a:r>
              <a:rPr lang="es-ES" altLang="es-ES" sz="1600" dirty="0"/>
              <a:t> — 7 actividades definidas con fechas, duraciones, dependencias y recursos asignados (Analista, Diseñador, Programador, Equipo de trabajo, Responsable del proyecto). </a:t>
            </a:r>
          </a:p>
          <a:p>
            <a:pPr marL="0" marR="0" lvl="0" indent="0" algn="l" defTabSz="914400" rtl="0" eaLnBrk="0" fontAlgn="base" latinLnBrk="0" hangingPunct="0">
              <a:lnSpc>
                <a:spcPct val="100000"/>
              </a:lnSpc>
              <a:spcBef>
                <a:spcPct val="0"/>
              </a:spcBef>
              <a:spcAft>
                <a:spcPct val="0"/>
              </a:spcAft>
              <a:buClrTx/>
              <a:buSzTx/>
              <a:buFontTx/>
              <a:buChar char="•"/>
              <a:tabLst/>
            </a:pPr>
            <a:r>
              <a:rPr lang="es-ES" altLang="es-ES" sz="1600" dirty="0"/>
              <a:t>Seguimiento de tareas: Trello — Tablero organizado en 4 listas: Por hacer → En proceso → En revisión → Terminado, con tarjetas por actividad y fechas límite de entrega. </a:t>
            </a:r>
          </a:p>
          <a:p>
            <a:pPr marL="0" marR="0" lvl="0" indent="0" algn="l" defTabSz="914400" rtl="0" eaLnBrk="0" fontAlgn="base" latinLnBrk="0" hangingPunct="0">
              <a:lnSpc>
                <a:spcPct val="100000"/>
              </a:lnSpc>
              <a:spcBef>
                <a:spcPct val="0"/>
              </a:spcBef>
              <a:spcAft>
                <a:spcPct val="0"/>
              </a:spcAft>
              <a:buClrTx/>
              <a:buSzTx/>
              <a:buFontTx/>
              <a:buChar char="•"/>
              <a:tabLst/>
            </a:pPr>
            <a:r>
              <a:rPr lang="es-ES" altLang="es-ES" sz="1600" dirty="0"/>
              <a:t>Historias de usuario: Definidas para describir necesidades concretas de clientes y cajeros, priorizando requisitos funcionales en Jira. </a:t>
            </a:r>
          </a:p>
        </p:txBody>
      </p:sp>
      <p:sp>
        <p:nvSpPr>
          <p:cNvPr id="16" name="CuadroTexto 15">
            <a:extLst>
              <a:ext uri="{FF2B5EF4-FFF2-40B4-BE49-F238E27FC236}">
                <a16:creationId xmlns:a16="http://schemas.microsoft.com/office/drawing/2014/main" id="{D2D22B6C-B06F-443F-8B33-B7E553AE89DF}"/>
              </a:ext>
            </a:extLst>
          </p:cNvPr>
          <p:cNvSpPr txBox="1"/>
          <p:nvPr/>
        </p:nvSpPr>
        <p:spPr>
          <a:xfrm>
            <a:off x="7513982" y="2809491"/>
            <a:ext cx="4494971" cy="2031325"/>
          </a:xfrm>
          <a:prstGeom prst="rect">
            <a:avLst/>
          </a:prstGeom>
          <a:noFill/>
        </p:spPr>
        <p:txBody>
          <a:bodyPr wrap="square">
            <a:spAutoFit/>
          </a:bodyPr>
          <a:lstStyle/>
          <a:p>
            <a:pPr algn="just"/>
            <a:r>
              <a:rPr lang="es-MX" b="0" dirty="0">
                <a:solidFill>
                  <a:srgbClr val="000000"/>
                </a:solidFill>
                <a:effectLst/>
                <a:latin typeface="ui-sans-serif"/>
              </a:rPr>
              <a:t>Simular y optimizar el flujo de atención bancaria, analizando la llegada de clientes, la formación de filas, los tiempos de espera y el servicio en ventanillas bajo diferentes escenarios de afluencia, para mejorar la experiencia del usuario y la eficiencia operativa.</a:t>
            </a:r>
          </a:p>
        </p:txBody>
      </p:sp>
    </p:spTree>
    <p:extLst>
      <p:ext uri="{BB962C8B-B14F-4D97-AF65-F5344CB8AC3E}">
        <p14:creationId xmlns:p14="http://schemas.microsoft.com/office/powerpoint/2010/main" val="923111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CFD"/>
        </a:solidFill>
        <a:effectLst/>
      </p:bgPr>
    </p:bg>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C0DFD41A-1CE8-4659-B73C-4B6FA041CEC2}"/>
              </a:ext>
            </a:extLst>
          </p:cNvPr>
          <p:cNvSpPr>
            <a:spLocks noGrp="1"/>
          </p:cNvSpPr>
          <p:nvPr/>
        </p:nvSpPr>
        <p:spPr>
          <a:xfrm>
            <a:off x="11049000" y="6238875"/>
            <a:ext cx="571500" cy="285750"/>
          </a:xfrm>
          <a:prstGeom prst="rect">
            <a:avLst/>
          </a:prstGeom>
          <a:noFill/>
          <a:ln w="0">
            <a:noFill/>
          </a:ln>
        </p:spPr>
        <p:txBody>
          <a:bodyPr>
            <a:noAutofit/>
          </a:bodyPr>
          <a:lstStyle/>
          <a:p>
            <a:pPr algn="just">
              <a:defRPr sz="1350" b="0">
                <a:solidFill>
                  <a:srgbClr val="136A91"/>
                </a:solidFill>
                <a:latin typeface="Aptos"/>
                <a:ea typeface="Aptos"/>
                <a:cs typeface="Aptos"/>
              </a:defRPr>
            </a:pPr>
            <a:r>
              <a:rPr sz="1350" b="0">
                <a:solidFill>
                  <a:srgbClr val="136A91"/>
                </a:solidFill>
                <a:latin typeface="Arial" panose="020B0604020202020204" pitchFamily="34" charset="0"/>
                <a:ea typeface="Aptos"/>
                <a:cs typeface="Arial" panose="020B0604020202020204" pitchFamily="34" charset="0"/>
              </a:rPr>
              <a:t>11</a:t>
            </a:r>
          </a:p>
        </p:txBody>
      </p:sp>
      <p:sp>
        <p:nvSpPr>
          <p:cNvPr id="2" name="Rectángulo 1">
            <a:extLst>
              <a:ext uri="{FF2B5EF4-FFF2-40B4-BE49-F238E27FC236}">
                <a16:creationId xmlns:a16="http://schemas.microsoft.com/office/drawing/2014/main" id="{2A56F1A6-18C4-4E8D-B2BD-F9148CF1C4CE}"/>
              </a:ext>
            </a:extLst>
          </p:cNvPr>
          <p:cNvSpPr>
            <a:spLocks noGrp="1"/>
          </p:cNvSpPr>
          <p:nvPr/>
        </p:nvSpPr>
        <p:spPr>
          <a:xfrm>
            <a:off x="666750" y="495300"/>
            <a:ext cx="10382250" cy="904875"/>
          </a:xfrm>
          <a:prstGeom prst="rect">
            <a:avLst/>
          </a:prstGeom>
          <a:noFill/>
          <a:ln w="0">
            <a:noFill/>
          </a:ln>
        </p:spPr>
        <p:txBody>
          <a:bodyPr>
            <a:noAutofit/>
          </a:bodyPr>
          <a:lstStyle/>
          <a:p>
            <a:pPr algn="just">
              <a:defRPr sz="3225" b="1">
                <a:solidFill>
                  <a:srgbClr val="102B4E"/>
                </a:solidFill>
                <a:latin typeface="Aptos"/>
                <a:ea typeface="Aptos"/>
                <a:cs typeface="Aptos"/>
              </a:defRPr>
            </a:pPr>
            <a:r>
              <a:rPr sz="3225" b="1">
                <a:solidFill>
                  <a:srgbClr val="102B4E"/>
                </a:solidFill>
                <a:latin typeface="Arial" panose="020B0604020202020204" pitchFamily="34" charset="0"/>
                <a:ea typeface="Aptos"/>
                <a:cs typeface="Arial" panose="020B0604020202020204" pitchFamily="34" charset="0"/>
              </a:rPr>
              <a:t>Lecciones aprendidas</a:t>
            </a:r>
          </a:p>
        </p:txBody>
      </p:sp>
      <p:graphicFrame>
        <p:nvGraphicFramePr>
          <p:cNvPr id="3" name="Tabla 2">
            <a:extLst>
              <a:ext uri="{FF2B5EF4-FFF2-40B4-BE49-F238E27FC236}">
                <a16:creationId xmlns:a16="http://schemas.microsoft.com/office/drawing/2014/main" id="{B0ACB206-A86A-4456-B8C2-C41229DD5782}"/>
              </a:ext>
            </a:extLst>
          </p:cNvPr>
          <p:cNvGraphicFramePr>
            <a:graphicFrameLocks noGrp="1"/>
          </p:cNvGraphicFramePr>
          <p:nvPr>
            <p:extLst>
              <p:ext uri="{D42A27DB-BD31-4B8C-83A1-F6EECF244321}">
                <p14:modId xmlns:p14="http://schemas.microsoft.com/office/powerpoint/2010/main" val="3224736386"/>
              </p:ext>
            </p:extLst>
          </p:nvPr>
        </p:nvGraphicFramePr>
        <p:xfrm>
          <a:off x="725169" y="1253331"/>
          <a:ext cx="10800081" cy="4351337"/>
        </p:xfrm>
        <a:graphic>
          <a:graphicData uri="http://schemas.openxmlformats.org/drawingml/2006/table">
            <a:tbl>
              <a:tblPr>
                <a:tableStyleId>{5C22544A-7EE6-4342-B048-85BDC9FD1C3A}</a:tableStyleId>
              </a:tblPr>
              <a:tblGrid>
                <a:gridCol w="3600027">
                  <a:extLst>
                    <a:ext uri="{9D8B030D-6E8A-4147-A177-3AD203B41FA5}">
                      <a16:colId xmlns:a16="http://schemas.microsoft.com/office/drawing/2014/main" val="2725737435"/>
                    </a:ext>
                  </a:extLst>
                </a:gridCol>
                <a:gridCol w="3600027">
                  <a:extLst>
                    <a:ext uri="{9D8B030D-6E8A-4147-A177-3AD203B41FA5}">
                      <a16:colId xmlns:a16="http://schemas.microsoft.com/office/drawing/2014/main" val="699037471"/>
                    </a:ext>
                  </a:extLst>
                </a:gridCol>
                <a:gridCol w="3600027">
                  <a:extLst>
                    <a:ext uri="{9D8B030D-6E8A-4147-A177-3AD203B41FA5}">
                      <a16:colId xmlns:a16="http://schemas.microsoft.com/office/drawing/2014/main" val="692874571"/>
                    </a:ext>
                  </a:extLst>
                </a:gridCol>
              </a:tblGrid>
              <a:tr h="320732">
                <a:tc>
                  <a:txBody>
                    <a:bodyPr/>
                    <a:lstStyle/>
                    <a:p>
                      <a:pPr algn="l"/>
                      <a:r>
                        <a:rPr lang="es-ES"/>
                        <a:t>Situación</a:t>
                      </a:r>
                    </a:p>
                  </a:txBody>
                  <a:tcPr marL="4086" marR="4086" marT="4086" marB="4086" anchor="ctr"/>
                </a:tc>
                <a:tc>
                  <a:txBody>
                    <a:bodyPr/>
                    <a:lstStyle/>
                    <a:p>
                      <a:pPr algn="l"/>
                      <a:r>
                        <a:rPr lang="es-ES"/>
                        <a:t>Aprendizaje</a:t>
                      </a:r>
                    </a:p>
                  </a:txBody>
                  <a:tcPr marL="4086" marR="4086" marT="4086" marB="4086" anchor="ctr"/>
                </a:tc>
                <a:tc>
                  <a:txBody>
                    <a:bodyPr/>
                    <a:lstStyle/>
                    <a:p>
                      <a:pPr algn="l"/>
                      <a:r>
                        <a:rPr lang="es-ES"/>
                        <a:t>Acción recomendada</a:t>
                      </a:r>
                    </a:p>
                  </a:txBody>
                  <a:tcPr marL="4086" marR="4086" marT="4086" marB="4086" anchor="ctr"/>
                </a:tc>
                <a:extLst>
                  <a:ext uri="{0D108BD9-81ED-4DB2-BD59-A6C34878D82A}">
                    <a16:rowId xmlns:a16="http://schemas.microsoft.com/office/drawing/2014/main" val="3181877420"/>
                  </a:ext>
                </a:extLst>
              </a:tr>
              <a:tr h="872310">
                <a:tc>
                  <a:txBody>
                    <a:bodyPr/>
                    <a:lstStyle/>
                    <a:p>
                      <a:pPr algn="l"/>
                      <a:r>
                        <a:rPr lang="es-MX"/>
                        <a:t>Cambios en la duración de tareas</a:t>
                      </a:r>
                    </a:p>
                  </a:txBody>
                  <a:tcPr marL="4086" marR="4086" marT="4086" marB="4086" anchor="ctr"/>
                </a:tc>
                <a:tc>
                  <a:txBody>
                    <a:bodyPr/>
                    <a:lstStyle/>
                    <a:p>
                      <a:pPr algn="l"/>
                      <a:r>
                        <a:rPr lang="es-MX"/>
                        <a:t>Las modificaciones afectan a tareas dependientes</a:t>
                      </a:r>
                    </a:p>
                  </a:txBody>
                  <a:tcPr marL="4086" marR="4086" marT="4086" marB="4086" anchor="ctr"/>
                </a:tc>
                <a:tc>
                  <a:txBody>
                    <a:bodyPr/>
                    <a:lstStyle/>
                    <a:p>
                      <a:pPr algn="l"/>
                      <a:r>
                        <a:rPr lang="es-MX"/>
                        <a:t>Revisar el impacto completo y actualizar el cronograma</a:t>
                      </a:r>
                    </a:p>
                  </a:txBody>
                  <a:tcPr marL="4086" marR="4086" marT="4086" marB="4086" anchor="ctr"/>
                </a:tc>
                <a:extLst>
                  <a:ext uri="{0D108BD9-81ED-4DB2-BD59-A6C34878D82A}">
                    <a16:rowId xmlns:a16="http://schemas.microsoft.com/office/drawing/2014/main" val="1052698897"/>
                  </a:ext>
                </a:extLst>
              </a:tr>
              <a:tr h="798767">
                <a:tc>
                  <a:txBody>
                    <a:bodyPr/>
                    <a:lstStyle/>
                    <a:p>
                      <a:pPr algn="l"/>
                      <a:r>
                        <a:rPr lang="es-ES"/>
                        <a:t>Modelado BPMN entre herramientas</a:t>
                      </a:r>
                    </a:p>
                  </a:txBody>
                  <a:tcPr marL="4086" marR="4086" marT="4086" marB="4086" anchor="ctr"/>
                </a:tc>
                <a:tc>
                  <a:txBody>
                    <a:bodyPr/>
                    <a:lstStyle/>
                    <a:p>
                      <a:pPr algn="l"/>
                      <a:r>
                        <a:rPr lang="es-MX"/>
                        <a:t>La compatibilidad debe validarse desde el inicio</a:t>
                      </a:r>
                    </a:p>
                  </a:txBody>
                  <a:tcPr marL="4086" marR="4086" marT="4086" marB="4086" anchor="ctr"/>
                </a:tc>
                <a:tc>
                  <a:txBody>
                    <a:bodyPr/>
                    <a:lstStyle/>
                    <a:p>
                      <a:pPr algn="l"/>
                      <a:r>
                        <a:rPr lang="es-MX"/>
                        <a:t>Realizar pruebas de importación antes de trabajar</a:t>
                      </a:r>
                    </a:p>
                  </a:txBody>
                  <a:tcPr marL="4086" marR="4086" marT="4086" marB="4086" anchor="ctr"/>
                </a:tc>
                <a:extLst>
                  <a:ext uri="{0D108BD9-81ED-4DB2-BD59-A6C34878D82A}">
                    <a16:rowId xmlns:a16="http://schemas.microsoft.com/office/drawing/2014/main" val="91138039"/>
                  </a:ext>
                </a:extLst>
              </a:tr>
              <a:tr h="909082">
                <a:tc>
                  <a:txBody>
                    <a:bodyPr/>
                    <a:lstStyle/>
                    <a:p>
                      <a:pPr algn="l"/>
                      <a:r>
                        <a:rPr lang="es-ES"/>
                        <a:t>Retrasos en el cronograma</a:t>
                      </a:r>
                    </a:p>
                  </a:txBody>
                  <a:tcPr marL="4086" marR="4086" marT="4086" marB="4086" anchor="ctr"/>
                </a:tc>
                <a:tc>
                  <a:txBody>
                    <a:bodyPr/>
                    <a:lstStyle/>
                    <a:p>
                      <a:pPr algn="l"/>
                      <a:r>
                        <a:rPr lang="es-MX"/>
                        <a:t>Los atrasos se propagan por la red de tareas</a:t>
                      </a:r>
                    </a:p>
                  </a:txBody>
                  <a:tcPr marL="4086" marR="4086" marT="4086" marB="4086" anchor="ctr"/>
                </a:tc>
                <a:tc>
                  <a:txBody>
                    <a:bodyPr/>
                    <a:lstStyle/>
                    <a:p>
                      <a:pPr algn="l"/>
                      <a:r>
                        <a:rPr lang="es-ES"/>
                        <a:t>Revisar avances periódicamente y registrar incidencias</a:t>
                      </a:r>
                    </a:p>
                  </a:txBody>
                  <a:tcPr marL="4086" marR="4086" marT="4086" marB="4086" anchor="ctr"/>
                </a:tc>
                <a:extLst>
                  <a:ext uri="{0D108BD9-81ED-4DB2-BD59-A6C34878D82A}">
                    <a16:rowId xmlns:a16="http://schemas.microsoft.com/office/drawing/2014/main" val="2896505068"/>
                  </a:ext>
                </a:extLst>
              </a:tr>
              <a:tr h="688451">
                <a:tc>
                  <a:txBody>
                    <a:bodyPr/>
                    <a:lstStyle/>
                    <a:p>
                      <a:pPr algn="l"/>
                      <a:r>
                        <a:rPr lang="es-MX"/>
                        <a:t>Pruebas con un solo escenario</a:t>
                      </a:r>
                    </a:p>
                  </a:txBody>
                  <a:tcPr marL="4086" marR="4086" marT="4086" marB="4086" anchor="ctr"/>
                </a:tc>
                <a:tc>
                  <a:txBody>
                    <a:bodyPr/>
                    <a:lstStyle/>
                    <a:p>
                      <a:pPr algn="l"/>
                      <a:r>
                        <a:rPr lang="es-ES"/>
                        <a:t>La evidencia resulta insuficiente</a:t>
                      </a:r>
                    </a:p>
                  </a:txBody>
                  <a:tcPr marL="4086" marR="4086" marT="4086" marB="4086" anchor="ctr"/>
                </a:tc>
                <a:tc>
                  <a:txBody>
                    <a:bodyPr/>
                    <a:lstStyle/>
                    <a:p>
                      <a:pPr algn="l"/>
                      <a:r>
                        <a:rPr lang="es-ES"/>
                        <a:t>Definir varios escenarios antes de simular</a:t>
                      </a:r>
                    </a:p>
                  </a:txBody>
                  <a:tcPr marL="4086" marR="4086" marT="4086" marB="4086" anchor="ctr"/>
                </a:tc>
                <a:extLst>
                  <a:ext uri="{0D108BD9-81ED-4DB2-BD59-A6C34878D82A}">
                    <a16:rowId xmlns:a16="http://schemas.microsoft.com/office/drawing/2014/main" val="1525006132"/>
                  </a:ext>
                </a:extLst>
              </a:tr>
              <a:tr h="761995">
                <a:tc>
                  <a:txBody>
                    <a:bodyPr/>
                    <a:lstStyle/>
                    <a:p>
                      <a:pPr algn="l"/>
                      <a:r>
                        <a:rPr lang="es-ES"/>
                        <a:t>Documentación tardía</a:t>
                      </a:r>
                    </a:p>
                  </a:txBody>
                  <a:tcPr marL="4086" marR="4086" marT="4086" marB="4086" anchor="ctr"/>
                </a:tc>
                <a:tc>
                  <a:txBody>
                    <a:bodyPr/>
                    <a:lstStyle/>
                    <a:p>
                      <a:pPr algn="l"/>
                      <a:r>
                        <a:rPr lang="es-ES"/>
                        <a:t>Se pierden detalles importantes</a:t>
                      </a:r>
                    </a:p>
                  </a:txBody>
                  <a:tcPr marL="4086" marR="4086" marT="4086" marB="4086" anchor="ctr"/>
                </a:tc>
                <a:tc>
                  <a:txBody>
                    <a:bodyPr/>
                    <a:lstStyle/>
                    <a:p>
                      <a:pPr algn="l"/>
                      <a:r>
                        <a:rPr lang="es-MX" dirty="0"/>
                        <a:t>Actualizar evidencias durante todo el proyecto</a:t>
                      </a:r>
                    </a:p>
                  </a:txBody>
                  <a:tcPr marL="4086" marR="4086" marT="4086" marB="4086" anchor="ctr"/>
                </a:tc>
                <a:extLst>
                  <a:ext uri="{0D108BD9-81ED-4DB2-BD59-A6C34878D82A}">
                    <a16:rowId xmlns:a16="http://schemas.microsoft.com/office/drawing/2014/main" val="3125329937"/>
                  </a:ext>
                </a:extLst>
              </a:tr>
            </a:tbl>
          </a:graphicData>
        </a:graphic>
      </p:graphicFrame>
    </p:spTree>
    <p:extLst>
      <p:ext uri="{BB962C8B-B14F-4D97-AF65-F5344CB8AC3E}">
        <p14:creationId xmlns:p14="http://schemas.microsoft.com/office/powerpoint/2010/main" val="12008202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AFCFD"/>
        </a:solid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6676C7C8-19DD-4141-B0DC-94CC8E27E529}"/>
              </a:ext>
            </a:extLst>
          </p:cNvPr>
          <p:cNvSpPr>
            <a:spLocks noGrp="1"/>
          </p:cNvSpPr>
          <p:nvPr/>
        </p:nvSpPr>
        <p:spPr>
          <a:xfrm>
            <a:off x="11049000" y="6238875"/>
            <a:ext cx="571500" cy="285750"/>
          </a:xfrm>
          <a:prstGeom prst="rect">
            <a:avLst/>
          </a:prstGeom>
          <a:noFill/>
          <a:ln w="0">
            <a:noFill/>
          </a:ln>
        </p:spPr>
        <p:txBody>
          <a:bodyPr>
            <a:noAutofit/>
          </a:bodyPr>
          <a:lstStyle/>
          <a:p>
            <a:pPr algn="just">
              <a:defRPr sz="1350" b="0">
                <a:solidFill>
                  <a:srgbClr val="136A91"/>
                </a:solidFill>
                <a:latin typeface="Aptos"/>
                <a:ea typeface="Aptos"/>
                <a:cs typeface="Aptos"/>
              </a:defRPr>
            </a:pPr>
            <a:r>
              <a:rPr sz="1350" b="0">
                <a:solidFill>
                  <a:srgbClr val="136A91"/>
                </a:solidFill>
                <a:latin typeface="Arial" panose="020B0604020202020204" pitchFamily="34" charset="0"/>
                <a:ea typeface="Aptos"/>
                <a:cs typeface="Arial" panose="020B0604020202020204" pitchFamily="34" charset="0"/>
              </a:rPr>
              <a:t>12</a:t>
            </a:r>
          </a:p>
        </p:txBody>
      </p:sp>
      <p:sp>
        <p:nvSpPr>
          <p:cNvPr id="3" name="Rectángulo 2">
            <a:extLst>
              <a:ext uri="{FF2B5EF4-FFF2-40B4-BE49-F238E27FC236}">
                <a16:creationId xmlns:a16="http://schemas.microsoft.com/office/drawing/2014/main" id="{392A4F9F-1CCA-4128-A9DE-BC190AF7798E}"/>
              </a:ext>
            </a:extLst>
          </p:cNvPr>
          <p:cNvSpPr>
            <a:spLocks noGrp="1"/>
          </p:cNvSpPr>
          <p:nvPr/>
        </p:nvSpPr>
        <p:spPr>
          <a:xfrm>
            <a:off x="666750" y="495300"/>
            <a:ext cx="10382250" cy="904875"/>
          </a:xfrm>
          <a:prstGeom prst="rect">
            <a:avLst/>
          </a:prstGeom>
          <a:noFill/>
          <a:ln w="0">
            <a:noFill/>
          </a:ln>
        </p:spPr>
        <p:txBody>
          <a:bodyPr>
            <a:noAutofit/>
          </a:bodyPr>
          <a:lstStyle/>
          <a:p>
            <a:pPr algn="just">
              <a:defRPr sz="3225" b="1">
                <a:solidFill>
                  <a:srgbClr val="102B4E"/>
                </a:solidFill>
                <a:latin typeface="Aptos"/>
                <a:ea typeface="Aptos"/>
                <a:cs typeface="Aptos"/>
              </a:defRPr>
            </a:pPr>
            <a:r>
              <a:rPr sz="3225" b="1">
                <a:solidFill>
                  <a:srgbClr val="102B4E"/>
                </a:solidFill>
                <a:latin typeface="Arial" panose="020B0604020202020204" pitchFamily="34" charset="0"/>
                <a:ea typeface="Aptos"/>
                <a:cs typeface="Arial" panose="020B0604020202020204" pitchFamily="34" charset="0"/>
              </a:rPr>
              <a:t>Aplicación de los aprendizajes</a:t>
            </a:r>
          </a:p>
        </p:txBody>
      </p:sp>
      <p:sp>
        <p:nvSpPr>
          <p:cNvPr id="10" name="CuadroTexto 9">
            <a:extLst>
              <a:ext uri="{FF2B5EF4-FFF2-40B4-BE49-F238E27FC236}">
                <a16:creationId xmlns:a16="http://schemas.microsoft.com/office/drawing/2014/main" id="{C03559BC-E713-45E8-8277-B374828F6BAC}"/>
              </a:ext>
            </a:extLst>
          </p:cNvPr>
          <p:cNvSpPr txBox="1"/>
          <p:nvPr/>
        </p:nvSpPr>
        <p:spPr>
          <a:xfrm>
            <a:off x="666750" y="1159867"/>
            <a:ext cx="10553700" cy="4247317"/>
          </a:xfrm>
          <a:prstGeom prst="rect">
            <a:avLst/>
          </a:prstGeom>
          <a:noFill/>
        </p:spPr>
        <p:txBody>
          <a:bodyPr wrap="square">
            <a:spAutoFit/>
          </a:bodyPr>
          <a:lstStyle/>
          <a:p>
            <a:pPr algn="just"/>
            <a:r>
              <a:rPr lang="es-MX" dirty="0"/>
              <a:t>Antes de modificar la duración de una actividad, revisamos sus dependencias y el efecto sobre la fecha de entrega: en la Panadería, el cambio de 6 a 8 días en la simulación de producción se evaluó para no afectar inventario y ventas; en la Fábrica, los ajustes al modelo se reprogramaron manteniendo la meta del 31 de octubre; y en el Banco </a:t>
            </a:r>
            <a:r>
              <a:rPr lang="es-MX" dirty="0" err="1"/>
              <a:t>Bansiso</a:t>
            </a:r>
            <a:r>
              <a:rPr lang="es-MX" dirty="0"/>
              <a:t>, verificamos que ningún cambio retrasara las pruebas de los escenarios de atención.</a:t>
            </a:r>
          </a:p>
          <a:p>
            <a:pPr algn="just"/>
            <a:r>
              <a:rPr lang="es-MX" dirty="0"/>
              <a:t>Al trasladar o compartir modelos y diagramas, comprobamos que todo se mantenga correcto desde el principio: en la Fábrica revisamos que el diagrama de procesos conservara todas sus conexiones; en la Panadería cuidamos que el flujo de producción no perdiera su orden; y en el Banco </a:t>
            </a:r>
            <a:r>
              <a:rPr lang="es-MX" dirty="0" err="1"/>
              <a:t>Bansiso</a:t>
            </a:r>
            <a:r>
              <a:rPr lang="es-MX" dirty="0"/>
              <a:t> confirmamos que el esquema de filas y atención se mantuviera fiel al diseño.</a:t>
            </a:r>
          </a:p>
          <a:p>
            <a:pPr algn="just"/>
            <a:r>
              <a:rPr lang="es-MX" dirty="0"/>
              <a:t>Preparamos distintas situaciones para evaluar el comportamiento real: la Panadería probó funcionamiento normal y con retrasos; la Fábrica simuló respuestas correctas y posibles fallos; y el Banco </a:t>
            </a:r>
            <a:r>
              <a:rPr lang="es-MX" dirty="0" err="1"/>
              <a:t>Bansiso</a:t>
            </a:r>
            <a:r>
              <a:rPr lang="es-MX" dirty="0"/>
              <a:t> evaluó poca, media y mucha afluencia de clientes, así como eventualidades en ventanillas.</a:t>
            </a:r>
          </a:p>
          <a:p>
            <a:pPr algn="just"/>
            <a:r>
              <a:rPr lang="es-MX" dirty="0"/>
              <a:t>Cada cambio se registra con su motivo y evidencia, revisando el avance de forma continua: en los tres proyectos anotamos lo modificado en el cronograma y en los tableros de trabajo, con capturas y explicaciones, para que todo quede respaldado y podamos formalizar el cierre con seguridad.</a:t>
            </a:r>
          </a:p>
        </p:txBody>
      </p:sp>
    </p:spTree>
    <p:extLst>
      <p:ext uri="{BB962C8B-B14F-4D97-AF65-F5344CB8AC3E}">
        <p14:creationId xmlns:p14="http://schemas.microsoft.com/office/powerpoint/2010/main" val="21361905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AFCFD"/>
        </a:solidFill>
        <a:effectLst/>
      </p:bgPr>
    </p:bg>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9EBFA9F5-ADB9-4BAE-BF60-A1ECFE31AB43}"/>
              </a:ext>
            </a:extLst>
          </p:cNvPr>
          <p:cNvSpPr>
            <a:spLocks noGrp="1"/>
          </p:cNvSpPr>
          <p:nvPr/>
        </p:nvSpPr>
        <p:spPr>
          <a:xfrm>
            <a:off x="11049000" y="6238875"/>
            <a:ext cx="571500" cy="285750"/>
          </a:xfrm>
          <a:prstGeom prst="rect">
            <a:avLst/>
          </a:prstGeom>
          <a:noFill/>
          <a:ln w="0">
            <a:noFill/>
          </a:ln>
        </p:spPr>
        <p:txBody>
          <a:bodyPr>
            <a:noAutofit/>
          </a:bodyPr>
          <a:lstStyle/>
          <a:p>
            <a:pPr>
              <a:defRPr sz="1350" b="0">
                <a:solidFill>
                  <a:srgbClr val="136A91"/>
                </a:solidFill>
                <a:latin typeface="Aptos"/>
                <a:ea typeface="Aptos"/>
                <a:cs typeface="Aptos"/>
              </a:defRPr>
            </a:pPr>
            <a:r>
              <a:rPr sz="1350" b="0">
                <a:solidFill>
                  <a:srgbClr val="136A91"/>
                </a:solidFill>
                <a:latin typeface="Arial" panose="020B0604020202020204" pitchFamily="34" charset="0"/>
                <a:ea typeface="Aptos"/>
                <a:cs typeface="Arial" panose="020B0604020202020204" pitchFamily="34" charset="0"/>
              </a:rPr>
              <a:t>13</a:t>
            </a:r>
          </a:p>
        </p:txBody>
      </p:sp>
      <p:sp>
        <p:nvSpPr>
          <p:cNvPr id="2" name="Rectángulo 1">
            <a:extLst>
              <a:ext uri="{FF2B5EF4-FFF2-40B4-BE49-F238E27FC236}">
                <a16:creationId xmlns:a16="http://schemas.microsoft.com/office/drawing/2014/main" id="{08ED313A-DB16-464D-BB1A-F298BFE540BA}"/>
              </a:ext>
            </a:extLst>
          </p:cNvPr>
          <p:cNvSpPr>
            <a:spLocks noGrp="1"/>
          </p:cNvSpPr>
          <p:nvPr/>
        </p:nvSpPr>
        <p:spPr>
          <a:xfrm>
            <a:off x="666750" y="495300"/>
            <a:ext cx="10382250" cy="904875"/>
          </a:xfrm>
          <a:prstGeom prst="rect">
            <a:avLst/>
          </a:prstGeom>
          <a:noFill/>
          <a:ln w="0">
            <a:noFill/>
          </a:ln>
        </p:spPr>
        <p:txBody>
          <a:bodyPr>
            <a:noAutofit/>
          </a:bodyPr>
          <a:lstStyle/>
          <a:p>
            <a:pPr>
              <a:defRPr sz="3225" b="1">
                <a:solidFill>
                  <a:srgbClr val="102B4E"/>
                </a:solidFill>
                <a:latin typeface="Aptos"/>
                <a:ea typeface="Aptos"/>
                <a:cs typeface="Aptos"/>
              </a:defRPr>
            </a:pPr>
            <a:r>
              <a:rPr sz="3225" b="1">
                <a:solidFill>
                  <a:srgbClr val="102B4E"/>
                </a:solidFill>
                <a:latin typeface="Arial" panose="020B0604020202020204" pitchFamily="34" charset="0"/>
                <a:ea typeface="Aptos"/>
                <a:cs typeface="Arial" panose="020B0604020202020204" pitchFamily="34" charset="0"/>
              </a:rPr>
              <a:t>Registro de lecciones por proyecto</a:t>
            </a:r>
          </a:p>
        </p:txBody>
      </p:sp>
      <p:graphicFrame>
        <p:nvGraphicFramePr>
          <p:cNvPr id="3" name="Tabla 2">
            <a:extLst>
              <a:ext uri="{FF2B5EF4-FFF2-40B4-BE49-F238E27FC236}">
                <a16:creationId xmlns:a16="http://schemas.microsoft.com/office/drawing/2014/main" id="{F1EA32FE-3449-4795-B954-9698D1B06F80}"/>
              </a:ext>
            </a:extLst>
          </p:cNvPr>
          <p:cNvGraphicFramePr>
            <a:graphicFrameLocks noGrp="1"/>
          </p:cNvGraphicFramePr>
          <p:nvPr>
            <p:extLst>
              <p:ext uri="{D42A27DB-BD31-4B8C-83A1-F6EECF244321}">
                <p14:modId xmlns:p14="http://schemas.microsoft.com/office/powerpoint/2010/main" val="1118172794"/>
              </p:ext>
            </p:extLst>
          </p:nvPr>
        </p:nvGraphicFramePr>
        <p:xfrm>
          <a:off x="853440" y="1253330"/>
          <a:ext cx="9570720" cy="4351339"/>
        </p:xfrm>
        <a:graphic>
          <a:graphicData uri="http://schemas.openxmlformats.org/drawingml/2006/table">
            <a:tbl>
              <a:tblPr>
                <a:tableStyleId>{5C22544A-7EE6-4342-B048-85BDC9FD1C3A}</a:tableStyleId>
              </a:tblPr>
              <a:tblGrid>
                <a:gridCol w="2392680">
                  <a:extLst>
                    <a:ext uri="{9D8B030D-6E8A-4147-A177-3AD203B41FA5}">
                      <a16:colId xmlns:a16="http://schemas.microsoft.com/office/drawing/2014/main" val="46126772"/>
                    </a:ext>
                  </a:extLst>
                </a:gridCol>
                <a:gridCol w="2392680">
                  <a:extLst>
                    <a:ext uri="{9D8B030D-6E8A-4147-A177-3AD203B41FA5}">
                      <a16:colId xmlns:a16="http://schemas.microsoft.com/office/drawing/2014/main" val="2738899420"/>
                    </a:ext>
                  </a:extLst>
                </a:gridCol>
                <a:gridCol w="2392680">
                  <a:extLst>
                    <a:ext uri="{9D8B030D-6E8A-4147-A177-3AD203B41FA5}">
                      <a16:colId xmlns:a16="http://schemas.microsoft.com/office/drawing/2014/main" val="930857841"/>
                    </a:ext>
                  </a:extLst>
                </a:gridCol>
                <a:gridCol w="2392680">
                  <a:extLst>
                    <a:ext uri="{9D8B030D-6E8A-4147-A177-3AD203B41FA5}">
                      <a16:colId xmlns:a16="http://schemas.microsoft.com/office/drawing/2014/main" val="233903338"/>
                    </a:ext>
                  </a:extLst>
                </a:gridCol>
              </a:tblGrid>
              <a:tr h="466321">
                <a:tc>
                  <a:txBody>
                    <a:bodyPr/>
                    <a:lstStyle/>
                    <a:p>
                      <a:pPr algn="l"/>
                      <a:r>
                        <a:rPr lang="es-ES"/>
                        <a:t>Proyecto</a:t>
                      </a:r>
                    </a:p>
                  </a:txBody>
                  <a:tcPr marL="5940" marR="5940" marT="5940" marB="5940" anchor="ctr"/>
                </a:tc>
                <a:tc>
                  <a:txBody>
                    <a:bodyPr/>
                    <a:lstStyle/>
                    <a:p>
                      <a:pPr algn="l"/>
                      <a:r>
                        <a:rPr lang="es-ES"/>
                        <a:t>Aspecto pendiente</a:t>
                      </a:r>
                    </a:p>
                  </a:txBody>
                  <a:tcPr marL="5940" marR="5940" marT="5940" marB="5940" anchor="ctr"/>
                </a:tc>
                <a:tc>
                  <a:txBody>
                    <a:bodyPr/>
                    <a:lstStyle/>
                    <a:p>
                      <a:pPr algn="l"/>
                      <a:r>
                        <a:rPr lang="es-ES" dirty="0"/>
                        <a:t>Aprendizaje</a:t>
                      </a:r>
                    </a:p>
                  </a:txBody>
                  <a:tcPr marL="5940" marR="5940" marT="5940" marB="5940" anchor="ctr"/>
                </a:tc>
                <a:tc>
                  <a:txBody>
                    <a:bodyPr/>
                    <a:lstStyle/>
                    <a:p>
                      <a:pPr algn="l"/>
                      <a:r>
                        <a:rPr lang="es-ES"/>
                        <a:t>Acción recomendada</a:t>
                      </a:r>
                    </a:p>
                  </a:txBody>
                  <a:tcPr marL="5940" marR="5940" marT="5940" marB="5940" anchor="ctr"/>
                </a:tc>
                <a:extLst>
                  <a:ext uri="{0D108BD9-81ED-4DB2-BD59-A6C34878D82A}">
                    <a16:rowId xmlns:a16="http://schemas.microsoft.com/office/drawing/2014/main" val="1826684085"/>
                  </a:ext>
                </a:extLst>
              </a:tr>
              <a:tr h="1161347">
                <a:tc>
                  <a:txBody>
                    <a:bodyPr/>
                    <a:lstStyle/>
                    <a:p>
                      <a:pPr algn="l"/>
                      <a:r>
                        <a:rPr lang="es-ES"/>
                        <a:t>Panadería</a:t>
                      </a:r>
                    </a:p>
                  </a:txBody>
                  <a:tcPr marL="5940" marR="5940" marT="5940" marB="5940" anchor="ctr"/>
                </a:tc>
                <a:tc>
                  <a:txBody>
                    <a:bodyPr/>
                    <a:lstStyle/>
                    <a:p>
                      <a:pPr algn="l"/>
                      <a:r>
                        <a:rPr lang="es-ES"/>
                        <a:t>Completar resultados y pruebas</a:t>
                      </a:r>
                    </a:p>
                  </a:txBody>
                  <a:tcPr marL="5940" marR="5940" marT="5940" marB="5940" anchor="ctr"/>
                </a:tc>
                <a:tc>
                  <a:txBody>
                    <a:bodyPr/>
                    <a:lstStyle/>
                    <a:p>
                      <a:pPr algn="l"/>
                      <a:r>
                        <a:rPr lang="es-MX"/>
                        <a:t>Los cambios de duración afectan todo el cronograma</a:t>
                      </a:r>
                    </a:p>
                  </a:txBody>
                  <a:tcPr marL="5940" marR="5940" marT="5940" marB="5940" anchor="ctr"/>
                </a:tc>
                <a:tc>
                  <a:txBody>
                    <a:bodyPr/>
                    <a:lstStyle/>
                    <a:p>
                      <a:pPr algn="l"/>
                      <a:r>
                        <a:rPr lang="es-MX"/>
                        <a:t>Documentar resultados finales con evidencia</a:t>
                      </a:r>
                    </a:p>
                  </a:txBody>
                  <a:tcPr marL="5940" marR="5940" marT="5940" marB="5940" anchor="ctr"/>
                </a:tc>
                <a:extLst>
                  <a:ext uri="{0D108BD9-81ED-4DB2-BD59-A6C34878D82A}">
                    <a16:rowId xmlns:a16="http://schemas.microsoft.com/office/drawing/2014/main" val="2243126109"/>
                  </a:ext>
                </a:extLst>
              </a:tr>
              <a:tr h="1428665">
                <a:tc>
                  <a:txBody>
                    <a:bodyPr/>
                    <a:lstStyle/>
                    <a:p>
                      <a:pPr algn="l"/>
                      <a:r>
                        <a:rPr lang="es-ES"/>
                        <a:t>Fábrica</a:t>
                      </a:r>
                    </a:p>
                  </a:txBody>
                  <a:tcPr marL="5940" marR="5940" marT="5940" marB="5940" anchor="ctr"/>
                </a:tc>
                <a:tc>
                  <a:txBody>
                    <a:bodyPr/>
                    <a:lstStyle/>
                    <a:p>
                      <a:pPr algn="l"/>
                      <a:r>
                        <a:rPr lang="es-MX"/>
                        <a:t>Validar modelo BPMN y simulación</a:t>
                      </a:r>
                    </a:p>
                  </a:txBody>
                  <a:tcPr marL="5940" marR="5940" marT="5940" marB="5940" anchor="ctr"/>
                </a:tc>
                <a:tc>
                  <a:txBody>
                    <a:bodyPr/>
                    <a:lstStyle/>
                    <a:p>
                      <a:pPr algn="l"/>
                      <a:r>
                        <a:rPr lang="es-MX"/>
                        <a:t>La compatibilidad entre herramientas requiere prueba previa</a:t>
                      </a:r>
                    </a:p>
                  </a:txBody>
                  <a:tcPr marL="5940" marR="5940" marT="5940" marB="5940" anchor="ctr"/>
                </a:tc>
                <a:tc>
                  <a:txBody>
                    <a:bodyPr/>
                    <a:lstStyle/>
                    <a:p>
                      <a:pPr algn="l"/>
                      <a:r>
                        <a:rPr lang="es-MX"/>
                        <a:t>Revisar conexiones y compatibilidad antes de entregar</a:t>
                      </a:r>
                    </a:p>
                  </a:txBody>
                  <a:tcPr marL="5940" marR="5940" marT="5940" marB="5940" anchor="ctr"/>
                </a:tc>
                <a:extLst>
                  <a:ext uri="{0D108BD9-81ED-4DB2-BD59-A6C34878D82A}">
                    <a16:rowId xmlns:a16="http://schemas.microsoft.com/office/drawing/2014/main" val="2231819473"/>
                  </a:ext>
                </a:extLst>
              </a:tr>
              <a:tr h="1295006">
                <a:tc>
                  <a:txBody>
                    <a:bodyPr/>
                    <a:lstStyle/>
                    <a:p>
                      <a:pPr algn="l"/>
                      <a:r>
                        <a:rPr lang="es-ES"/>
                        <a:t>Banco Bansiso</a:t>
                      </a:r>
                    </a:p>
                  </a:txBody>
                  <a:tcPr marL="5940" marR="5940" marT="5940" marB="5940" anchor="ctr"/>
                </a:tc>
                <a:tc>
                  <a:txBody>
                    <a:bodyPr/>
                    <a:lstStyle/>
                    <a:p>
                      <a:pPr algn="l"/>
                      <a:r>
                        <a:rPr lang="es-MX"/>
                        <a:t>Ejecutar pruebas y análisis de escenarios</a:t>
                      </a:r>
                    </a:p>
                  </a:txBody>
                  <a:tcPr marL="5940" marR="5940" marT="5940" marB="5940" anchor="ctr"/>
                </a:tc>
                <a:tc>
                  <a:txBody>
                    <a:bodyPr/>
                    <a:lstStyle/>
                    <a:p>
                      <a:pPr algn="l"/>
                      <a:r>
                        <a:rPr lang="es-MX"/>
                        <a:t>La planificación no es suficiente sin resultados reales</a:t>
                      </a:r>
                    </a:p>
                  </a:txBody>
                  <a:tcPr marL="5940" marR="5940" marT="5940" marB="5940" anchor="ctr"/>
                </a:tc>
                <a:tc>
                  <a:txBody>
                    <a:bodyPr/>
                    <a:lstStyle/>
                    <a:p>
                      <a:pPr algn="l"/>
                      <a:r>
                        <a:rPr lang="es-MX" dirty="0"/>
                        <a:t>Ejecutar todos los escenarios y registrar datos</a:t>
                      </a:r>
                    </a:p>
                  </a:txBody>
                  <a:tcPr marL="5940" marR="5940" marT="5940" marB="5940" anchor="ctr"/>
                </a:tc>
                <a:extLst>
                  <a:ext uri="{0D108BD9-81ED-4DB2-BD59-A6C34878D82A}">
                    <a16:rowId xmlns:a16="http://schemas.microsoft.com/office/drawing/2014/main" val="220056265"/>
                  </a:ext>
                </a:extLst>
              </a:tr>
            </a:tbl>
          </a:graphicData>
        </a:graphic>
      </p:graphicFrame>
    </p:spTree>
    <p:extLst>
      <p:ext uri="{BB962C8B-B14F-4D97-AF65-F5344CB8AC3E}">
        <p14:creationId xmlns:p14="http://schemas.microsoft.com/office/powerpoint/2010/main" val="20494554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AFCFD"/>
        </a:solidFill>
        <a:effectLst/>
      </p:bgPr>
    </p:bg>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710AB0B0-E7BB-4531-9A9E-3EB45003142B}"/>
              </a:ext>
            </a:extLst>
          </p:cNvPr>
          <p:cNvSpPr>
            <a:spLocks noGrp="1"/>
          </p:cNvSpPr>
          <p:nvPr/>
        </p:nvSpPr>
        <p:spPr>
          <a:xfrm>
            <a:off x="11049000" y="6238875"/>
            <a:ext cx="571500" cy="285750"/>
          </a:xfrm>
          <a:prstGeom prst="rect">
            <a:avLst/>
          </a:prstGeom>
          <a:noFill/>
          <a:ln w="0">
            <a:noFill/>
          </a:ln>
        </p:spPr>
        <p:txBody>
          <a:bodyPr>
            <a:noAutofit/>
          </a:bodyPr>
          <a:lstStyle/>
          <a:p>
            <a:pPr algn="just">
              <a:defRPr sz="1350" b="0">
                <a:solidFill>
                  <a:srgbClr val="136A91"/>
                </a:solidFill>
                <a:latin typeface="Aptos"/>
                <a:ea typeface="Aptos"/>
                <a:cs typeface="Aptos"/>
              </a:defRPr>
            </a:pPr>
            <a:r>
              <a:rPr sz="1350" b="0">
                <a:solidFill>
                  <a:srgbClr val="136A91"/>
                </a:solidFill>
                <a:latin typeface="Arial" panose="020B0604020202020204" pitchFamily="34" charset="0"/>
                <a:ea typeface="Aptos"/>
                <a:cs typeface="Arial" panose="020B0604020202020204" pitchFamily="34" charset="0"/>
              </a:rPr>
              <a:t>14</a:t>
            </a:r>
          </a:p>
        </p:txBody>
      </p:sp>
      <p:sp>
        <p:nvSpPr>
          <p:cNvPr id="2" name="Rectángulo 1">
            <a:extLst>
              <a:ext uri="{FF2B5EF4-FFF2-40B4-BE49-F238E27FC236}">
                <a16:creationId xmlns:a16="http://schemas.microsoft.com/office/drawing/2014/main" id="{2CBB920A-8921-46A1-8F86-4E85976DB098}"/>
              </a:ext>
            </a:extLst>
          </p:cNvPr>
          <p:cNvSpPr>
            <a:spLocks noGrp="1"/>
          </p:cNvSpPr>
          <p:nvPr/>
        </p:nvSpPr>
        <p:spPr>
          <a:xfrm>
            <a:off x="666750" y="495300"/>
            <a:ext cx="10382250" cy="904875"/>
          </a:xfrm>
          <a:prstGeom prst="rect">
            <a:avLst/>
          </a:prstGeom>
          <a:noFill/>
          <a:ln w="0">
            <a:noFill/>
          </a:ln>
        </p:spPr>
        <p:txBody>
          <a:bodyPr>
            <a:noAutofit/>
          </a:bodyPr>
          <a:lstStyle/>
          <a:p>
            <a:pPr algn="just">
              <a:defRPr sz="3225" b="1">
                <a:solidFill>
                  <a:srgbClr val="102B4E"/>
                </a:solidFill>
                <a:latin typeface="Aptos"/>
                <a:ea typeface="Aptos"/>
                <a:cs typeface="Aptos"/>
              </a:defRPr>
            </a:pPr>
            <a:r>
              <a:rPr sz="3225" b="1">
                <a:solidFill>
                  <a:srgbClr val="102B4E"/>
                </a:solidFill>
                <a:latin typeface="Arial" panose="020B0604020202020204" pitchFamily="34" charset="0"/>
                <a:ea typeface="Aptos"/>
                <a:cs typeface="Arial" panose="020B0604020202020204" pitchFamily="34" charset="0"/>
              </a:rPr>
              <a:t>Proceso de cierre propuesto</a:t>
            </a:r>
          </a:p>
        </p:txBody>
      </p:sp>
      <p:graphicFrame>
        <p:nvGraphicFramePr>
          <p:cNvPr id="3" name="Tabla 2">
            <a:extLst>
              <a:ext uri="{FF2B5EF4-FFF2-40B4-BE49-F238E27FC236}">
                <a16:creationId xmlns:a16="http://schemas.microsoft.com/office/drawing/2014/main" id="{4D59D35E-25F5-4C87-A90B-5E5D455076D5}"/>
              </a:ext>
            </a:extLst>
          </p:cNvPr>
          <p:cNvGraphicFramePr>
            <a:graphicFrameLocks noGrp="1"/>
          </p:cNvGraphicFramePr>
          <p:nvPr>
            <p:extLst>
              <p:ext uri="{D42A27DB-BD31-4B8C-83A1-F6EECF244321}">
                <p14:modId xmlns:p14="http://schemas.microsoft.com/office/powerpoint/2010/main" val="1296428611"/>
              </p:ext>
            </p:extLst>
          </p:nvPr>
        </p:nvGraphicFramePr>
        <p:xfrm>
          <a:off x="751839" y="1120022"/>
          <a:ext cx="10688322" cy="5080274"/>
        </p:xfrm>
        <a:graphic>
          <a:graphicData uri="http://schemas.openxmlformats.org/drawingml/2006/table">
            <a:tbl>
              <a:tblPr>
                <a:tableStyleId>{073A0DAA-6AF3-43AB-8588-CEC1D06C72B9}</a:tableStyleId>
              </a:tblPr>
              <a:tblGrid>
                <a:gridCol w="1781387">
                  <a:extLst>
                    <a:ext uri="{9D8B030D-6E8A-4147-A177-3AD203B41FA5}">
                      <a16:colId xmlns:a16="http://schemas.microsoft.com/office/drawing/2014/main" val="521249370"/>
                    </a:ext>
                  </a:extLst>
                </a:gridCol>
                <a:gridCol w="1781387">
                  <a:extLst>
                    <a:ext uri="{9D8B030D-6E8A-4147-A177-3AD203B41FA5}">
                      <a16:colId xmlns:a16="http://schemas.microsoft.com/office/drawing/2014/main" val="3964790730"/>
                    </a:ext>
                  </a:extLst>
                </a:gridCol>
                <a:gridCol w="1781387">
                  <a:extLst>
                    <a:ext uri="{9D8B030D-6E8A-4147-A177-3AD203B41FA5}">
                      <a16:colId xmlns:a16="http://schemas.microsoft.com/office/drawing/2014/main" val="3803510484"/>
                    </a:ext>
                  </a:extLst>
                </a:gridCol>
                <a:gridCol w="1781387">
                  <a:extLst>
                    <a:ext uri="{9D8B030D-6E8A-4147-A177-3AD203B41FA5}">
                      <a16:colId xmlns:a16="http://schemas.microsoft.com/office/drawing/2014/main" val="1609258028"/>
                    </a:ext>
                  </a:extLst>
                </a:gridCol>
                <a:gridCol w="1781387">
                  <a:extLst>
                    <a:ext uri="{9D8B030D-6E8A-4147-A177-3AD203B41FA5}">
                      <a16:colId xmlns:a16="http://schemas.microsoft.com/office/drawing/2014/main" val="2130079912"/>
                    </a:ext>
                  </a:extLst>
                </a:gridCol>
                <a:gridCol w="1781387">
                  <a:extLst>
                    <a:ext uri="{9D8B030D-6E8A-4147-A177-3AD203B41FA5}">
                      <a16:colId xmlns:a16="http://schemas.microsoft.com/office/drawing/2014/main" val="2956152221"/>
                    </a:ext>
                  </a:extLst>
                </a:gridCol>
              </a:tblGrid>
              <a:tr h="178929">
                <a:tc>
                  <a:txBody>
                    <a:bodyPr/>
                    <a:lstStyle/>
                    <a:p>
                      <a:pPr algn="l"/>
                      <a:r>
                        <a:rPr lang="es-ES" sz="1200"/>
                        <a:t>Etapa</a:t>
                      </a:r>
                    </a:p>
                  </a:txBody>
                  <a:tcPr marL="1833" marR="1833" marT="1833" marB="1833" anchor="ctr"/>
                </a:tc>
                <a:tc>
                  <a:txBody>
                    <a:bodyPr/>
                    <a:lstStyle/>
                    <a:p>
                      <a:pPr algn="l"/>
                      <a:r>
                        <a:rPr lang="es-ES" sz="1200"/>
                        <a:t>Actividad principal</a:t>
                      </a:r>
                    </a:p>
                  </a:txBody>
                  <a:tcPr marL="1833" marR="1833" marT="1833" marB="1833" anchor="ctr"/>
                </a:tc>
                <a:tc>
                  <a:txBody>
                    <a:bodyPr/>
                    <a:lstStyle/>
                    <a:p>
                      <a:pPr algn="l"/>
                      <a:r>
                        <a:rPr lang="es-ES" sz="1200"/>
                        <a:t>Panadería</a:t>
                      </a:r>
                    </a:p>
                  </a:txBody>
                  <a:tcPr marL="1833" marR="1833" marT="1833" marB="1833" anchor="ctr"/>
                </a:tc>
                <a:tc>
                  <a:txBody>
                    <a:bodyPr/>
                    <a:lstStyle/>
                    <a:p>
                      <a:pPr algn="l"/>
                      <a:r>
                        <a:rPr lang="es-ES" sz="1200"/>
                        <a:t>Fábrica</a:t>
                      </a:r>
                    </a:p>
                  </a:txBody>
                  <a:tcPr marL="1833" marR="1833" marT="1833" marB="1833" anchor="ctr"/>
                </a:tc>
                <a:tc>
                  <a:txBody>
                    <a:bodyPr/>
                    <a:lstStyle/>
                    <a:p>
                      <a:pPr algn="l"/>
                      <a:r>
                        <a:rPr lang="es-ES" sz="1200"/>
                        <a:t>Banco Bansiso</a:t>
                      </a:r>
                    </a:p>
                  </a:txBody>
                  <a:tcPr marL="1833" marR="1833" marT="1833" marB="1833" anchor="ctr"/>
                </a:tc>
                <a:tc>
                  <a:txBody>
                    <a:bodyPr/>
                    <a:lstStyle/>
                    <a:p>
                      <a:pPr algn="l"/>
                      <a:r>
                        <a:rPr lang="es-ES" sz="1200"/>
                        <a:t>Producto final</a:t>
                      </a:r>
                    </a:p>
                  </a:txBody>
                  <a:tcPr marL="1833" marR="1833" marT="1833" marB="1833" anchor="ctr"/>
                </a:tc>
                <a:extLst>
                  <a:ext uri="{0D108BD9-81ED-4DB2-BD59-A6C34878D82A}">
                    <a16:rowId xmlns:a16="http://schemas.microsoft.com/office/drawing/2014/main" val="3334404301"/>
                  </a:ext>
                </a:extLst>
              </a:tr>
              <a:tr h="879329">
                <a:tc>
                  <a:txBody>
                    <a:bodyPr/>
                    <a:lstStyle/>
                    <a:p>
                      <a:pPr algn="l"/>
                      <a:r>
                        <a:rPr lang="es-ES" sz="1200"/>
                        <a:t>1. Verificación</a:t>
                      </a:r>
                    </a:p>
                  </a:txBody>
                  <a:tcPr marL="1833" marR="1833" marT="1833" marB="1833" anchor="ctr"/>
                </a:tc>
                <a:tc>
                  <a:txBody>
                    <a:bodyPr/>
                    <a:lstStyle/>
                    <a:p>
                      <a:pPr algn="l"/>
                      <a:r>
                        <a:rPr lang="es-ES" sz="1200"/>
                        <a:t>Contrastar alcance y requisitos</a:t>
                      </a:r>
                    </a:p>
                  </a:txBody>
                  <a:tcPr marL="1833" marR="1833" marT="1833" marB="1833" anchor="ctr"/>
                </a:tc>
                <a:tc>
                  <a:txBody>
                    <a:bodyPr/>
                    <a:lstStyle/>
                    <a:p>
                      <a:pPr algn="l"/>
                      <a:r>
                        <a:rPr lang="es-MX" sz="1200" dirty="0"/>
                        <a:t>Revisar las actividades</a:t>
                      </a:r>
                    </a:p>
                  </a:txBody>
                  <a:tcPr marL="1833" marR="1833" marT="1833" marB="1833" anchor="ctr"/>
                </a:tc>
                <a:tc>
                  <a:txBody>
                    <a:bodyPr/>
                    <a:lstStyle/>
                    <a:p>
                      <a:pPr algn="l"/>
                      <a:r>
                        <a:rPr lang="es-MX" sz="1200"/>
                        <a:t>Comprobar que el modelo BPMN cubre retiros y consultas de saldo; verificar avance del 45 %</a:t>
                      </a:r>
                    </a:p>
                  </a:txBody>
                  <a:tcPr marL="1833" marR="1833" marT="1833" marB="1833" anchor="ctr"/>
                </a:tc>
                <a:tc>
                  <a:txBody>
                    <a:bodyPr/>
                    <a:lstStyle/>
                    <a:p>
                      <a:pPr algn="l"/>
                      <a:r>
                        <a:rPr lang="es-MX" sz="1200"/>
                        <a:t>Validar que los 7 escenarios de atención en ventanillas coincidan con lo planificado en Jira</a:t>
                      </a:r>
                    </a:p>
                  </a:txBody>
                  <a:tcPr marL="1833" marR="1833" marT="1833" marB="1833" anchor="ctr"/>
                </a:tc>
                <a:tc>
                  <a:txBody>
                    <a:bodyPr/>
                    <a:lstStyle/>
                    <a:p>
                      <a:pPr algn="l"/>
                      <a:r>
                        <a:rPr lang="es-MX" sz="1200"/>
                        <a:t>Lista de cumplimiento por proyecto</a:t>
                      </a:r>
                    </a:p>
                  </a:txBody>
                  <a:tcPr marL="1833" marR="1833" marT="1833" marB="1833" anchor="ctr"/>
                </a:tc>
                <a:extLst>
                  <a:ext uri="{0D108BD9-81ED-4DB2-BD59-A6C34878D82A}">
                    <a16:rowId xmlns:a16="http://schemas.microsoft.com/office/drawing/2014/main" val="1677618717"/>
                  </a:ext>
                </a:extLst>
              </a:tr>
              <a:tr h="704229">
                <a:tc>
                  <a:txBody>
                    <a:bodyPr/>
                    <a:lstStyle/>
                    <a:p>
                      <a:pPr algn="l"/>
                      <a:r>
                        <a:rPr lang="es-ES" sz="1200"/>
                        <a:t>2. Pruebas</a:t>
                      </a:r>
                    </a:p>
                  </a:txBody>
                  <a:tcPr marL="1833" marR="1833" marT="1833" marB="1833" anchor="ctr"/>
                </a:tc>
                <a:tc>
                  <a:txBody>
                    <a:bodyPr/>
                    <a:lstStyle/>
                    <a:p>
                      <a:pPr algn="l"/>
                      <a:r>
                        <a:rPr lang="es-ES" sz="1200"/>
                        <a:t>Validar el funcionamiento</a:t>
                      </a:r>
                    </a:p>
                  </a:txBody>
                  <a:tcPr marL="1833" marR="1833" marT="1833" marB="1833" anchor="ctr"/>
                </a:tc>
                <a:tc>
                  <a:txBody>
                    <a:bodyPr/>
                    <a:lstStyle/>
                    <a:p>
                      <a:pPr algn="l"/>
                      <a:r>
                        <a:rPr lang="es-MX" sz="1200"/>
                        <a:t>Ejecutar simulación de producción, inventario y ventas; verificar tiempos ajustados</a:t>
                      </a:r>
                    </a:p>
                  </a:txBody>
                  <a:tcPr marL="1833" marR="1833" marT="1833" marB="1833" anchor="ctr"/>
                </a:tc>
                <a:tc>
                  <a:txBody>
                    <a:bodyPr/>
                    <a:lstStyle/>
                    <a:p>
                      <a:pPr algn="l"/>
                      <a:r>
                        <a:rPr lang="es-MX" sz="1200"/>
                        <a:t>Probar el modelo en Draw.io, Camunda y Bizagi; confirmar compatibilidad entre herramientas</a:t>
                      </a:r>
                    </a:p>
                  </a:txBody>
                  <a:tcPr marL="1833" marR="1833" marT="1833" marB="1833" anchor="ctr"/>
                </a:tc>
                <a:tc>
                  <a:txBody>
                    <a:bodyPr/>
                    <a:lstStyle/>
                    <a:p>
                      <a:pPr algn="l"/>
                      <a:r>
                        <a:rPr lang="es-MX" sz="1200"/>
                        <a:t>Simular filas y atención con diferentes volúmenes de clientes</a:t>
                      </a:r>
                    </a:p>
                  </a:txBody>
                  <a:tcPr marL="1833" marR="1833" marT="1833" marB="1833" anchor="ctr"/>
                </a:tc>
                <a:tc>
                  <a:txBody>
                    <a:bodyPr/>
                    <a:lstStyle/>
                    <a:p>
                      <a:pPr algn="l"/>
                      <a:r>
                        <a:rPr lang="es-ES" sz="1200"/>
                        <a:t>Reporte de resultados + capturas de pruebas</a:t>
                      </a:r>
                    </a:p>
                  </a:txBody>
                  <a:tcPr marL="1833" marR="1833" marT="1833" marB="1833" anchor="ctr"/>
                </a:tc>
                <a:extLst>
                  <a:ext uri="{0D108BD9-81ED-4DB2-BD59-A6C34878D82A}">
                    <a16:rowId xmlns:a16="http://schemas.microsoft.com/office/drawing/2014/main" val="953640076"/>
                  </a:ext>
                </a:extLst>
              </a:tr>
              <a:tr h="704229">
                <a:tc>
                  <a:txBody>
                    <a:bodyPr/>
                    <a:lstStyle/>
                    <a:p>
                      <a:pPr algn="l"/>
                      <a:r>
                        <a:rPr lang="es-ES" sz="1200"/>
                        <a:t>3. Evaluación</a:t>
                      </a:r>
                    </a:p>
                  </a:txBody>
                  <a:tcPr marL="1833" marR="1833" marT="1833" marB="1833" anchor="ctr"/>
                </a:tc>
                <a:tc>
                  <a:txBody>
                    <a:bodyPr/>
                    <a:lstStyle/>
                    <a:p>
                      <a:pPr algn="l"/>
                      <a:r>
                        <a:rPr lang="es-MX" sz="1200"/>
                        <a:t>Revisar alcance, tiempo y calidad</a:t>
                      </a:r>
                    </a:p>
                  </a:txBody>
                  <a:tcPr marL="1833" marR="1833" marT="1833" marB="1833" anchor="ctr"/>
                </a:tc>
                <a:tc>
                  <a:txBody>
                    <a:bodyPr/>
                    <a:lstStyle/>
                    <a:p>
                      <a:pPr algn="l"/>
                      <a:r>
                        <a:rPr lang="es-MX" sz="1200"/>
                        <a:t>Comparar cronograma inicial vs real; revisar si se cumplieron los plazos modificados</a:t>
                      </a:r>
                    </a:p>
                  </a:txBody>
                  <a:tcPr marL="1833" marR="1833" marT="1833" marB="1833" anchor="ctr"/>
                </a:tc>
                <a:tc>
                  <a:txBody>
                    <a:bodyPr/>
                    <a:lstStyle/>
                    <a:p>
                      <a:pPr algn="l"/>
                      <a:r>
                        <a:rPr lang="es-MX" sz="1200" dirty="0"/>
                        <a:t>Verificar si se mantiene la fecha meta.</a:t>
                      </a:r>
                    </a:p>
                  </a:txBody>
                  <a:tcPr marL="1833" marR="1833" marT="1833" marB="1833" anchor="ctr"/>
                </a:tc>
                <a:tc>
                  <a:txBody>
                    <a:bodyPr/>
                    <a:lstStyle/>
                    <a:p>
                      <a:pPr algn="l"/>
                      <a:r>
                        <a:rPr lang="es-MX" sz="1200"/>
                        <a:t>Contrastar resultados de simulación con requisitos de cada escenario</a:t>
                      </a:r>
                    </a:p>
                  </a:txBody>
                  <a:tcPr marL="1833" marR="1833" marT="1833" marB="1833" anchor="ctr"/>
                </a:tc>
                <a:tc>
                  <a:txBody>
                    <a:bodyPr/>
                    <a:lstStyle/>
                    <a:p>
                      <a:pPr algn="l"/>
                      <a:r>
                        <a:rPr lang="es-ES" sz="1200"/>
                        <a:t>Informe de evaluación individual</a:t>
                      </a:r>
                    </a:p>
                  </a:txBody>
                  <a:tcPr marL="1833" marR="1833" marT="1833" marB="1833" anchor="ctr"/>
                </a:tc>
                <a:extLst>
                  <a:ext uri="{0D108BD9-81ED-4DB2-BD59-A6C34878D82A}">
                    <a16:rowId xmlns:a16="http://schemas.microsoft.com/office/drawing/2014/main" val="2181717609"/>
                  </a:ext>
                </a:extLst>
              </a:tr>
              <a:tr h="704229">
                <a:tc>
                  <a:txBody>
                    <a:bodyPr/>
                    <a:lstStyle/>
                    <a:p>
                      <a:pPr algn="l"/>
                      <a:r>
                        <a:rPr lang="es-ES" sz="1200"/>
                        <a:t>4. Aprendizajes</a:t>
                      </a:r>
                    </a:p>
                  </a:txBody>
                  <a:tcPr marL="1833" marR="1833" marT="1833" marB="1833" anchor="ctr"/>
                </a:tc>
                <a:tc>
                  <a:txBody>
                    <a:bodyPr/>
                    <a:lstStyle/>
                    <a:p>
                      <a:pPr algn="l"/>
                      <a:r>
                        <a:rPr lang="es-ES" sz="1200"/>
                        <a:t>Analizar incidencias y recomendaciones</a:t>
                      </a:r>
                    </a:p>
                  </a:txBody>
                  <a:tcPr marL="1833" marR="1833" marT="1833" marB="1833" anchor="ctr"/>
                </a:tc>
                <a:tc>
                  <a:txBody>
                    <a:bodyPr/>
                    <a:lstStyle/>
                    <a:p>
                      <a:pPr algn="l"/>
                      <a:r>
                        <a:rPr lang="es-MX" sz="1200"/>
                        <a:t>Los cambios de duración afectan tareas dependientes → revisar impacto antes de modificar</a:t>
                      </a:r>
                    </a:p>
                  </a:txBody>
                  <a:tcPr marL="1833" marR="1833" marT="1833" marB="1833" anchor="ctr"/>
                </a:tc>
                <a:tc>
                  <a:txBody>
                    <a:bodyPr/>
                    <a:lstStyle/>
                    <a:p>
                      <a:pPr algn="l"/>
                      <a:r>
                        <a:rPr lang="es-MX" sz="1200"/>
                        <a:t>La compatibilidad entre herramientas requiere prueba desde el inicio → validar importaciones</a:t>
                      </a:r>
                    </a:p>
                  </a:txBody>
                  <a:tcPr marL="1833" marR="1833" marT="1833" marB="1833" anchor="ctr"/>
                </a:tc>
                <a:tc>
                  <a:txBody>
                    <a:bodyPr/>
                    <a:lstStyle/>
                    <a:p>
                      <a:pPr algn="l"/>
                      <a:r>
                        <a:rPr lang="es-MX" sz="1200"/>
                        <a:t>La planificación no basta sin resultados reales → ejecutar pruebas cuanto antes</a:t>
                      </a:r>
                    </a:p>
                  </a:txBody>
                  <a:tcPr marL="1833" marR="1833" marT="1833" marB="1833" anchor="ctr"/>
                </a:tc>
                <a:tc>
                  <a:txBody>
                    <a:bodyPr/>
                    <a:lstStyle/>
                    <a:p>
                      <a:pPr algn="l"/>
                      <a:r>
                        <a:rPr lang="es-ES" sz="1200"/>
                        <a:t>Registro de lecciones aprendidas</a:t>
                      </a:r>
                    </a:p>
                  </a:txBody>
                  <a:tcPr marL="1833" marR="1833" marT="1833" marB="1833" anchor="ctr"/>
                </a:tc>
                <a:extLst>
                  <a:ext uri="{0D108BD9-81ED-4DB2-BD59-A6C34878D82A}">
                    <a16:rowId xmlns:a16="http://schemas.microsoft.com/office/drawing/2014/main" val="2451100577"/>
                  </a:ext>
                </a:extLst>
              </a:tr>
              <a:tr h="704229">
                <a:tc>
                  <a:txBody>
                    <a:bodyPr/>
                    <a:lstStyle/>
                    <a:p>
                      <a:pPr algn="l"/>
                      <a:r>
                        <a:rPr lang="es-ES" sz="1200"/>
                        <a:t>5. Documentación</a:t>
                      </a:r>
                    </a:p>
                  </a:txBody>
                  <a:tcPr marL="1833" marR="1833" marT="1833" marB="1833" anchor="ctr"/>
                </a:tc>
                <a:tc>
                  <a:txBody>
                    <a:bodyPr/>
                    <a:lstStyle/>
                    <a:p>
                      <a:pPr algn="l"/>
                      <a:r>
                        <a:rPr lang="es-ES" sz="1200"/>
                        <a:t>Integrar la información final</a:t>
                      </a:r>
                    </a:p>
                  </a:txBody>
                  <a:tcPr marL="1833" marR="1833" marT="1833" marB="1833" anchor="ctr"/>
                </a:tc>
                <a:tc>
                  <a:txBody>
                    <a:bodyPr/>
                    <a:lstStyle/>
                    <a:p>
                      <a:pPr algn="l"/>
                      <a:r>
                        <a:rPr lang="es-MX" sz="1200"/>
                        <a:t>Reunir cronograma, Jira, cambio registrado y capturas de simulación</a:t>
                      </a:r>
                    </a:p>
                  </a:txBody>
                  <a:tcPr marL="1833" marR="1833" marT="1833" marB="1833" anchor="ctr"/>
                </a:tc>
                <a:tc>
                  <a:txBody>
                    <a:bodyPr/>
                    <a:lstStyle/>
                    <a:p>
                      <a:pPr algn="l"/>
                      <a:r>
                        <a:rPr lang="es-MX" sz="1200" dirty="0"/>
                        <a:t>Compilar seguimiento archivos del modelo y avance actualizado</a:t>
                      </a:r>
                    </a:p>
                  </a:txBody>
                  <a:tcPr marL="1833" marR="1833" marT="1833" marB="1833" anchor="ctr"/>
                </a:tc>
                <a:tc>
                  <a:txBody>
                    <a:bodyPr/>
                    <a:lstStyle/>
                    <a:p>
                      <a:pPr algn="l"/>
                      <a:r>
                        <a:rPr lang="es-MX" sz="1200"/>
                        <a:t>Agrupar planificación, historias de usuario y resultados de simulación</a:t>
                      </a:r>
                    </a:p>
                  </a:txBody>
                  <a:tcPr marL="1833" marR="1833" marT="1833" marB="1833" anchor="ctr"/>
                </a:tc>
                <a:tc>
                  <a:txBody>
                    <a:bodyPr/>
                    <a:lstStyle/>
                    <a:p>
                      <a:pPr algn="l"/>
                      <a:r>
                        <a:rPr lang="es-MX" sz="1200"/>
                        <a:t>Expediente completo de cada proyecto</a:t>
                      </a:r>
                    </a:p>
                  </a:txBody>
                  <a:tcPr marL="1833" marR="1833" marT="1833" marB="1833" anchor="ctr"/>
                </a:tc>
                <a:extLst>
                  <a:ext uri="{0D108BD9-81ED-4DB2-BD59-A6C34878D82A}">
                    <a16:rowId xmlns:a16="http://schemas.microsoft.com/office/drawing/2014/main" val="1758753915"/>
                  </a:ext>
                </a:extLst>
              </a:tr>
              <a:tr h="529129">
                <a:tc>
                  <a:txBody>
                    <a:bodyPr/>
                    <a:lstStyle/>
                    <a:p>
                      <a:pPr algn="l"/>
                      <a:r>
                        <a:rPr lang="es-ES" sz="1200"/>
                        <a:t>6. Entrega</a:t>
                      </a:r>
                    </a:p>
                  </a:txBody>
                  <a:tcPr marL="1833" marR="1833" marT="1833" marB="1833" anchor="ctr"/>
                </a:tc>
                <a:tc>
                  <a:txBody>
                    <a:bodyPr/>
                    <a:lstStyle/>
                    <a:p>
                      <a:pPr algn="l"/>
                      <a:r>
                        <a:rPr lang="es-ES" sz="1200"/>
                        <a:t>Presentar productos y resultados</a:t>
                      </a:r>
                    </a:p>
                  </a:txBody>
                  <a:tcPr marL="1833" marR="1833" marT="1833" marB="1833" anchor="ctr"/>
                </a:tc>
                <a:tc>
                  <a:txBody>
                    <a:bodyPr/>
                    <a:lstStyle/>
                    <a:p>
                      <a:pPr algn="l"/>
                      <a:r>
                        <a:rPr lang="es-ES" sz="1200"/>
                        <a:t>Mostrar simulación funcionando + evidencia de tareas completadas</a:t>
                      </a:r>
                    </a:p>
                  </a:txBody>
                  <a:tcPr marL="1833" marR="1833" marT="1833" marB="1833" anchor="ctr"/>
                </a:tc>
                <a:tc>
                  <a:txBody>
                    <a:bodyPr/>
                    <a:lstStyle/>
                    <a:p>
                      <a:pPr algn="l"/>
                      <a:r>
                        <a:rPr lang="es-MX" sz="1200"/>
                        <a:t>Exponer modelo BPMN final y pruebas de compatibilidad</a:t>
                      </a:r>
                    </a:p>
                  </a:txBody>
                  <a:tcPr marL="1833" marR="1833" marT="1833" marB="1833" anchor="ctr"/>
                </a:tc>
                <a:tc>
                  <a:txBody>
                    <a:bodyPr/>
                    <a:lstStyle/>
                    <a:p>
                      <a:pPr algn="l"/>
                      <a:r>
                        <a:rPr lang="es-MX" sz="1200"/>
                        <a:t>Entregar análisis de escenarios y conclusiones del comportamiento</a:t>
                      </a:r>
                    </a:p>
                  </a:txBody>
                  <a:tcPr marL="1833" marR="1833" marT="1833" marB="1833" anchor="ctr"/>
                </a:tc>
                <a:tc>
                  <a:txBody>
                    <a:bodyPr/>
                    <a:lstStyle/>
                    <a:p>
                      <a:pPr algn="l"/>
                      <a:r>
                        <a:rPr lang="es-ES" sz="1200"/>
                        <a:t>Registro de entrega firmado</a:t>
                      </a:r>
                    </a:p>
                  </a:txBody>
                  <a:tcPr marL="1833" marR="1833" marT="1833" marB="1833" anchor="ctr"/>
                </a:tc>
                <a:extLst>
                  <a:ext uri="{0D108BD9-81ED-4DB2-BD59-A6C34878D82A}">
                    <a16:rowId xmlns:a16="http://schemas.microsoft.com/office/drawing/2014/main" val="1632057394"/>
                  </a:ext>
                </a:extLst>
              </a:tr>
              <a:tr h="529129">
                <a:tc>
                  <a:txBody>
                    <a:bodyPr/>
                    <a:lstStyle/>
                    <a:p>
                      <a:pPr algn="l"/>
                      <a:r>
                        <a:rPr lang="es-ES" sz="1200"/>
                        <a:t>7. Cierre formal</a:t>
                      </a:r>
                    </a:p>
                  </a:txBody>
                  <a:tcPr marL="1833" marR="1833" marT="1833" marB="1833" anchor="ctr"/>
                </a:tc>
                <a:tc>
                  <a:txBody>
                    <a:bodyPr/>
                    <a:lstStyle/>
                    <a:p>
                      <a:pPr algn="l"/>
                      <a:r>
                        <a:rPr lang="es-ES" sz="1200"/>
                        <a:t>Confirmar aceptación y archivar</a:t>
                      </a:r>
                    </a:p>
                  </a:txBody>
                  <a:tcPr marL="1833" marR="1833" marT="1833" marB="1833" anchor="ctr"/>
                </a:tc>
                <a:tc>
                  <a:txBody>
                    <a:bodyPr/>
                    <a:lstStyle/>
                    <a:p>
                      <a:pPr algn="l"/>
                      <a:r>
                        <a:rPr lang="es-MX" sz="1200"/>
                        <a:t>Validar que todo está completo y archivar expediente</a:t>
                      </a:r>
                    </a:p>
                  </a:txBody>
                  <a:tcPr marL="1833" marR="1833" marT="1833" marB="1833" anchor="ctr"/>
                </a:tc>
                <a:tc>
                  <a:txBody>
                    <a:bodyPr/>
                    <a:lstStyle/>
                    <a:p>
                      <a:pPr algn="l"/>
                      <a:r>
                        <a:rPr lang="es-MX" sz="1200"/>
                        <a:t>Confirmar fecha de cierre y avance definitivo</a:t>
                      </a:r>
                    </a:p>
                  </a:txBody>
                  <a:tcPr marL="1833" marR="1833" marT="1833" marB="1833" anchor="ctr"/>
                </a:tc>
                <a:tc>
                  <a:txBody>
                    <a:bodyPr/>
                    <a:lstStyle/>
                    <a:p>
                      <a:pPr algn="l"/>
                      <a:r>
                        <a:rPr lang="es-MX" sz="1200"/>
                        <a:t>Recibir conformidad tras revisión de resultados</a:t>
                      </a:r>
                    </a:p>
                  </a:txBody>
                  <a:tcPr marL="1833" marR="1833" marT="1833" marB="1833" anchor="ctr"/>
                </a:tc>
                <a:tc>
                  <a:txBody>
                    <a:bodyPr/>
                    <a:lstStyle/>
                    <a:p>
                      <a:pPr algn="l"/>
                      <a:r>
                        <a:rPr lang="es-MX" sz="1200" dirty="0"/>
                        <a:t>Acta de cierre por proyecto</a:t>
                      </a:r>
                    </a:p>
                  </a:txBody>
                  <a:tcPr marL="1833" marR="1833" marT="1833" marB="1833" anchor="ctr"/>
                </a:tc>
                <a:extLst>
                  <a:ext uri="{0D108BD9-81ED-4DB2-BD59-A6C34878D82A}">
                    <a16:rowId xmlns:a16="http://schemas.microsoft.com/office/drawing/2014/main" val="1652793842"/>
                  </a:ext>
                </a:extLst>
              </a:tr>
            </a:tbl>
          </a:graphicData>
        </a:graphic>
      </p:graphicFrame>
    </p:spTree>
    <p:extLst>
      <p:ext uri="{BB962C8B-B14F-4D97-AF65-F5344CB8AC3E}">
        <p14:creationId xmlns:p14="http://schemas.microsoft.com/office/powerpoint/2010/main" val="5208100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AFCFD"/>
        </a:solidFill>
        <a:effectLst/>
      </p:bgPr>
    </p:bg>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B1CF5741-2EAF-4F4B-9EC5-D78DBA40DC4F}"/>
              </a:ext>
            </a:extLst>
          </p:cNvPr>
          <p:cNvSpPr>
            <a:spLocks noGrp="1"/>
          </p:cNvSpPr>
          <p:nvPr/>
        </p:nvSpPr>
        <p:spPr>
          <a:xfrm>
            <a:off x="11049000" y="6238875"/>
            <a:ext cx="571500" cy="285750"/>
          </a:xfrm>
          <a:prstGeom prst="rect">
            <a:avLst/>
          </a:prstGeom>
          <a:noFill/>
          <a:ln w="0">
            <a:noFill/>
          </a:ln>
        </p:spPr>
        <p:txBody>
          <a:bodyPr>
            <a:noAutofit/>
          </a:bodyPr>
          <a:lstStyle/>
          <a:p>
            <a:pPr algn="just">
              <a:defRPr sz="1350" b="0">
                <a:solidFill>
                  <a:srgbClr val="136A91"/>
                </a:solidFill>
                <a:latin typeface="Aptos"/>
                <a:ea typeface="Aptos"/>
                <a:cs typeface="Aptos"/>
              </a:defRPr>
            </a:pPr>
            <a:r>
              <a:rPr sz="1350" b="0">
                <a:solidFill>
                  <a:srgbClr val="136A91"/>
                </a:solidFill>
                <a:latin typeface="Arial" panose="020B0604020202020204" pitchFamily="34" charset="0"/>
                <a:ea typeface="Aptos"/>
                <a:cs typeface="Arial" panose="020B0604020202020204" pitchFamily="34" charset="0"/>
              </a:rPr>
              <a:t>15</a:t>
            </a:r>
          </a:p>
        </p:txBody>
      </p:sp>
      <p:sp>
        <p:nvSpPr>
          <p:cNvPr id="2" name="Rectángulo 1">
            <a:extLst>
              <a:ext uri="{FF2B5EF4-FFF2-40B4-BE49-F238E27FC236}">
                <a16:creationId xmlns:a16="http://schemas.microsoft.com/office/drawing/2014/main" id="{9D84FAAB-D0F2-43B3-8ECE-D34B899BA9C4}"/>
              </a:ext>
            </a:extLst>
          </p:cNvPr>
          <p:cNvSpPr>
            <a:spLocks noGrp="1"/>
          </p:cNvSpPr>
          <p:nvPr/>
        </p:nvSpPr>
        <p:spPr>
          <a:xfrm>
            <a:off x="666750" y="495300"/>
            <a:ext cx="10382250" cy="904875"/>
          </a:xfrm>
          <a:prstGeom prst="rect">
            <a:avLst/>
          </a:prstGeom>
          <a:noFill/>
          <a:ln w="0">
            <a:noFill/>
          </a:ln>
        </p:spPr>
        <p:txBody>
          <a:bodyPr>
            <a:noAutofit/>
          </a:bodyPr>
          <a:lstStyle/>
          <a:p>
            <a:pPr algn="just">
              <a:defRPr sz="3225" b="1">
                <a:solidFill>
                  <a:srgbClr val="102B4E"/>
                </a:solidFill>
                <a:latin typeface="Aptos"/>
                <a:ea typeface="Aptos"/>
                <a:cs typeface="Aptos"/>
              </a:defRPr>
            </a:pPr>
            <a:r>
              <a:rPr sz="3225" b="1">
                <a:solidFill>
                  <a:srgbClr val="102B4E"/>
                </a:solidFill>
                <a:latin typeface="Arial" panose="020B0604020202020204" pitchFamily="34" charset="0"/>
                <a:ea typeface="Aptos"/>
                <a:cs typeface="Arial" panose="020B0604020202020204" pitchFamily="34" charset="0"/>
              </a:rPr>
              <a:t>Situación de los proyectos</a:t>
            </a:r>
          </a:p>
        </p:txBody>
      </p:sp>
      <p:graphicFrame>
        <p:nvGraphicFramePr>
          <p:cNvPr id="3" name="Tabla 2">
            <a:extLst>
              <a:ext uri="{FF2B5EF4-FFF2-40B4-BE49-F238E27FC236}">
                <a16:creationId xmlns:a16="http://schemas.microsoft.com/office/drawing/2014/main" id="{94F01365-2D87-4932-B7B7-1F9A45B61B0D}"/>
              </a:ext>
            </a:extLst>
          </p:cNvPr>
          <p:cNvGraphicFramePr>
            <a:graphicFrameLocks noGrp="1"/>
          </p:cNvGraphicFramePr>
          <p:nvPr>
            <p:extLst>
              <p:ext uri="{D42A27DB-BD31-4B8C-83A1-F6EECF244321}">
                <p14:modId xmlns:p14="http://schemas.microsoft.com/office/powerpoint/2010/main" val="588954597"/>
              </p:ext>
            </p:extLst>
          </p:nvPr>
        </p:nvGraphicFramePr>
        <p:xfrm>
          <a:off x="833120" y="1253331"/>
          <a:ext cx="9692640" cy="4351338"/>
        </p:xfrm>
        <a:graphic>
          <a:graphicData uri="http://schemas.openxmlformats.org/drawingml/2006/table">
            <a:tbl>
              <a:tblPr>
                <a:tableStyleId>{073A0DAA-6AF3-43AB-8588-CEC1D06C72B9}</a:tableStyleId>
              </a:tblPr>
              <a:tblGrid>
                <a:gridCol w="3230880">
                  <a:extLst>
                    <a:ext uri="{9D8B030D-6E8A-4147-A177-3AD203B41FA5}">
                      <a16:colId xmlns:a16="http://schemas.microsoft.com/office/drawing/2014/main" val="195970525"/>
                    </a:ext>
                  </a:extLst>
                </a:gridCol>
                <a:gridCol w="3230880">
                  <a:extLst>
                    <a:ext uri="{9D8B030D-6E8A-4147-A177-3AD203B41FA5}">
                      <a16:colId xmlns:a16="http://schemas.microsoft.com/office/drawing/2014/main" val="2303723813"/>
                    </a:ext>
                  </a:extLst>
                </a:gridCol>
                <a:gridCol w="3230880">
                  <a:extLst>
                    <a:ext uri="{9D8B030D-6E8A-4147-A177-3AD203B41FA5}">
                      <a16:colId xmlns:a16="http://schemas.microsoft.com/office/drawing/2014/main" val="2120840643"/>
                    </a:ext>
                  </a:extLst>
                </a:gridCol>
              </a:tblGrid>
              <a:tr h="660880">
                <a:tc>
                  <a:txBody>
                    <a:bodyPr/>
                    <a:lstStyle/>
                    <a:p>
                      <a:pPr algn="l"/>
                      <a:r>
                        <a:rPr lang="es-ES"/>
                        <a:t>Proyecto</a:t>
                      </a:r>
                    </a:p>
                  </a:txBody>
                  <a:tcPr marL="6543" marR="6543" marT="6543" marB="6543" anchor="ctr"/>
                </a:tc>
                <a:tc>
                  <a:txBody>
                    <a:bodyPr/>
                    <a:lstStyle/>
                    <a:p>
                      <a:pPr algn="l"/>
                      <a:r>
                        <a:rPr lang="es-ES"/>
                        <a:t>Evidencia disponible</a:t>
                      </a:r>
                    </a:p>
                  </a:txBody>
                  <a:tcPr marL="6543" marR="6543" marT="6543" marB="6543" anchor="ctr"/>
                </a:tc>
                <a:tc>
                  <a:txBody>
                    <a:bodyPr/>
                    <a:lstStyle/>
                    <a:p>
                      <a:pPr algn="l"/>
                      <a:r>
                        <a:rPr lang="es-ES"/>
                        <a:t>Requisitos para el cierre</a:t>
                      </a:r>
                    </a:p>
                  </a:txBody>
                  <a:tcPr marL="6543" marR="6543" marT="6543" marB="6543" anchor="ctr"/>
                </a:tc>
                <a:extLst>
                  <a:ext uri="{0D108BD9-81ED-4DB2-BD59-A6C34878D82A}">
                    <a16:rowId xmlns:a16="http://schemas.microsoft.com/office/drawing/2014/main" val="4053125107"/>
                  </a:ext>
                </a:extLst>
              </a:tr>
              <a:tr h="1367563">
                <a:tc>
                  <a:txBody>
                    <a:bodyPr/>
                    <a:lstStyle/>
                    <a:p>
                      <a:pPr algn="l"/>
                      <a:r>
                        <a:rPr lang="es-ES"/>
                        <a:t>Panadería</a:t>
                      </a:r>
                    </a:p>
                  </a:txBody>
                  <a:tcPr marL="6543" marR="6543" marT="6543" marB="6543" anchor="ctr"/>
                </a:tc>
                <a:tc>
                  <a:txBody>
                    <a:bodyPr/>
                    <a:lstStyle/>
                    <a:p>
                      <a:pPr algn="l"/>
                      <a:r>
                        <a:rPr lang="es-MX"/>
                        <a:t>Planificación, cronograma, Jira y cambio registrado</a:t>
                      </a:r>
                    </a:p>
                  </a:txBody>
                  <a:tcPr marL="6543" marR="6543" marT="6543" marB="6543" anchor="ctr"/>
                </a:tc>
                <a:tc>
                  <a:txBody>
                    <a:bodyPr/>
                    <a:lstStyle/>
                    <a:p>
                      <a:pPr algn="l"/>
                      <a:r>
                        <a:rPr lang="es-MX"/>
                        <a:t>Completar pruebas y validar resultados</a:t>
                      </a:r>
                    </a:p>
                  </a:txBody>
                  <a:tcPr marL="6543" marR="6543" marT="6543" marB="6543" anchor="ctr"/>
                </a:tc>
                <a:extLst>
                  <a:ext uri="{0D108BD9-81ED-4DB2-BD59-A6C34878D82A}">
                    <a16:rowId xmlns:a16="http://schemas.microsoft.com/office/drawing/2014/main" val="3939437023"/>
                  </a:ext>
                </a:extLst>
              </a:tr>
              <a:tr h="1132002">
                <a:tc>
                  <a:txBody>
                    <a:bodyPr/>
                    <a:lstStyle/>
                    <a:p>
                      <a:pPr algn="l"/>
                      <a:r>
                        <a:rPr lang="es-ES"/>
                        <a:t>Fábrica</a:t>
                      </a:r>
                    </a:p>
                  </a:txBody>
                  <a:tcPr marL="6543" marR="6543" marT="6543" marB="6543" anchor="ctr"/>
                </a:tc>
                <a:tc>
                  <a:txBody>
                    <a:bodyPr/>
                    <a:lstStyle/>
                    <a:p>
                      <a:pPr algn="l"/>
                      <a:r>
                        <a:rPr lang="es-MX" dirty="0"/>
                        <a:t>Planificación y seguimiento del 18/09/2026</a:t>
                      </a:r>
                    </a:p>
                  </a:txBody>
                  <a:tcPr marL="6543" marR="6543" marT="6543" marB="6543" anchor="ctr"/>
                </a:tc>
                <a:tc>
                  <a:txBody>
                    <a:bodyPr/>
                    <a:lstStyle/>
                    <a:p>
                      <a:pPr algn="l"/>
                      <a:r>
                        <a:rPr lang="es-MX"/>
                        <a:t>Actualizar avance, simulación y documentos</a:t>
                      </a:r>
                    </a:p>
                  </a:txBody>
                  <a:tcPr marL="6543" marR="6543" marT="6543" marB="6543" anchor="ctr"/>
                </a:tc>
                <a:extLst>
                  <a:ext uri="{0D108BD9-81ED-4DB2-BD59-A6C34878D82A}">
                    <a16:rowId xmlns:a16="http://schemas.microsoft.com/office/drawing/2014/main" val="2368941244"/>
                  </a:ext>
                </a:extLst>
              </a:tr>
              <a:tr h="1190893">
                <a:tc>
                  <a:txBody>
                    <a:bodyPr/>
                    <a:lstStyle/>
                    <a:p>
                      <a:pPr algn="l"/>
                      <a:r>
                        <a:rPr lang="es-ES" dirty="0"/>
                        <a:t>Banco </a:t>
                      </a:r>
                      <a:r>
                        <a:rPr lang="es-ES" dirty="0" err="1"/>
                        <a:t>Bansiso</a:t>
                      </a:r>
                      <a:endParaRPr lang="es-ES" dirty="0"/>
                    </a:p>
                  </a:txBody>
                  <a:tcPr marL="6543" marR="6543" marT="6543" marB="6543" anchor="ctr"/>
                </a:tc>
                <a:tc>
                  <a:txBody>
                    <a:bodyPr/>
                    <a:lstStyle/>
                    <a:p>
                      <a:pPr algn="l"/>
                      <a:r>
                        <a:rPr lang="es-MX"/>
                        <a:t>Planificación, cronograma e historias en Jira</a:t>
                      </a:r>
                    </a:p>
                  </a:txBody>
                  <a:tcPr marL="6543" marR="6543" marT="6543" marB="6543" anchor="ctr"/>
                </a:tc>
                <a:tc>
                  <a:txBody>
                    <a:bodyPr/>
                    <a:lstStyle/>
                    <a:p>
                      <a:pPr algn="l"/>
                      <a:r>
                        <a:rPr lang="es-MX" dirty="0"/>
                        <a:t>Ejecutar pruebas, análisis y armar expediente</a:t>
                      </a:r>
                    </a:p>
                  </a:txBody>
                  <a:tcPr marL="6543" marR="6543" marT="6543" marB="6543" anchor="ctr"/>
                </a:tc>
                <a:extLst>
                  <a:ext uri="{0D108BD9-81ED-4DB2-BD59-A6C34878D82A}">
                    <a16:rowId xmlns:a16="http://schemas.microsoft.com/office/drawing/2014/main" val="724523386"/>
                  </a:ext>
                </a:extLst>
              </a:tr>
            </a:tbl>
          </a:graphicData>
        </a:graphic>
      </p:graphicFrame>
    </p:spTree>
    <p:extLst>
      <p:ext uri="{BB962C8B-B14F-4D97-AF65-F5344CB8AC3E}">
        <p14:creationId xmlns:p14="http://schemas.microsoft.com/office/powerpoint/2010/main" val="71592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AFCFD"/>
        </a:solid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E9DB8E0D-6E90-422C-8217-C47F08E21934}"/>
              </a:ext>
            </a:extLst>
          </p:cNvPr>
          <p:cNvSpPr>
            <a:spLocks noGrp="1"/>
          </p:cNvSpPr>
          <p:nvPr/>
        </p:nvSpPr>
        <p:spPr>
          <a:xfrm>
            <a:off x="11049000" y="6238875"/>
            <a:ext cx="571500" cy="285750"/>
          </a:xfrm>
          <a:prstGeom prst="rect">
            <a:avLst/>
          </a:prstGeom>
          <a:noFill/>
          <a:ln w="0">
            <a:noFill/>
          </a:ln>
        </p:spPr>
        <p:txBody>
          <a:bodyPr>
            <a:noAutofit/>
          </a:bodyPr>
          <a:lstStyle/>
          <a:p>
            <a:pPr algn="just">
              <a:defRPr sz="1350" b="0">
                <a:solidFill>
                  <a:srgbClr val="136A91"/>
                </a:solidFill>
                <a:latin typeface="Aptos"/>
                <a:ea typeface="Aptos"/>
                <a:cs typeface="Aptos"/>
              </a:defRPr>
            </a:pPr>
            <a:r>
              <a:rPr sz="1350" b="0">
                <a:solidFill>
                  <a:srgbClr val="136A91"/>
                </a:solidFill>
                <a:latin typeface="Arial" panose="020B0604020202020204" pitchFamily="34" charset="0"/>
                <a:ea typeface="Aptos"/>
                <a:cs typeface="Arial" panose="020B0604020202020204" pitchFamily="34" charset="0"/>
              </a:rPr>
              <a:t>16</a:t>
            </a:r>
          </a:p>
        </p:txBody>
      </p:sp>
      <p:sp>
        <p:nvSpPr>
          <p:cNvPr id="3" name="Rectángulo 2">
            <a:extLst>
              <a:ext uri="{FF2B5EF4-FFF2-40B4-BE49-F238E27FC236}">
                <a16:creationId xmlns:a16="http://schemas.microsoft.com/office/drawing/2014/main" id="{38E81C34-201B-40C3-80E7-A3A37F24F51E}"/>
              </a:ext>
            </a:extLst>
          </p:cNvPr>
          <p:cNvSpPr>
            <a:spLocks noGrp="1"/>
          </p:cNvSpPr>
          <p:nvPr/>
        </p:nvSpPr>
        <p:spPr>
          <a:xfrm>
            <a:off x="666750" y="495300"/>
            <a:ext cx="10382250" cy="904875"/>
          </a:xfrm>
          <a:prstGeom prst="rect">
            <a:avLst/>
          </a:prstGeom>
          <a:noFill/>
          <a:ln w="0">
            <a:noFill/>
          </a:ln>
        </p:spPr>
        <p:txBody>
          <a:bodyPr>
            <a:noAutofit/>
          </a:bodyPr>
          <a:lstStyle/>
          <a:p>
            <a:pPr algn="just">
              <a:defRPr sz="3225" b="1">
                <a:solidFill>
                  <a:srgbClr val="102B4E"/>
                </a:solidFill>
                <a:latin typeface="Aptos"/>
                <a:ea typeface="Aptos"/>
                <a:cs typeface="Aptos"/>
              </a:defRPr>
            </a:pPr>
            <a:r>
              <a:rPr sz="3225" b="1">
                <a:solidFill>
                  <a:srgbClr val="102B4E"/>
                </a:solidFill>
                <a:latin typeface="Arial" panose="020B0604020202020204" pitchFamily="34" charset="0"/>
                <a:ea typeface="Aptos"/>
                <a:cs typeface="Arial" panose="020B0604020202020204" pitchFamily="34" charset="0"/>
              </a:rPr>
              <a:t>Conclusiones</a:t>
            </a:r>
          </a:p>
        </p:txBody>
      </p:sp>
      <p:sp>
        <p:nvSpPr>
          <p:cNvPr id="11" name="CuadroTexto 10">
            <a:extLst>
              <a:ext uri="{FF2B5EF4-FFF2-40B4-BE49-F238E27FC236}">
                <a16:creationId xmlns:a16="http://schemas.microsoft.com/office/drawing/2014/main" id="{EAB91970-4A1D-4F88-B466-31BC97252AA7}"/>
              </a:ext>
            </a:extLst>
          </p:cNvPr>
          <p:cNvSpPr txBox="1"/>
          <p:nvPr/>
        </p:nvSpPr>
        <p:spPr>
          <a:xfrm>
            <a:off x="666750" y="1094100"/>
            <a:ext cx="10858500" cy="5450851"/>
          </a:xfrm>
          <a:prstGeom prst="rect">
            <a:avLst/>
          </a:prstGeom>
          <a:noFill/>
        </p:spPr>
        <p:txBody>
          <a:bodyPr wrap="square">
            <a:spAutoFit/>
          </a:bodyPr>
          <a:lstStyle/>
          <a:p>
            <a:pPr algn="l">
              <a:lnSpc>
                <a:spcPct val="150000"/>
              </a:lnSpc>
            </a:pPr>
            <a:r>
              <a:rPr lang="es-MX" b="0" dirty="0">
                <a:solidFill>
                  <a:srgbClr val="000000"/>
                </a:solidFill>
                <a:effectLst/>
                <a:latin typeface="ui-sans-serif"/>
              </a:rPr>
              <a:t>La evaluación de un proyecto debe apoyarse en criterios claros y evidencia suficiente para verificar sus objetivos. En el Banco, la comparación entre los tiempos planeados de atención y la afluencia real de clientes permite confirmar si la asignación de cajeros y horarios cumple con lo esperado. En la Fábrica, se contrasta la producción programada con las cantidades elaboradas, así como la puntualidad en las entregas. En la Panadería, se cotejan los insumos disponibles, los volúmenes de elaboración y las ventas para determinar si el rendimiento diario es el adecuado.</a:t>
            </a:r>
          </a:p>
          <a:p>
            <a:pPr algn="l">
              <a:lnSpc>
                <a:spcPct val="150000"/>
              </a:lnSpc>
            </a:pPr>
            <a:r>
              <a:rPr lang="es-MX" b="0" dirty="0">
                <a:solidFill>
                  <a:srgbClr val="000000"/>
                </a:solidFill>
                <a:effectLst/>
                <a:latin typeface="ui-sans-serif"/>
              </a:rPr>
              <a:t>Las lecciones aprendidas permiten transformar problemas del desarrollo en recomendaciones para próximos trabajos. Detectar retrasos en la compra de materias primas, ajustar los tiempos de cada etapa productiva o prever mayor personal en horas pico son aprendizajes que servirán para planificar con mayor precisión y prever riesgos en futuras iniciativas.</a:t>
            </a:r>
          </a:p>
          <a:p>
            <a:pPr algn="l">
              <a:lnSpc>
                <a:spcPct val="150000"/>
              </a:lnSpc>
            </a:pPr>
            <a:r>
              <a:rPr lang="es-MX" b="0" dirty="0">
                <a:solidFill>
                  <a:srgbClr val="000000"/>
                </a:solidFill>
                <a:effectLst/>
                <a:latin typeface="ui-sans-serif"/>
              </a:rPr>
              <a:t>En los tres casos revisados, el cierre exige completar las pruebas de funcionamiento, confirmar los resultados obtenidos y reunir toda la documentación correspondiente: cronogramas de </a:t>
            </a:r>
            <a:r>
              <a:rPr lang="es-MX" b="0" dirty="0" err="1">
                <a:solidFill>
                  <a:srgbClr val="000000"/>
                </a:solidFill>
                <a:effectLst/>
                <a:latin typeface="ui-sans-serif"/>
              </a:rPr>
              <a:t>ProjectLibre</a:t>
            </a:r>
            <a:r>
              <a:rPr lang="es-MX" b="0" dirty="0">
                <a:solidFill>
                  <a:srgbClr val="000000"/>
                </a:solidFill>
                <a:effectLst/>
                <a:latin typeface="ui-sans-serif"/>
              </a:rPr>
              <a:t>, tableros de seguimiento en Trello, registros de cambios y análisis de cada proceso.</a:t>
            </a:r>
          </a:p>
        </p:txBody>
      </p:sp>
    </p:spTree>
    <p:extLst>
      <p:ext uri="{BB962C8B-B14F-4D97-AF65-F5344CB8AC3E}">
        <p14:creationId xmlns:p14="http://schemas.microsoft.com/office/powerpoint/2010/main" val="1170891069"/>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163</TotalTime>
  <Words>2107</Words>
  <Application>Microsoft Office PowerPoint</Application>
  <DocSecurity>0</DocSecurity>
  <PresentationFormat>Panorámica</PresentationFormat>
  <Paragraphs>226</Paragraphs>
  <Slides>16</Slides>
  <Notes>16</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16</vt:i4>
      </vt:variant>
    </vt:vector>
  </HeadingPairs>
  <TitlesOfParts>
    <vt:vector size="20" baseType="lpstr">
      <vt:lpstr>Aptos</vt:lpstr>
      <vt:lpstr>Arial</vt:lpstr>
      <vt:lpstr>ui-sans-serif</vt:lpstr>
      <vt:lpstr>ChatGPT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joselopezmanuel200@gmail.com</cp:lastModifiedBy>
  <cp:revision>12</cp:revision>
  <dcterms:created xsi:type="dcterms:W3CDTF">2026-10-02T20:09:28Z</dcterms:created>
  <dcterms:modified xsi:type="dcterms:W3CDTF">2026-10-04T01:36:00Z</dcterms:modified>
</cp:coreProperties>
</file>