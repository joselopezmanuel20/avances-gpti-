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8" r:id="rId20"/>
    <p:sldId id="279" r:id="rId21"/>
    <p:sldId id="281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8B7E49B-DB87-4253-9D63-04B62F23EE6E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3971BB-67E7-4D2C-9373-0D947B91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4C10E77-6B6D-46CF-828A-4499AB849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30052008-6766-4FDB-8E43-0311AC852BB2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0036DAF-489F-4AE2-941C-8904C9EA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FA180DE-A23C-468F-8447-AABCFAD51EE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054B61-DCC7-49DF-A85E-31FB5E78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48CB3FC-B236-4361-94DB-C57DE144E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3D9C8AA5-A5FB-4028-9190-6DC102C6D44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1CCD88-044F-4C04-B146-91F574CF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4F0B1D2-2676-491D-9959-BAE819671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305D5FF6-6973-43BF-A32D-6B82FDA502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A225F66-3EDF-4AF4-9240-4FA7950511E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3E7516D-CFE4-4B30-8BBB-321F6B24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72F871E-6A59-4418-8355-FC1BB35CA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EC2AF83-1248-4DA9-B745-4D366263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059" y="375251"/>
            <a:ext cx="2362200" cy="10399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5A5B79-A168-41E9-AFBE-E5EA142CE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730" y="253289"/>
            <a:ext cx="2143125" cy="103992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6DFD65C-BE8D-4AEF-8BB5-7BA8D9EF3426}"/>
              </a:ext>
            </a:extLst>
          </p:cNvPr>
          <p:cNvSpPr/>
          <p:nvPr/>
        </p:nvSpPr>
        <p:spPr>
          <a:xfrm>
            <a:off x="1282120" y="1475557"/>
            <a:ext cx="969981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/>
              <a:t>Instituto Tecnológico de Frontera Comalapa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2E8A94B-14E3-4A0A-AC5D-CFE3AEBA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120" y="239842"/>
            <a:ext cx="3276602" cy="102576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6EA7986-96F3-4EFA-96F4-4E12B81F2574}"/>
              </a:ext>
            </a:extLst>
          </p:cNvPr>
          <p:cNvSpPr txBox="1"/>
          <p:nvPr/>
        </p:nvSpPr>
        <p:spPr>
          <a:xfrm>
            <a:off x="2920421" y="2212427"/>
            <a:ext cx="6106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del docente: </a:t>
            </a:r>
          </a:p>
          <a:p>
            <a:pPr algn="ctr"/>
            <a:r>
              <a:rPr lang="es-MX" sz="1600" dirty="0"/>
              <a:t>Ing. Francisco Javier mingo Velázquez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Materia: </a:t>
            </a:r>
          </a:p>
          <a:p>
            <a:pPr algn="ctr"/>
            <a:r>
              <a:rPr lang="es-MX" sz="1600" dirty="0"/>
              <a:t>Gestión de proyectos de Ti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Carrera:</a:t>
            </a:r>
          </a:p>
          <a:p>
            <a:pPr algn="ctr"/>
            <a:r>
              <a:rPr lang="es-MX" sz="1600" dirty="0"/>
              <a:t>Ing. Sistemas computacionales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Modalidad:</a:t>
            </a:r>
          </a:p>
          <a:p>
            <a:pPr algn="ctr"/>
            <a:r>
              <a:rPr lang="es-MX" sz="1600" dirty="0"/>
              <a:t>Mixta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Num.control:</a:t>
            </a:r>
          </a:p>
          <a:p>
            <a:pPr algn="ctr"/>
            <a:r>
              <a:rPr lang="es-MX" sz="1600" dirty="0"/>
              <a:t>231260036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del alumno:</a:t>
            </a:r>
          </a:p>
          <a:p>
            <a:pPr algn="ctr"/>
            <a:r>
              <a:rPr lang="es-MX" sz="1600" dirty="0"/>
              <a:t>Jose Manuel Vazquez Lopez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Semestre:</a:t>
            </a:r>
          </a:p>
          <a:p>
            <a:pPr algn="ctr"/>
            <a:r>
              <a:rPr lang="es-MX" sz="1600" dirty="0"/>
              <a:t>Sexto Semestre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del trabajo:</a:t>
            </a:r>
          </a:p>
          <a:p>
            <a:pPr algn="ctr"/>
            <a:r>
              <a:rPr lang="es-MX" sz="1600" dirty="0"/>
              <a:t>Actividad 6.3-Ejercicios </a:t>
            </a:r>
          </a:p>
          <a:p>
            <a:pPr algn="ctr"/>
            <a:r>
              <a:rPr lang="es-MX" sz="1600" dirty="0"/>
              <a:t>Fecha:</a:t>
            </a:r>
          </a:p>
          <a:p>
            <a:pPr algn="ctr"/>
            <a:r>
              <a:rPr lang="es-MX" sz="1600" dirty="0"/>
              <a:t>14/02/2026</a:t>
            </a:r>
          </a:p>
        </p:txBody>
      </p:sp>
    </p:spTree>
    <p:extLst>
      <p:ext uri="{BB962C8B-B14F-4D97-AF65-F5344CB8AC3E}">
        <p14:creationId xmlns:p14="http://schemas.microsoft.com/office/powerpoint/2010/main" val="1147321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54EEC771-64E3-43AB-8FD1-640A8BE5DDB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914EA6-AA45-42B2-97B9-4B9672F5245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Introducción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9B360A-E2D4-4120-AD53-49A1F8D124B3}"/>
              </a:ext>
            </a:extLst>
          </p:cNvPr>
          <p:cNvSpPr txBox="1"/>
          <p:nvPr/>
        </p:nvSpPr>
        <p:spPr>
          <a:xfrm>
            <a:off x="685800" y="1163101"/>
            <a:ext cx="109347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Concluir un proyecto requiere revisar detalladamente sus entregables, contrastar lo planeado con lo realmente ejecutado y explicar con claridad qué objetivos se alcanzaron, cuáles se encuentran en desarrollo y qué aspectos quedan pendientes, sustentando todo ello con la evidencia disponible: cronogramas, diagramas de Gantt, tableros de seguimiento y registros de avance. La Unidad 6 aborda esta etapa de revisión y cierre mediante el uso de indicadores de desempeño que permiten medir el cumplimiento de plazos, alcance y calidad; registros de aprendizaje que recogen las lecciones identificadas durante el proceso; y documentos de entrega que formalizan los resultados obtenidos. </a:t>
            </a:r>
          </a:p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El presente trabajo aplica estos criterios a tres casos concretos: el Proyecto Banco, orientado a la optimización de procesos de atención y transacciones; el Proyecto Fábrica, enfocado en la planificación y control de toda la cadena de producción; y el Proyecto Panadería, centrado en la gestión integral del ciclo de elaboración, ventas y control de recursos. En cada uno de ellos se analizan las situaciones de evaluación, se identifican las desviaciones respecto a la planificación inicial y se establecen las condiciones necesarias para un cierre ordenado y transparente. Los datos de referencia, los cronogramas definidos en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y el seguimiento detallado en Trello sirven como base para ilustrar el análisis de cada iniciativa; sin embargo, la decisión final de cierre depende de la ejecución satisfactoria de las pruebas de funcionamiento, la validación de los resultados por parte del responsable y la confirmación de que los entregables cumplen con los requisitos planteados desde el inicio.</a:t>
            </a:r>
          </a:p>
        </p:txBody>
      </p:sp>
    </p:spTree>
    <p:extLst>
      <p:ext uri="{BB962C8B-B14F-4D97-AF65-F5344CB8AC3E}">
        <p14:creationId xmlns:p14="http://schemas.microsoft.com/office/powerpoint/2010/main" val="136980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245D1CCC-D43F-49DF-9B80-52C585CA043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BB4745-4648-4B0D-B9D7-294E2CE4F10E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Justificación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5E0157-97F6-4BB4-93F0-BE4B7DBB8C35}"/>
              </a:ext>
            </a:extLst>
          </p:cNvPr>
          <p:cNvSpPr txBox="1"/>
          <p:nvPr/>
        </p:nvSpPr>
        <p:spPr>
          <a:xfrm>
            <a:off x="742950" y="1296799"/>
            <a:ext cx="10662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La evaluación permite detectar diferencias entre lo acordado y lo entregado antes de formalizar la conclusión del trabajo.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Comparar procesos con necesidades distintas producción industrial, operaciones financieras y atención al público ayuda a seleccionar las evidencias adecuadas para cada tipo de proyecto.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Los ejercicios relacionan los cambios del cronograma con sus consecuencias y convierten los problemas del desarrollo en acciones de mejora.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Organizar el expediente y definir claramente la aceptación facilita una entrega que el responsable pueda revisar, validar y utilizar.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365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38A5CE6-ED8F-4302-8316-1E59106FD6C6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5E431C-9339-42E7-A937-745AFE95741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Condiciones</a:t>
            </a:r>
            <a:r>
              <a:rPr sz="3150" b="1" dirty="0">
                <a:solidFill>
                  <a:srgbClr val="4D2140"/>
                </a:solidFill>
                <a:latin typeface="Aptos"/>
                <a:ea typeface="Aptos"/>
                <a:cs typeface="Aptos"/>
              </a:rPr>
              <a:t> de </a:t>
            </a: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cumplimiento</a:t>
            </a:r>
            <a:endParaRPr sz="3150" b="1" dirty="0">
              <a:solidFill>
                <a:srgbClr val="4D21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1FC7678-22FD-4336-87D7-98D302301DCA}"/>
              </a:ext>
            </a:extLst>
          </p:cNvPr>
          <p:cNvSpPr txBox="1"/>
          <p:nvPr/>
        </p:nvSpPr>
        <p:spPr>
          <a:xfrm>
            <a:off x="742950" y="1286589"/>
            <a:ext cx="107632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Se definen las comprobaciones necesarias para autorizar el cierre de Panadería, Fábrica y Banco </a:t>
            </a:r>
            <a:r>
              <a:rPr lang="es-MX" dirty="0" err="1"/>
              <a:t>Bansiso</a:t>
            </a:r>
            <a:r>
              <a:rPr lang="es-MX" dirty="0"/>
              <a:t>: </a:t>
            </a:r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dirty="0"/>
              <a:t>• Entregables: contrastar las funciones disponibles con el alcance y los requisitos acordados en cada proyecto.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 • Calendario: identificar desviaciones respecto de las fechas de compromiso y explicar los cambios registrados. 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• Pruebas: comprobar el funcionamiento y la atención de incidencias según su gravedad en cada simulación. 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• Entrega: verificar los documentos requeridos y el registro de conformidad del responsable.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879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7277EE63-651F-44A5-A86C-F84E7E74A2F3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A0A7D3A-AC66-4F3B-80D7-CAF51A078B0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Relación</a:t>
            </a:r>
            <a:r>
              <a:rPr sz="3150" b="1" dirty="0">
                <a:solidFill>
                  <a:srgbClr val="4D2140"/>
                </a:solidFill>
                <a:latin typeface="Aptos"/>
                <a:ea typeface="Aptos"/>
                <a:cs typeface="Aptos"/>
              </a:rPr>
              <a:t> con las </a:t>
            </a: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actividades</a:t>
            </a:r>
            <a:r>
              <a:rPr sz="3150" b="1" dirty="0">
                <a:solidFill>
                  <a:srgbClr val="4D2140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anteriores</a:t>
            </a:r>
            <a:endParaRPr sz="3150" b="1" dirty="0">
              <a:solidFill>
                <a:srgbClr val="4D21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1BC02960-1DFE-4587-878A-3A1D7751E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165239"/>
            <a:ext cx="10622280" cy="452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Planificación: El cronograma en </a:t>
            </a:r>
            <a:r>
              <a:rPr lang="es-ES" altLang="es-ES" dirty="0" err="1"/>
              <a:t>ProjectLibre</a:t>
            </a:r>
            <a:r>
              <a:rPr lang="es-ES" altLang="es-ES" dirty="0"/>
              <a:t> del Banco, la Fábrica y la Panadería permite revisar las duraciones de cada actividad, las dependencias entre tareas y las fechas de entrega establecidas desde agosto.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Gestión de tareas: Las historias de usuario y las tarjetas de trabajo vinculan las funciones solicitadas atención al cliente, control de producción o elaboración de productos con criterios de verificación concretos para cada iniciativa.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Seguimiento visual: Trello organiza el trabajo del Banco, la Fábrica y la Panadería por etapas y estados, permitiendo identificar de inmediato qué actividades están por hacer, en proceso, en revisión o terminadas en cada uno.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Modelado y pruebas: Los diagramas de Gantt y las simulaciones de flujo aportan evidencia del comportamiento real del proceso: la llegada de clientes en el banco, la cadena productiva en la fábrica y el ciclo de elaboración y ventas en la panadería. </a:t>
            </a:r>
          </a:p>
        </p:txBody>
      </p:sp>
    </p:spTree>
    <p:extLst>
      <p:ext uri="{BB962C8B-B14F-4D97-AF65-F5344CB8AC3E}">
        <p14:creationId xmlns:p14="http://schemas.microsoft.com/office/powerpoint/2010/main" val="88821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96408C7-915A-4B03-8CA5-B9BF65F526FD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1E83AA-1398-4A92-BF1C-F021972BD2B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lang="es-MX" sz="3200" dirty="0"/>
              <a:t>Etapas Y Evidencias Por Proyecto</a:t>
            </a:r>
            <a:endParaRPr lang="es-MX" sz="3200" b="1" dirty="0">
              <a:solidFill>
                <a:srgbClr val="4D2140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0D3EA06-09A4-4F83-B0D7-D9D3B7BE7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35283"/>
              </p:ext>
            </p:extLst>
          </p:nvPr>
        </p:nvGraphicFramePr>
        <p:xfrm>
          <a:off x="685800" y="1409700"/>
          <a:ext cx="9028252" cy="4351338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2130358">
                  <a:extLst>
                    <a:ext uri="{9D8B030D-6E8A-4147-A177-3AD203B41FA5}">
                      <a16:colId xmlns:a16="http://schemas.microsoft.com/office/drawing/2014/main" val="4245002814"/>
                    </a:ext>
                  </a:extLst>
                </a:gridCol>
                <a:gridCol w="2299298">
                  <a:extLst>
                    <a:ext uri="{9D8B030D-6E8A-4147-A177-3AD203B41FA5}">
                      <a16:colId xmlns:a16="http://schemas.microsoft.com/office/drawing/2014/main" val="736267501"/>
                    </a:ext>
                  </a:extLst>
                </a:gridCol>
                <a:gridCol w="2299298">
                  <a:extLst>
                    <a:ext uri="{9D8B030D-6E8A-4147-A177-3AD203B41FA5}">
                      <a16:colId xmlns:a16="http://schemas.microsoft.com/office/drawing/2014/main" val="3386954353"/>
                    </a:ext>
                  </a:extLst>
                </a:gridCol>
                <a:gridCol w="2299298">
                  <a:extLst>
                    <a:ext uri="{9D8B030D-6E8A-4147-A177-3AD203B41FA5}">
                      <a16:colId xmlns:a16="http://schemas.microsoft.com/office/drawing/2014/main" val="486316994"/>
                    </a:ext>
                  </a:extLst>
                </a:gridCol>
              </a:tblGrid>
              <a:tr h="315490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Etapa de trabajo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Panadería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Fábrica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Banco Bansiso</a:t>
                      </a:r>
                    </a:p>
                  </a:txBody>
                  <a:tcPr marL="4854" marR="4854" marT="4854" marB="4854" anchor="ctr"/>
                </a:tc>
                <a:extLst>
                  <a:ext uri="{0D108BD9-81ED-4DB2-BD59-A6C34878D82A}">
                    <a16:rowId xmlns:a16="http://schemas.microsoft.com/office/drawing/2014/main" val="495859730"/>
                  </a:ext>
                </a:extLst>
              </a:tr>
              <a:tr h="1167314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Definición y requisitos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Alcance: producción, inventario, distribución y ventas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Alcance: retiros y consultas de saldo interbancarios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Alcance: llegada de clientes, filas y atención en ventanillas</a:t>
                      </a:r>
                    </a:p>
                  </a:txBody>
                  <a:tcPr marL="4854" marR="4854" marT="4854" marB="4854" anchor="ctr"/>
                </a:tc>
                <a:extLst>
                  <a:ext uri="{0D108BD9-81ED-4DB2-BD59-A6C34878D82A}">
                    <a16:rowId xmlns:a16="http://schemas.microsoft.com/office/drawing/2014/main" val="3641641931"/>
                  </a:ext>
                </a:extLst>
              </a:tr>
              <a:tr h="1036264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Flujo y herramientas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Diagrama del proceso de producción y comercialización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Modelo del flujo entre cajero y banco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Esquema de funcionamiento de filas y atención</a:t>
                      </a:r>
                    </a:p>
                  </a:txBody>
                  <a:tcPr marL="4854" marR="4854" marT="4854" marB="4854" anchor="ctr"/>
                </a:tc>
                <a:extLst>
                  <a:ext uri="{0D108BD9-81ED-4DB2-BD59-A6C34878D82A}">
                    <a16:rowId xmlns:a16="http://schemas.microsoft.com/office/drawing/2014/main" val="2386579898"/>
                  </a:ext>
                </a:extLst>
              </a:tr>
              <a:tr h="992581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Escenarios y pruebas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Producción normal, con retrasos y aumento de pedidos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Respuesta correcta, demoras y fallos en conexión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Baja, media y alta afluencia; fallas en ventanillas</a:t>
                      </a:r>
                    </a:p>
                  </a:txBody>
                  <a:tcPr marL="4854" marR="4854" marT="4854" marB="4854" anchor="ctr"/>
                </a:tc>
                <a:extLst>
                  <a:ext uri="{0D108BD9-81ED-4DB2-BD59-A6C34878D82A}">
                    <a16:rowId xmlns:a16="http://schemas.microsoft.com/office/drawing/2014/main" val="4151798436"/>
                  </a:ext>
                </a:extLst>
              </a:tr>
              <a:tr h="83968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Análisis de resultados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Tiempos de producción, inventario y ventas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Tiempos de respuesta y consistencia de datos</a:t>
                      </a:r>
                    </a:p>
                  </a:txBody>
                  <a:tcPr marL="4854" marR="4854" marT="4854" marB="485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Tiempos de espera y capacidad de atención</a:t>
                      </a:r>
                    </a:p>
                  </a:txBody>
                  <a:tcPr marL="4854" marR="4854" marT="4854" marB="4854" anchor="ctr"/>
                </a:tc>
                <a:extLst>
                  <a:ext uri="{0D108BD9-81ED-4DB2-BD59-A6C34878D82A}">
                    <a16:rowId xmlns:a16="http://schemas.microsoft.com/office/drawing/2014/main" val="2234661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94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110FD20-F3B8-40BD-9BF7-53747B49740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70E23F-386C-4271-9E38-C75676CAF72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Consistencia de las evidencias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86487C-3B41-42C0-8606-0CA74D628C6C}"/>
              </a:ext>
            </a:extLst>
          </p:cNvPr>
          <p:cNvSpPr txBox="1"/>
          <p:nvPr/>
        </p:nvSpPr>
        <p:spPr>
          <a:xfrm>
            <a:off x="742950" y="1241960"/>
            <a:ext cx="108775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Situación: En el Banco, la Fábrica o la Panadería puede ocurrir que el tablero de Trello marque una tarea como terminada, pero en el cronograma de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o en el informe aún aparezcan pruebas o revisiones pendientes de concluir.</a:t>
            </a:r>
          </a:p>
          <a:p>
            <a:pPr algn="just"/>
            <a:endParaRPr lang="es-MX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Identificar qué requisito cubre cada tarea del Banco, la Fábrica y la Panadería ya sea optimizar la atención bancaria, coordinar la producción o controlar mermas y cuál es el criterio exacto para considerarla realmente completa.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Revisar las fechas de las capturas de pantalla, los archivos de simulación de procesos y los resultados de las pruebas realizadas en cada proyecto, verificando que coincidan entre sí.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Corregir las diferencias que existan entre lo que indica el cronograma de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, el estado de las tarjetas en Trello y la información que aparece en el informe final de cada iniciativa.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Registrar claramente los pendientes reales que aún quedan en el Banco, la Fábrica y la Panadería, y conservar una versión identificable de todos los archivos entregados para que se pueda consultar y verificar la información.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Criterio de resolución: Los estados que muestran el tablero de Trello, el cronograma de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y el informe final deben describir la misma situación comprobada para cada uno de los tres proyectos.</a:t>
            </a:r>
          </a:p>
        </p:txBody>
      </p:sp>
    </p:spTree>
    <p:extLst>
      <p:ext uri="{BB962C8B-B14F-4D97-AF65-F5344CB8AC3E}">
        <p14:creationId xmlns:p14="http://schemas.microsoft.com/office/powerpoint/2010/main" val="151797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91BEEE1-C486-4C65-B4F3-2191C806CE97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12105C-C9EF-427F-9604-164C68446A5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Revisión del proceso comercial de Corona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5F17F-044E-40D0-8431-01E51BBD14B6}"/>
              </a:ext>
            </a:extLst>
          </p:cNvPr>
          <p:cNvSpPr txBox="1"/>
          <p:nvPr/>
        </p:nvSpPr>
        <p:spPr>
          <a:xfrm>
            <a:off x="685800" y="1274305"/>
            <a:ext cx="109347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Caso por resolver: Comprobar la cobertura y el funcionamiento de las etapas del Banco, la Fábrica y la Panadería.</a:t>
            </a:r>
          </a:p>
          <a:p>
            <a:pPr algn="just"/>
            <a:endParaRPr lang="es-MX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Proceso cubierto: seguir el recorrido completo en cada uno en el Banco, desde el análisis de atención hasta la optimización del servicio; en la Fábrica, desde la planificación hasta la entrega final; en la Panadería, desde la compra de insumos hasta el control de resultados.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Trabajo organizado: comprobar las 5 actividades de cada proyecto y sus vínculos en el cronograma de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, junto con las tarjetas y registros del tablero en Trello.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Ejecución comprobada: revisar la conexión entre las etapas de cada iniciativa y conservar los resultados de las simulaciones, pruebas y revisiones realizadas.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Cambio rastreable: identificar y registrar cualquier modificación en las duraciones o fechas como el ajuste en la duración de producción en la Panadería y verificar cómo afecta a las tareas siguientes en cada cronograma.</a:t>
            </a:r>
          </a:p>
        </p:txBody>
      </p:sp>
    </p:spTree>
    <p:extLst>
      <p:ext uri="{BB962C8B-B14F-4D97-AF65-F5344CB8AC3E}">
        <p14:creationId xmlns:p14="http://schemas.microsoft.com/office/powerpoint/2010/main" val="71507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89102EA-1366-430C-ACF2-2FB288A11D1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7E7069-05B3-4368-9D09-905FFCA51E8B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Análisis de la ampliación del cronograma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B41DF18-7824-4246-ADB9-636046E5F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64435"/>
              </p:ext>
            </p:extLst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16183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16113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rgbClr val="000000"/>
                          </a:solidFill>
                          <a:effectLst/>
                        </a:rPr>
                        <a:t>Aspecto</a:t>
                      </a:r>
                      <a:endParaRPr lang="es-ES" b="1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rgbClr val="000000"/>
                          </a:solidFill>
                          <a:effectLst/>
                        </a:rPr>
                        <a:t>Análisis del cambio</a:t>
                      </a:r>
                      <a:endParaRPr lang="es-ES" b="1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45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Variación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8 − 6 = 2 días adicionales, equivalentes al 33,3 % de la duración inicial.</a:t>
                      </a:r>
                      <a:endParaRPr lang="es-MX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38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Impacto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Las tareas siguientes organización de ventas, control de existencias e inventario final pueden desplazarse. El efecto depende de las dependencias y el margen de tiempo disponible entre etapas.</a:t>
                      </a:r>
                      <a:endParaRPr lang="es-MX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25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Control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Actualizar el cronograma en ProjectLibre y registrar el motivo del cambio, las actividades afectadas y la decisión tomada.</a:t>
                      </a:r>
                      <a:endParaRPr lang="es-MX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810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Estado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El registro indica aprobación pendiente. Hasta no confirmarse, el cambio no debe tratarse como autorizado ni reflejarse como definitivo en el tablero de Trello.</a:t>
                      </a:r>
                      <a:endParaRPr lang="es-MX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701914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406172D4-5DA6-4FEF-8659-138285740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32081"/>
            <a:ext cx="114262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Datos del caso: La simulación de producción en la Panadería aumenta de 6 a 8 días por ajustes en el modelo de elaboración.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60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DC59F18-0B3C-48F5-B390-6B368B259DB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</a:t>
            </a: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BBB14CA-229B-412E-AE54-1E9B144BB8D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Pruebas del servicio de atención bancaria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6EEE30-E568-402B-B137-0B66428AA008}"/>
              </a:ext>
            </a:extLst>
          </p:cNvPr>
          <p:cNvSpPr txBox="1"/>
          <p:nvPr/>
        </p:nvSpPr>
        <p:spPr>
          <a:xfrm>
            <a:off x="685800" y="1409700"/>
            <a:ext cx="11088065" cy="434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Caso por resolver: Establecer qué pruebas respaldan los resultados del Banco, la Fábrica y la Panadería.</a:t>
            </a:r>
          </a:p>
          <a:p>
            <a:pPr algn="l"/>
            <a:endParaRPr lang="es-MX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Proceso en operación: En el Banco, revisar cómo llega la clientela y cómo transcurre el paso de la fila a la ventanilla; en la Fábrica, seguir el recorrido desde la entrada de materias primas hasta la salida del producto terminado; en la Panadería, verificar el ciclo desde la compra de insumos hasta la venta en mostrador.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Escenarios: Ejecutar distintas configuraciones mayor afluencia en el banco, volúmenes distintos en la fábrica, mayor demanda en la panadería y registrar el comportamiento y los tiempos en cada una.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Comparación: Explicar las diferencias encontradas entre lo planeado en el cronograma y lo obtenido en las simulaciones, indicando causas y consecuencias en cada proyecto.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Expediente: Reunir el modelo, los resultados de las pruebas y el análisis de cada iniciativa para su revisión y validación final.</a:t>
            </a:r>
          </a:p>
        </p:txBody>
      </p:sp>
    </p:spTree>
    <p:extLst>
      <p:ext uri="{BB962C8B-B14F-4D97-AF65-F5344CB8AC3E}">
        <p14:creationId xmlns:p14="http://schemas.microsoft.com/office/powerpoint/2010/main" val="74842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ED7B452-30AB-4B70-892C-739B9CC476A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11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823BC8-550B-4E71-BC8B-87DD6A74D3F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Medidas de desempeño del proyecto</a:t>
            </a:r>
          </a:p>
        </p:txBody>
      </p:sp>
      <p:graphicFrame>
        <p:nvGraphicFramePr>
          <p:cNvPr id="7" name="Tabla 6"/>
          <p:cNvGraphicFramePr/>
          <p:nvPr>
            <p:extLst>
              <p:ext uri="{D42A27DB-BD31-4B8C-83A1-F6EECF244321}">
                <p14:modId xmlns:p14="http://schemas.microsoft.com/office/powerpoint/2010/main" val="2877603650"/>
              </p:ext>
            </p:extLst>
          </p:nvPr>
        </p:nvGraphicFramePr>
        <p:xfrm>
          <a:off x="685800" y="1600200"/>
          <a:ext cx="10668000" cy="419099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Dimension</a:t>
                      </a:r>
                      <a:endParaRPr sz="1800" b="1" dirty="0">
                        <a:solidFill>
                          <a:schemeClr val="tx1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Indicador propuesto</a:t>
                      </a:r>
                      <a:endParaRPr sz="1800" b="1">
                        <a:solidFill>
                          <a:schemeClr val="tx1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Evidence</a:t>
                      </a:r>
                      <a:endParaRPr sz="1800" b="1" dirty="0">
                        <a:solidFill>
                          <a:schemeClr val="tx1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Alcance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Entregables completos / acordados × 100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Lista de entregables revisada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Tiempo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Fecha real − fecha prevista, en días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Cronograma y registro de cambios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Calidad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Errores abiertos por nivel de gravedad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Registro de pruebas e incidencias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Requisitos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Requisitos validados / definidos × 100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Matriz de validación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Documentación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Documentos completos / requeridos × 100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Inventario del expediente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Aceptación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Conformidad registrada del responsable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Acta o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registro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de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validación</a:t>
                      </a:r>
                      <a:endParaRPr sz="1800" b="0" dirty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64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B36671B-5A1B-4043-A660-5314503D46F3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</a:t>
            </a: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2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B70ECB-9CFF-4170-B8BC-581067C1BC4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Registro de un aprendizaje del cronograma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E1A4AB6-E593-4D05-B4C8-0855CC2FC2C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endParaRPr sz="2025" b="1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9" name="Tabla 8"/>
          <p:cNvGraphicFramePr/>
          <p:nvPr>
            <p:extLst>
              <p:ext uri="{D42A27DB-BD31-4B8C-83A1-F6EECF244321}">
                <p14:modId xmlns:p14="http://schemas.microsoft.com/office/powerpoint/2010/main" val="79890763"/>
              </p:ext>
            </p:extLst>
          </p:nvPr>
        </p:nvGraphicFramePr>
        <p:xfrm>
          <a:off x="685800" y="1247775"/>
          <a:ext cx="10668000" cy="3048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chemeClr val="tx1"/>
                          </a:solidFill>
                        </a:rPr>
                        <a:t>Elemento</a:t>
                      </a:r>
                      <a:endParaRPr sz="1800" b="1" dirty="0">
                        <a:solidFill>
                          <a:schemeClr val="tx1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chemeClr val="tx1"/>
                          </a:solidFill>
                        </a:rPr>
                        <a:t>Registro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chemeClr val="tx1"/>
                          </a:solidFill>
                        </a:rPr>
                        <a:t>propuesto</a:t>
                      </a:r>
                      <a:endParaRPr sz="1800" b="1" dirty="0">
                        <a:solidFill>
                          <a:schemeClr val="tx1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Problema y causa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La modificación afecta una actividad con sucesoras vinculadas.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Impacto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Las fechas posteriores se desplazan y requieren revisar el plan.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Aprendizaje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</a:rPr>
                        <a:t>Analizar dependencias y holgura antes de modificar una duración.</a:t>
                      </a:r>
                      <a:endParaRPr sz="1800" b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Acción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futura</a:t>
                      </a:r>
                      <a:endParaRPr sz="1800" b="0" dirty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Registrar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el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cambio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calcular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su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efecto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comunicarlo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y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actualizar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el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D3340"/>
                          </a:solidFill>
                        </a:rPr>
                        <a:t>cronograma</a:t>
                      </a:r>
                      <a:r>
                        <a:rPr sz="1800" b="0" dirty="0">
                          <a:solidFill>
                            <a:srgbClr val="3D3340"/>
                          </a:solidFill>
                        </a:rPr>
                        <a:t>.</a:t>
                      </a:r>
                      <a:endParaRPr sz="1800" b="0" dirty="0">
                        <a:solidFill>
                          <a:srgbClr val="3D334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F00AA304-C9C7-46E3-A516-BB3BD332E5E0}"/>
              </a:ext>
            </a:extLst>
          </p:cNvPr>
          <p:cNvSpPr txBox="1"/>
          <p:nvPr/>
        </p:nvSpPr>
        <p:spPr>
          <a:xfrm>
            <a:off x="685800" y="4535425"/>
            <a:ext cx="9375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Situación: una actividad amplía su duración y afecta a las tareas posteriores.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435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C4526D-97FA-42A1-AF65-40AC993F1D6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</a:t>
            </a: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3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5FD2C2-F769-4249-B098-11A59DD3FF0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Procesos y objetivos de los casos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0F9F0BC-F722-4577-B323-C469426D9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668695"/>
              </p:ext>
            </p:extLst>
          </p:nvPr>
        </p:nvGraphicFramePr>
        <p:xfrm>
          <a:off x="864605" y="1513597"/>
          <a:ext cx="10405640" cy="471663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601410">
                  <a:extLst>
                    <a:ext uri="{9D8B030D-6E8A-4147-A177-3AD203B41FA5}">
                      <a16:colId xmlns:a16="http://schemas.microsoft.com/office/drawing/2014/main" val="3468563279"/>
                    </a:ext>
                  </a:extLst>
                </a:gridCol>
                <a:gridCol w="2601410">
                  <a:extLst>
                    <a:ext uri="{9D8B030D-6E8A-4147-A177-3AD203B41FA5}">
                      <a16:colId xmlns:a16="http://schemas.microsoft.com/office/drawing/2014/main" val="1441346789"/>
                    </a:ext>
                  </a:extLst>
                </a:gridCol>
                <a:gridCol w="2601410">
                  <a:extLst>
                    <a:ext uri="{9D8B030D-6E8A-4147-A177-3AD203B41FA5}">
                      <a16:colId xmlns:a16="http://schemas.microsoft.com/office/drawing/2014/main" val="4226958835"/>
                    </a:ext>
                  </a:extLst>
                </a:gridCol>
                <a:gridCol w="2601410">
                  <a:extLst>
                    <a:ext uri="{9D8B030D-6E8A-4147-A177-3AD203B41FA5}">
                      <a16:colId xmlns:a16="http://schemas.microsoft.com/office/drawing/2014/main" val="3562868566"/>
                    </a:ext>
                  </a:extLst>
                </a:gridCol>
              </a:tblGrid>
              <a:tr h="17593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Aspecto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Banco Bansiso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Fábrica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Panadería</a:t>
                      </a:r>
                    </a:p>
                  </a:txBody>
                  <a:tcPr marL="3142" marR="3142" marT="3142" marB="3142" anchor="ctr"/>
                </a:tc>
                <a:extLst>
                  <a:ext uri="{0D108BD9-81ED-4DB2-BD59-A6C34878D82A}">
                    <a16:rowId xmlns:a16="http://schemas.microsoft.com/office/drawing/2014/main" val="2408630087"/>
                  </a:ext>
                </a:extLst>
              </a:tr>
              <a:tr h="1405938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Proceso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Atención al cliente: llegada, formación de filas, asignación de cajeros y atención en ventanillas.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Cadena productiva: planificación, recepción de materias primas, elaboración, control de calidad y distribución.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Ciclo comercial: compra de insumos, preparación, horneado, exhibición, venta y control de mermas.</a:t>
                      </a:r>
                    </a:p>
                  </a:txBody>
                  <a:tcPr marL="3142" marR="3142" marT="3142" marB="3142" anchor="ctr"/>
                </a:tc>
                <a:extLst>
                  <a:ext uri="{0D108BD9-81ED-4DB2-BD59-A6C34878D82A}">
                    <a16:rowId xmlns:a16="http://schemas.microsoft.com/office/drawing/2014/main" val="3833303358"/>
                  </a:ext>
                </a:extLst>
              </a:tr>
              <a:tr h="1349386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Objetivo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Medir y optimizar tiempos de espera, comparando escenarios de mayor y menor afluencia.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Verificar que la producción se ajuste a los plazos y volúmenes establecidos, identificando cuellos de botella.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Asegurar que los tiempos de producción coincidan con la demanda diaria, equilibrando oferta y venta.</a:t>
                      </a:r>
                    </a:p>
                  </a:txBody>
                  <a:tcPr marL="3142" marR="3142" marT="3142" marB="3142" anchor="ctr"/>
                </a:tc>
                <a:extLst>
                  <a:ext uri="{0D108BD9-81ED-4DB2-BD59-A6C34878D82A}">
                    <a16:rowId xmlns:a16="http://schemas.microsoft.com/office/drawing/2014/main" val="3023743563"/>
                  </a:ext>
                </a:extLst>
              </a:tr>
              <a:tr h="1420076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Planeación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7 actividades definidas en ProjectLibre con dependencias y recursos asignados; seguimiento en Trello por etapas.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5 actividades principales organizadas en cronograma; fechas de entrega y responsables establecidos para cada fase.</a:t>
                      </a:r>
                    </a:p>
                  </a:txBody>
                  <a:tcPr marL="3142" marR="3142" marT="3142" marB="314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7 actividades con calendario de producción; se registró el cambio de duración de 6 a 8 días en la etapa de elaboración.</a:t>
                      </a:r>
                    </a:p>
                  </a:txBody>
                  <a:tcPr marL="3142" marR="3142" marT="3142" marB="3142" anchor="ctr"/>
                </a:tc>
                <a:extLst>
                  <a:ext uri="{0D108BD9-81ED-4DB2-BD59-A6C34878D82A}">
                    <a16:rowId xmlns:a16="http://schemas.microsoft.com/office/drawing/2014/main" val="3237390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198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F41B2CD-30A0-419E-B0FA-132121779AFE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14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2DA65F-51BF-475B-8692-A2AEE907624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Organización y seguimiento de las actividades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396F434-0BA6-4AEB-BE8A-87361CAC7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2529"/>
              </p:ext>
            </p:extLst>
          </p:nvPr>
        </p:nvGraphicFramePr>
        <p:xfrm>
          <a:off x="685800" y="1825625"/>
          <a:ext cx="10530068" cy="443353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632517">
                  <a:extLst>
                    <a:ext uri="{9D8B030D-6E8A-4147-A177-3AD203B41FA5}">
                      <a16:colId xmlns:a16="http://schemas.microsoft.com/office/drawing/2014/main" val="3242834070"/>
                    </a:ext>
                  </a:extLst>
                </a:gridCol>
                <a:gridCol w="2632517">
                  <a:extLst>
                    <a:ext uri="{9D8B030D-6E8A-4147-A177-3AD203B41FA5}">
                      <a16:colId xmlns:a16="http://schemas.microsoft.com/office/drawing/2014/main" val="2154759149"/>
                    </a:ext>
                  </a:extLst>
                </a:gridCol>
                <a:gridCol w="2632517">
                  <a:extLst>
                    <a:ext uri="{9D8B030D-6E8A-4147-A177-3AD203B41FA5}">
                      <a16:colId xmlns:a16="http://schemas.microsoft.com/office/drawing/2014/main" val="833386423"/>
                    </a:ext>
                  </a:extLst>
                </a:gridCol>
                <a:gridCol w="2632517">
                  <a:extLst>
                    <a:ext uri="{9D8B030D-6E8A-4147-A177-3AD203B41FA5}">
                      <a16:colId xmlns:a16="http://schemas.microsoft.com/office/drawing/2014/main" val="1171635146"/>
                    </a:ext>
                  </a:extLst>
                </a:gridCol>
              </a:tblGrid>
              <a:tr h="199244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Aspecto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Banco Bansiso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Fábrica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Panadería</a:t>
                      </a:r>
                    </a:p>
                  </a:txBody>
                  <a:tcPr marL="3558" marR="3558" marT="3558" marB="3558" anchor="ctr"/>
                </a:tc>
                <a:extLst>
                  <a:ext uri="{0D108BD9-81ED-4DB2-BD59-A6C34878D82A}">
                    <a16:rowId xmlns:a16="http://schemas.microsoft.com/office/drawing/2014/main" val="3050908508"/>
                  </a:ext>
                </a:extLst>
              </a:tr>
              <a:tr h="1239936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Planificación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err="1"/>
                        <a:t>ProjectLibre</a:t>
                      </a:r>
                      <a:r>
                        <a:rPr lang="es-ES" dirty="0"/>
                        <a:t> cronograma con 7 actividades, fechas, dependencias y recursos asignados.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ProjectLibre</a:t>
                      </a:r>
                      <a:r>
                        <a:rPr lang="es-MX" dirty="0"/>
                        <a:t>  estructura de 5 etapas productivas con plazos y responsables definidos.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 err="1"/>
                        <a:t>ProjectLibre</a:t>
                      </a:r>
                      <a:r>
                        <a:rPr lang="es-MX" dirty="0"/>
                        <a:t>  calendario de 7 actividades con fechas de inicio y cierre ajustadas.</a:t>
                      </a:r>
                    </a:p>
                  </a:txBody>
                  <a:tcPr marL="3558" marR="3558" marT="3558" marB="3558" anchor="ctr"/>
                </a:tc>
                <a:extLst>
                  <a:ext uri="{0D108BD9-81ED-4DB2-BD59-A6C34878D82A}">
                    <a16:rowId xmlns:a16="http://schemas.microsoft.com/office/drawing/2014/main" val="3031990181"/>
                  </a:ext>
                </a:extLst>
              </a:tr>
              <a:tr h="1400042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Seguimiento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Tarjetas en Trello organizadas por etapas; historias de usuario en Jira vinculadas a cada tarea.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Tablero Trello con avance por fase: planificación → producción → entrega; registros de desviaciones.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Trello con control diario; se documenta el cambio de duración en la etapa de elaboración.</a:t>
                      </a:r>
                    </a:p>
                  </a:txBody>
                  <a:tcPr marL="3558" marR="3558" marT="3558" marB="3558" anchor="ctr"/>
                </a:tc>
                <a:extLst>
                  <a:ext uri="{0D108BD9-81ED-4DB2-BD59-A6C34878D82A}">
                    <a16:rowId xmlns:a16="http://schemas.microsoft.com/office/drawing/2014/main" val="279793005"/>
                  </a:ext>
                </a:extLst>
              </a:tr>
              <a:tr h="1512117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Situación relevante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Simulación de escenarios de afluencia en desarrollo; pruebas de asignación de cajeros pendientes de validar.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Avance parcial en la ejecución; revisión de calidad y comparación de tiempos reales vs. planeados en proceso.</a:t>
                      </a:r>
                    </a:p>
                  </a:txBody>
                  <a:tcPr marL="3558" marR="3558" marT="3558" marB="35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Ajuste registrado: producción pasó de 6 a 8 días; impacto en tareas siguientes en evaluación.</a:t>
                      </a:r>
                    </a:p>
                  </a:txBody>
                  <a:tcPr marL="3558" marR="3558" marT="3558" marB="3558" anchor="ctr"/>
                </a:tc>
                <a:extLst>
                  <a:ext uri="{0D108BD9-81ED-4DB2-BD59-A6C34878D82A}">
                    <a16:rowId xmlns:a16="http://schemas.microsoft.com/office/drawing/2014/main" val="992064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AF6BA5F-2BC4-44E8-A757-DD5ABDAD689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15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9070A6-7877-47CD-AA4C-C210451C9693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Requisitos para concluir cada caso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F9AC003-16DD-45DD-AA88-0756F5BF5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024162"/>
              </p:ext>
            </p:extLst>
          </p:nvPr>
        </p:nvGraphicFramePr>
        <p:xfrm>
          <a:off x="685800" y="1528172"/>
          <a:ext cx="10763248" cy="46874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690812">
                  <a:extLst>
                    <a:ext uri="{9D8B030D-6E8A-4147-A177-3AD203B41FA5}">
                      <a16:colId xmlns:a16="http://schemas.microsoft.com/office/drawing/2014/main" val="3139904547"/>
                    </a:ext>
                  </a:extLst>
                </a:gridCol>
                <a:gridCol w="2690812">
                  <a:extLst>
                    <a:ext uri="{9D8B030D-6E8A-4147-A177-3AD203B41FA5}">
                      <a16:colId xmlns:a16="http://schemas.microsoft.com/office/drawing/2014/main" val="3467987347"/>
                    </a:ext>
                  </a:extLst>
                </a:gridCol>
                <a:gridCol w="2690812">
                  <a:extLst>
                    <a:ext uri="{9D8B030D-6E8A-4147-A177-3AD203B41FA5}">
                      <a16:colId xmlns:a16="http://schemas.microsoft.com/office/drawing/2014/main" val="2338875255"/>
                    </a:ext>
                  </a:extLst>
                </a:gridCol>
                <a:gridCol w="2690812">
                  <a:extLst>
                    <a:ext uri="{9D8B030D-6E8A-4147-A177-3AD203B41FA5}">
                      <a16:colId xmlns:a16="http://schemas.microsoft.com/office/drawing/2014/main" val="1454924932"/>
                    </a:ext>
                  </a:extLst>
                </a:gridCol>
              </a:tblGrid>
              <a:tr h="168284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Aspecto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Banco Bansiso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Fábrica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Panadería</a:t>
                      </a:r>
                    </a:p>
                  </a:txBody>
                  <a:tcPr marL="3005" marR="3005" marT="3005" marB="3005" anchor="ctr"/>
                </a:tc>
                <a:extLst>
                  <a:ext uri="{0D108BD9-81ED-4DB2-BD59-A6C34878D82A}">
                    <a16:rowId xmlns:a16="http://schemas.microsoft.com/office/drawing/2014/main" val="3064243774"/>
                  </a:ext>
                </a:extLst>
              </a:tr>
              <a:tr h="1331245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Aprendizaje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La optimización del servicio requiere analizar cómo la afluencia modifica los tiempos y la asignación de personal.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La planificación de la producción debe prever holguras ante retrasos en inventarios o en la elaboración.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Los cambios de duración en una etapa afectan las siguientes; es esencial revisar dependencias y ajustar fechas.</a:t>
                      </a:r>
                    </a:p>
                  </a:txBody>
                  <a:tcPr marL="3005" marR="3005" marT="3005" marB="3005" anchor="ctr"/>
                </a:tc>
                <a:extLst>
                  <a:ext uri="{0D108BD9-81ED-4DB2-BD59-A6C34878D82A}">
                    <a16:rowId xmlns:a16="http://schemas.microsoft.com/office/drawing/2014/main" val="2882671068"/>
                  </a:ext>
                </a:extLst>
              </a:tr>
              <a:tr h="1344768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Pendientes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Obtener resultados de las simulaciones con distintos volúmenes de clientes y explicar las diferencias detectadas.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Concluir la revisión de calidad, comparar tiempos reales con los planeados y documentar desviaciones.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Evaluar el impacto del cambio de duración de producción y verificar que el cronograma y el tablero coincidan.</a:t>
                      </a:r>
                    </a:p>
                  </a:txBody>
                  <a:tcPr marL="3005" marR="3005" marT="3005" marB="3005" anchor="ctr"/>
                </a:tc>
                <a:extLst>
                  <a:ext uri="{0D108BD9-81ED-4DB2-BD59-A6C34878D82A}">
                    <a16:rowId xmlns:a16="http://schemas.microsoft.com/office/drawing/2014/main" val="2787288995"/>
                  </a:ext>
                </a:extLst>
              </a:tr>
              <a:tr h="1507041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Condición de cierre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Respaldar el modelo de atención con pruebas validadas y entregar un informe final con recomendaciones de mejora.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Confirmar que los productos y plazos cumplen los estándares; entregar expediente completo con resultados y lecciones.</a:t>
                      </a:r>
                    </a:p>
                  </a:txBody>
                  <a:tcPr marL="3005" marR="3005" marT="3005" marB="300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Formalizar el cierre una vez conciliados cronograma, tablero e informes; conservar versiones con todos los cambios registrados.</a:t>
                      </a:r>
                    </a:p>
                  </a:txBody>
                  <a:tcPr marL="3005" marR="3005" marT="3005" marB="3005" anchor="ctr"/>
                </a:tc>
                <a:extLst>
                  <a:ext uri="{0D108BD9-81ED-4DB2-BD59-A6C34878D82A}">
                    <a16:rowId xmlns:a16="http://schemas.microsoft.com/office/drawing/2014/main" val="3917079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471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56410C4-1C3E-4CE8-84A7-0D9A623F1E7D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</a:t>
            </a: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6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0423BC-D3E6-409D-B940-50FCEC1F5133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Contenido de la entrega final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6844AF9-A612-456A-9DB9-C90F21A0ACFE}"/>
              </a:ext>
            </a:extLst>
          </p:cNvPr>
          <p:cNvSpPr txBox="1"/>
          <p:nvPr/>
        </p:nvSpPr>
        <p:spPr>
          <a:xfrm>
            <a:off x="685800" y="1166842"/>
            <a:ext cx="109347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b="1" dirty="0">
                <a:solidFill>
                  <a:srgbClr val="000000"/>
                </a:solidFill>
                <a:effectLst/>
                <a:latin typeface="ui-sans-serif"/>
              </a:rPr>
              <a:t>Caso por resolver: Organizar un paquete de entrega que permita revisar y utilizar el trabajo realizado en el Banco, la Fábrica y la Panadería.</a:t>
            </a:r>
          </a:p>
          <a:p>
            <a:pPr algn="l"/>
            <a:endParaRPr lang="es-MX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Descripción de la entrega</a:t>
            </a:r>
          </a:p>
          <a:p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Identificar y detallar los objetivos cumplidos, los productos generados y los requisitos validados en cada proyecto: el modelo de atención bancaria, el sistema de producción y distribución de la fábrica, y el ciclo de elaboración y ventas de la panadería.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Archivos utilizables</a:t>
            </a:r>
          </a:p>
          <a:p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Incluir los cronogramas de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con sus diagramas de Gantt, los tableros de Trello con el avance por etapas, y las simulaciones y modelos operativos en la versión final que recibe el responsable.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Sustento del análisis</a:t>
            </a:r>
          </a:p>
          <a:p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Conservar las pruebas realizadas, las incidencias detectadas —como el cambio de duración en la panadería— y los resultados comparados entre los escenarios planteados y lo realmente obtenido en cada iniciativa.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Continuidad</a:t>
            </a:r>
          </a:p>
          <a:p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Incorporar instrucciones para futuros trabajos, las decisiones de cambio registradas, los puntos pendientes de cada proyecto y las recomendaciones que sirvan como base para nuevas planificaciones en servicios, producción y comercio.</a:t>
            </a:r>
          </a:p>
        </p:txBody>
      </p:sp>
    </p:spTree>
    <p:extLst>
      <p:ext uri="{BB962C8B-B14F-4D97-AF65-F5344CB8AC3E}">
        <p14:creationId xmlns:p14="http://schemas.microsoft.com/office/powerpoint/2010/main" val="132647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37E5446-F62F-4E26-9C60-F98C4D611376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17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81C622B-436F-49E8-9919-9CFC21C1CB4B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Validación de la entrega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7950B29-D184-402F-96BF-B0E60CBE3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512324"/>
              </p:ext>
            </p:extLst>
          </p:nvPr>
        </p:nvGraphicFramePr>
        <p:xfrm>
          <a:off x="891250" y="1409700"/>
          <a:ext cx="9919504" cy="453488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959752">
                  <a:extLst>
                    <a:ext uri="{9D8B030D-6E8A-4147-A177-3AD203B41FA5}">
                      <a16:colId xmlns:a16="http://schemas.microsoft.com/office/drawing/2014/main" val="2860926736"/>
                    </a:ext>
                  </a:extLst>
                </a:gridCol>
                <a:gridCol w="4959752">
                  <a:extLst>
                    <a:ext uri="{9D8B030D-6E8A-4147-A177-3AD203B41FA5}">
                      <a16:colId xmlns:a16="http://schemas.microsoft.com/office/drawing/2014/main" val="892557377"/>
                    </a:ext>
                  </a:extLst>
                </a:gridCol>
              </a:tblGrid>
              <a:tr h="11662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Elemento</a:t>
                      </a:r>
                    </a:p>
                  </a:txBody>
                  <a:tcPr marL="1678" marR="1678" marT="1678" marB="167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Contenido mínimo</a:t>
                      </a:r>
                    </a:p>
                  </a:txBody>
                  <a:tcPr marL="1678" marR="1678" marT="1678" marB="1678" anchor="ctr"/>
                </a:tc>
                <a:extLst>
                  <a:ext uri="{0D108BD9-81ED-4DB2-BD59-A6C34878D82A}">
                    <a16:rowId xmlns:a16="http://schemas.microsoft.com/office/drawing/2014/main" val="4154983581"/>
                  </a:ext>
                </a:extLst>
              </a:tr>
              <a:tr h="118138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Entrega</a:t>
                      </a:r>
                    </a:p>
                  </a:txBody>
                  <a:tcPr marL="1678" marR="1678" marT="1678" marB="167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Nombre del proyecto (Banco Bansiso / Fábrica / Panadería), fecha de cierre, versión del expediente y listado de entregables revisados: cronograma, tablero, simulaciones e informes.</a:t>
                      </a:r>
                    </a:p>
                  </a:txBody>
                  <a:tcPr marL="1678" marR="1678" marT="1678" marB="1678" anchor="ctr"/>
                </a:tc>
                <a:extLst>
                  <a:ext uri="{0D108BD9-81ED-4DB2-BD59-A6C34878D82A}">
                    <a16:rowId xmlns:a16="http://schemas.microsoft.com/office/drawing/2014/main" val="2036023138"/>
                  </a:ext>
                </a:extLst>
              </a:tr>
              <a:tr h="112852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Verificación</a:t>
                      </a:r>
                    </a:p>
                  </a:txBody>
                  <a:tcPr marL="1678" marR="1678" marT="1678" marB="167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Criterios acordados al inicio, evidencia revisada en cada caso tiempos de atención, volúmenes de producción, ciclo de elaboración y resultado obtenido tras la validación.</a:t>
                      </a:r>
                    </a:p>
                  </a:txBody>
                  <a:tcPr marL="1678" marR="1678" marT="1678" marB="1678" anchor="ctr"/>
                </a:tc>
                <a:extLst>
                  <a:ext uri="{0D108BD9-81ED-4DB2-BD59-A6C34878D82A}">
                    <a16:rowId xmlns:a16="http://schemas.microsoft.com/office/drawing/2014/main" val="4001079113"/>
                  </a:ext>
                </a:extLst>
              </a:tr>
              <a:tr h="1120977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Pendientes</a:t>
                      </a:r>
                    </a:p>
                  </a:txBody>
                  <a:tcPr marL="1678" marR="1678" marT="1678" marB="167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Incidencias abiertas cambios de duración, desviaciones en fechas, pruebas en proceso, restricciones identificadas y acuerdos establecidos para su atención posterior.</a:t>
                      </a:r>
                    </a:p>
                  </a:txBody>
                  <a:tcPr marL="1678" marR="1678" marT="1678" marB="1678" anchor="ctr"/>
                </a:tc>
                <a:extLst>
                  <a:ext uri="{0D108BD9-81ED-4DB2-BD59-A6C34878D82A}">
                    <a16:rowId xmlns:a16="http://schemas.microsoft.com/office/drawing/2014/main" val="181113842"/>
                  </a:ext>
                </a:extLst>
              </a:tr>
              <a:tr h="803814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Decisión</a:t>
                      </a:r>
                    </a:p>
                  </a:txBody>
                  <a:tcPr marL="1678" marR="1678" marT="1678" marB="167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Aceptación, aceptación con condiciones o rechazo del proyecto, con nombre del responsable que valida y fecha de resolución.</a:t>
                      </a:r>
                    </a:p>
                  </a:txBody>
                  <a:tcPr marL="1678" marR="1678" marT="1678" marB="1678" anchor="ctr"/>
                </a:tc>
                <a:extLst>
                  <a:ext uri="{0D108BD9-81ED-4DB2-BD59-A6C34878D82A}">
                    <a16:rowId xmlns:a16="http://schemas.microsoft.com/office/drawing/2014/main" val="1558063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483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AA6F70-7B72-4B85-B76F-4600D307B4E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18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033C2F-76C8-4FFA-A95D-E09FB281A77B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Ruta de verificación y cierre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BA6584B-0D68-49C0-93AB-7B828AB5B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934146"/>
              </p:ext>
            </p:extLst>
          </p:nvPr>
        </p:nvGraphicFramePr>
        <p:xfrm>
          <a:off x="742950" y="1409700"/>
          <a:ext cx="10877550" cy="474411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25850">
                  <a:extLst>
                    <a:ext uri="{9D8B030D-6E8A-4147-A177-3AD203B41FA5}">
                      <a16:colId xmlns:a16="http://schemas.microsoft.com/office/drawing/2014/main" val="815988762"/>
                    </a:ext>
                  </a:extLst>
                </a:gridCol>
                <a:gridCol w="3625850">
                  <a:extLst>
                    <a:ext uri="{9D8B030D-6E8A-4147-A177-3AD203B41FA5}">
                      <a16:colId xmlns:a16="http://schemas.microsoft.com/office/drawing/2014/main" val="3397886295"/>
                    </a:ext>
                  </a:extLst>
                </a:gridCol>
                <a:gridCol w="3625850">
                  <a:extLst>
                    <a:ext uri="{9D8B030D-6E8A-4147-A177-3AD203B41FA5}">
                      <a16:colId xmlns:a16="http://schemas.microsoft.com/office/drawing/2014/main" val="1941718039"/>
                    </a:ext>
                  </a:extLst>
                </a:gridCol>
              </a:tblGrid>
              <a:tr h="79558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Paso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Actividad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Producto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735432520"/>
                  </a:ext>
                </a:extLst>
              </a:tr>
              <a:tr h="652373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1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Verificar el alcance y los requisitos del Banco, la Fábrica y la Panadería según lo planeado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Lista de cumplimiento por proyecto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833911198"/>
                  </a:ext>
                </a:extLst>
              </a:tr>
              <a:tr h="635526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2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Ejecutar y revisar las pruebas de atención, producción y elaboración en cada iniciativa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Resultados, simulaciones y evidencias recopiladas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2586179618"/>
                  </a:ext>
                </a:extLst>
              </a:tr>
              <a:tr h="745034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3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 dirty="0"/>
                        <a:t>Calcular indicadores de desempeño y explicar desviaciones como el cambio de duración en la Panadería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Evaluación final con comparativa real vs. planeado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508716525"/>
                  </a:ext>
                </a:extLst>
              </a:tr>
              <a:tr h="593407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4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Registrar problemas detectados y aprendizajes en cada etapa de los tres proyectos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Lecciones aprendidas y recomendaciones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1440649921"/>
                  </a:ext>
                </a:extLst>
              </a:tr>
              <a:tr h="618678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5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Integrar cronogramas, tableros, informes y archivos de simulación en un solo paquete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Expediente final completo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1108873918"/>
                  </a:ext>
                </a:extLst>
              </a:tr>
              <a:tr h="517593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6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Entregar el trabajo y obtener la decisión de aceptación del responsable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Registro de aceptación o condicionamientos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116064355"/>
                  </a:ext>
                </a:extLst>
              </a:tr>
              <a:tr h="509169">
                <a:tc>
                  <a:txBody>
                    <a:bodyPr/>
                    <a:lstStyle/>
                    <a:p>
                      <a:pPr algn="l"/>
                      <a:r>
                        <a:rPr lang="es-ES" sz="1600"/>
                        <a:t>7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/>
                        <a:t>Formalizar el cierre de cada proyecto y archivar toda la documentación</a:t>
                      </a:r>
                    </a:p>
                  </a:txBody>
                  <a:tcPr marL="1872" marR="1872" marT="1872" marB="18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 dirty="0"/>
                        <a:t>Acta de cierre y archivo disponible para consulta</a:t>
                      </a:r>
                    </a:p>
                  </a:txBody>
                  <a:tcPr marL="1872" marR="1872" marT="1872" marB="1872" anchor="ctr"/>
                </a:tc>
                <a:extLst>
                  <a:ext uri="{0D108BD9-81ED-4DB2-BD59-A6C34878D82A}">
                    <a16:rowId xmlns:a16="http://schemas.microsoft.com/office/drawing/2014/main" val="1060781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751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CCE6323-2BC3-45EC-95DC-49997E6F8B8A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19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24B17B-F178-47B6-9969-930D5CA1C80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Comparación</a:t>
            </a:r>
            <a:r>
              <a:rPr sz="3150" b="1" dirty="0">
                <a:solidFill>
                  <a:srgbClr val="4D2140"/>
                </a:solidFill>
                <a:latin typeface="Aptos"/>
                <a:ea typeface="Aptos"/>
                <a:cs typeface="Aptos"/>
              </a:rPr>
              <a:t> final de los </a:t>
            </a: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tres</a:t>
            </a:r>
            <a:r>
              <a:rPr sz="3150" b="1" dirty="0">
                <a:solidFill>
                  <a:srgbClr val="4D2140"/>
                </a:solidFill>
                <a:latin typeface="Aptos"/>
                <a:ea typeface="Aptos"/>
                <a:cs typeface="Aptos"/>
              </a:rPr>
              <a:t> </a:t>
            </a:r>
            <a:r>
              <a:rPr sz="3150" b="1" dirty="0" err="1">
                <a:solidFill>
                  <a:srgbClr val="4D2140"/>
                </a:solidFill>
                <a:latin typeface="Aptos"/>
                <a:ea typeface="Aptos"/>
                <a:cs typeface="Aptos"/>
              </a:rPr>
              <a:t>proyectos</a:t>
            </a:r>
            <a:endParaRPr sz="3150" b="1" dirty="0">
              <a:solidFill>
                <a:srgbClr val="4D2140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3A5AC5C-702F-445C-AFDD-FAC38126E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014253"/>
              </p:ext>
            </p:extLst>
          </p:nvPr>
        </p:nvGraphicFramePr>
        <p:xfrm>
          <a:off x="957201" y="1501534"/>
          <a:ext cx="10220448" cy="450303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55112">
                  <a:extLst>
                    <a:ext uri="{9D8B030D-6E8A-4147-A177-3AD203B41FA5}">
                      <a16:colId xmlns:a16="http://schemas.microsoft.com/office/drawing/2014/main" val="4217365702"/>
                    </a:ext>
                  </a:extLst>
                </a:gridCol>
                <a:gridCol w="2555112">
                  <a:extLst>
                    <a:ext uri="{9D8B030D-6E8A-4147-A177-3AD203B41FA5}">
                      <a16:colId xmlns:a16="http://schemas.microsoft.com/office/drawing/2014/main" val="1026937495"/>
                    </a:ext>
                  </a:extLst>
                </a:gridCol>
                <a:gridCol w="2555112">
                  <a:extLst>
                    <a:ext uri="{9D8B030D-6E8A-4147-A177-3AD203B41FA5}">
                      <a16:colId xmlns:a16="http://schemas.microsoft.com/office/drawing/2014/main" val="560672818"/>
                    </a:ext>
                  </a:extLst>
                </a:gridCol>
                <a:gridCol w="2555112">
                  <a:extLst>
                    <a:ext uri="{9D8B030D-6E8A-4147-A177-3AD203B41FA5}">
                      <a16:colId xmlns:a16="http://schemas.microsoft.com/office/drawing/2014/main" val="1626599165"/>
                    </a:ext>
                  </a:extLst>
                </a:gridCol>
              </a:tblGrid>
              <a:tr h="19462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Aspecto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Panadería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Fábrica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Banco Bansiso</a:t>
                      </a:r>
                    </a:p>
                  </a:txBody>
                  <a:tcPr marL="3476" marR="3476" marT="3476" marB="3476" anchor="ctr"/>
                </a:tc>
                <a:extLst>
                  <a:ext uri="{0D108BD9-81ED-4DB2-BD59-A6C34878D82A}">
                    <a16:rowId xmlns:a16="http://schemas.microsoft.com/office/drawing/2014/main" val="1213941338"/>
                  </a:ext>
                </a:extLst>
              </a:tr>
              <a:tr h="91405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Objetivo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Evaluar ciclo completo: producción → inventario → venta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Verificar operaciones de retiro y consulta entre entidades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Medir rendimiento del servicio con distintas afluencia de clientes</a:t>
                      </a:r>
                    </a:p>
                  </a:txBody>
                  <a:tcPr marL="3476" marR="3476" marT="3476" marB="3476" anchor="ctr"/>
                </a:tc>
                <a:extLst>
                  <a:ext uri="{0D108BD9-81ED-4DB2-BD59-A6C34878D82A}">
                    <a16:rowId xmlns:a16="http://schemas.microsoft.com/office/drawing/2014/main" val="3768601487"/>
                  </a:ext>
                </a:extLst>
              </a:tr>
              <a:tr h="1039177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Situación actual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Duración ajustada a 8 días; cambio registrado y pendiente de validación final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Modelo en corrección; 45 % de avance; meta 31/10/2026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Plan listo; pruebas en ejecución; resultados por formalizar</a:t>
                      </a:r>
                    </a:p>
                  </a:txBody>
                  <a:tcPr marL="3476" marR="3476" marT="3476" marB="3476" anchor="ctr"/>
                </a:tc>
                <a:extLst>
                  <a:ext uri="{0D108BD9-81ED-4DB2-BD59-A6C34878D82A}">
                    <a16:rowId xmlns:a16="http://schemas.microsoft.com/office/drawing/2014/main" val="1737530463"/>
                  </a:ext>
                </a:extLst>
              </a:tr>
              <a:tr h="1007898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Evidencias disponibles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Cronograma, historias de usuario, cambio registrado, capturas de tablero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/>
                        <a:t>Seguimiento de versiones del diagrama, avance documentado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Configuraciones de escenarios, planificación, registros de trabajo</a:t>
                      </a:r>
                    </a:p>
                  </a:txBody>
                  <a:tcPr marL="3476" marR="3476" marT="3476" marB="3476" anchor="ctr"/>
                </a:tc>
                <a:extLst>
                  <a:ext uri="{0D108BD9-81ED-4DB2-BD59-A6C34878D82A}">
                    <a16:rowId xmlns:a16="http://schemas.microsoft.com/office/drawing/2014/main" val="1791220199"/>
                  </a:ext>
                </a:extLst>
              </a:tr>
              <a:tr h="1195575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Falta para cerrar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Validar resultados de simulación, integrar expediente completo, obtener aceptación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Finalizar modelo, probar operaciones, actualizar cronograma y entregar documentación</a:t>
                      </a:r>
                    </a:p>
                  </a:txBody>
                  <a:tcPr marL="3476" marR="3476" marT="3476" marB="34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/>
                        <a:t>Completar pruebas, analizar diferencias entre escenarios, redactar informe final</a:t>
                      </a:r>
                    </a:p>
                  </a:txBody>
                  <a:tcPr marL="3476" marR="3476" marT="3476" marB="3476" anchor="ctr"/>
                </a:tc>
                <a:extLst>
                  <a:ext uri="{0D108BD9-81ED-4DB2-BD59-A6C34878D82A}">
                    <a16:rowId xmlns:a16="http://schemas.microsoft.com/office/drawing/2014/main" val="568718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90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A40048-EE86-44C7-A175-4EC5B4982731}"/>
              </a:ext>
            </a:extLst>
          </p:cNvPr>
          <p:cNvSpPr>
            <a:spLocks noGrp="1"/>
          </p:cNvSpPr>
          <p:nvPr/>
        </p:nvSpPr>
        <p:spPr>
          <a:xfrm>
            <a:off x="111633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1D2BA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F1D2BA"/>
                </a:solidFill>
                <a:latin typeface="Aptos"/>
                <a:ea typeface="Aptos"/>
                <a:cs typeface="Aptos"/>
              </a:rPr>
              <a:t>20</a:t>
            </a:r>
            <a:endParaRPr sz="1350" b="0" dirty="0">
              <a:solidFill>
                <a:srgbClr val="F1D2B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58E602-6AC1-4456-A63C-B3A91F23DEB7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71A107-DD82-4C5D-A87F-3932E9E2367B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conclusión de un proyecto se fundamenta en entregables comprobados y decisiones registradas.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4CCE82-8EB6-4C7D-ACB8-C0C1119BB164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Las medidas de desempeño permiten explicar los avances y los pendientes cuando sus datos tienen respaldo.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E7FE89-CE25-47BD-B540-1E3F32F28CCF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Conservar aprendizajes y documentos de entrega permite aprovechar la experiencia y continuar el trabajo.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64BF025-8A65-49CE-BC08-E8CCB09AC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341037"/>
              </p:ext>
            </p:extLst>
          </p:nvPr>
        </p:nvGraphicFramePr>
        <p:xfrm>
          <a:off x="1071624" y="1262158"/>
          <a:ext cx="9977376" cy="496233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94344">
                  <a:extLst>
                    <a:ext uri="{9D8B030D-6E8A-4147-A177-3AD203B41FA5}">
                      <a16:colId xmlns:a16="http://schemas.microsoft.com/office/drawing/2014/main" val="2947010951"/>
                    </a:ext>
                  </a:extLst>
                </a:gridCol>
                <a:gridCol w="2494344">
                  <a:extLst>
                    <a:ext uri="{9D8B030D-6E8A-4147-A177-3AD203B41FA5}">
                      <a16:colId xmlns:a16="http://schemas.microsoft.com/office/drawing/2014/main" val="3950594120"/>
                    </a:ext>
                  </a:extLst>
                </a:gridCol>
                <a:gridCol w="2494344">
                  <a:extLst>
                    <a:ext uri="{9D8B030D-6E8A-4147-A177-3AD203B41FA5}">
                      <a16:colId xmlns:a16="http://schemas.microsoft.com/office/drawing/2014/main" val="2812659830"/>
                    </a:ext>
                  </a:extLst>
                </a:gridCol>
                <a:gridCol w="2494344">
                  <a:extLst>
                    <a:ext uri="{9D8B030D-6E8A-4147-A177-3AD203B41FA5}">
                      <a16:colId xmlns:a16="http://schemas.microsoft.com/office/drawing/2014/main" val="978020833"/>
                    </a:ext>
                  </a:extLst>
                </a:gridCol>
              </a:tblGrid>
              <a:tr h="172026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Aspecto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Panadería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Fábrica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Banco Bansiso</a:t>
                      </a:r>
                    </a:p>
                  </a:txBody>
                  <a:tcPr marL="3072" marR="3072" marT="3072" marB="3072" anchor="ctr"/>
                </a:tc>
                <a:extLst>
                  <a:ext uri="{0D108BD9-81ED-4DB2-BD59-A6C34878D82A}">
                    <a16:rowId xmlns:a16="http://schemas.microsoft.com/office/drawing/2014/main" val="4241891727"/>
                  </a:ext>
                </a:extLst>
              </a:tr>
              <a:tr h="1443790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Aprendizaje clave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Cambiar la duración de una tarea afecta a todas las que dependen de ella; se debe revisar el impacto completo antes de aprobar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Un modelo debe verificarse paso a paso; cualquier ajuste requiere probar que no se rompan las conexiones del proceso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Un solo escenario no basta; comparar distintas configuraciones permite evaluar el comportamiento real del servicio</a:t>
                      </a:r>
                    </a:p>
                  </a:txBody>
                  <a:tcPr marL="3072" marR="3072" marT="3072" marB="3072" anchor="ctr"/>
                </a:tc>
                <a:extLst>
                  <a:ext uri="{0D108BD9-81ED-4DB2-BD59-A6C34878D82A}">
                    <a16:rowId xmlns:a16="http://schemas.microsoft.com/office/drawing/2014/main" val="1298773641"/>
                  </a:ext>
                </a:extLst>
              </a:tr>
              <a:tr h="1416143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Pendientes principales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Validar que las etapas reprogramadas funcionen correctamente; reunir todas las capturas y resultados en el expediente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Terminar correcciones, probar el flujo completo de retiros y consultas, actualizar avance y documentar pruebas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Ejecutar simulaciones finales, registrar tiempos de espera y atención, redactar análisis comparativo</a:t>
                      </a:r>
                    </a:p>
                  </a:txBody>
                  <a:tcPr marL="3072" marR="3072" marT="3072" marB="3072" anchor="ctr"/>
                </a:tc>
                <a:extLst>
                  <a:ext uri="{0D108BD9-81ED-4DB2-BD59-A6C34878D82A}">
                    <a16:rowId xmlns:a16="http://schemas.microsoft.com/office/drawing/2014/main" val="1654432492"/>
                  </a:ext>
                </a:extLst>
              </a:tr>
              <a:tr h="1319379">
                <a:tc>
                  <a:txBody>
                    <a:bodyPr/>
                    <a:lstStyle/>
                    <a:p>
                      <a:pPr algn="l"/>
                      <a:r>
                        <a:rPr lang="es-ES"/>
                        <a:t>Condición de cierre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Entregar cronograma final, resultados de simulación validados y expediente completo con evidencias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/>
                        <a:t>Presentar diagrama corregido, pruebas funcionando y confirmar cumplimiento de la fecha meta</a:t>
                      </a:r>
                    </a:p>
                  </a:txBody>
                  <a:tcPr marL="3072" marR="3072" marT="3072" marB="30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Respaldar cada escenario con datos reales, entregar informe comparativo y obtener aprobación del responsable</a:t>
                      </a:r>
                    </a:p>
                  </a:txBody>
                  <a:tcPr marL="3072" marR="3072" marT="3072" marB="3072" anchor="ctr"/>
                </a:tc>
                <a:extLst>
                  <a:ext uri="{0D108BD9-81ED-4DB2-BD59-A6C34878D82A}">
                    <a16:rowId xmlns:a16="http://schemas.microsoft.com/office/drawing/2014/main" val="3662099257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ACE25BCF-8EC0-49E6-8815-50FFE44BDDB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lang="es-ES" dirty="0"/>
              <a:t>Requisitos para Concluir Cada Caso</a:t>
            </a:r>
            <a:endParaRPr sz="3150" b="1" dirty="0">
              <a:solidFill>
                <a:srgbClr val="4D214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95083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27D02-6D03-4628-8F09-FCC61E67B18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lang="es-ES" dirty="0"/>
              <a:t>Conclusión Final</a:t>
            </a:r>
            <a:endParaRPr sz="3150" b="1" dirty="0">
              <a:solidFill>
                <a:srgbClr val="4D214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CBC2F6-B160-4B88-BF2A-140C48070375}"/>
              </a:ext>
            </a:extLst>
          </p:cNvPr>
          <p:cNvSpPr txBox="1"/>
          <p:nvPr/>
        </p:nvSpPr>
        <p:spPr>
          <a:xfrm>
            <a:off x="685799" y="1409700"/>
            <a:ext cx="1094675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El cierre de un proyecto de Tecnologías de la Información no se limita a terminar las tareas programadas: se fundamenta en entregables comprobados, resultados verificables y decisiones registradas. En los tres casos trabajados Panadería, Fábrica y Banco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Bansiso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la planificación realizada con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y el seguimiento en Jira y Trello han servido de guía, pero la evaluación demuestra que solo la evidencia real de ejecución permite confirmar el cumplimiento de los objetivos planteados.</a:t>
            </a:r>
          </a:p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Cada proyecto ha mostrado aprendizajes particulares que se convierten en pautas para próximos trabajos: en la Panadería se constató que cualquier modificación de plazos repercute en las tareas dependientes y exige revisión integral antes de aprobarse; en la Fábrica se evidenció que un avance parcial no representa el estado global del proyecto y que la compatibilidad de los modelos debe probarse desde el inicio; y en el Banco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Bansiso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se confirmó que un solo escenario no basta para evaluar un servicio, siendo necesario comparar distintas condiciones para obtener resultados confiables.</a:t>
            </a:r>
          </a:p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La organización del expediente final, la recopilación de evidencias y la validación formal por parte del responsable son pasos indispensables para dar por concluido cada trabajo. Conservar estas lecciones aprendidas y documentar todo el proceso no solo permite formalizar la entrega, sino que también facilita la continuidad del trabajo y sirve como referencia sólida para futuras prácticas de gestión de proyectos.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600B9B-4B30-4DB7-BA90-B99179E0D20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9F5D44"/>
                </a:solidFill>
                <a:latin typeface="Aptos"/>
                <a:ea typeface="Aptos"/>
                <a:cs typeface="Aptos"/>
              </a:rPr>
              <a:t>21</a:t>
            </a:r>
            <a:endParaRPr sz="1350" b="0" dirty="0">
              <a:solidFill>
                <a:srgbClr val="9F5D4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601313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3250</Words>
  <Application>Microsoft Office PowerPoint</Application>
  <DocSecurity>0</DocSecurity>
  <PresentationFormat>Panorámica</PresentationFormat>
  <Paragraphs>292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Aptos</vt:lpstr>
      <vt:lpstr>Arial</vt:lpstr>
      <vt:lpstr>ui-sans-serif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joselopezmanuel200@gmail.com</cp:lastModifiedBy>
  <cp:revision>10</cp:revision>
  <dcterms:created xsi:type="dcterms:W3CDTF">2026-10-02T21:24:24Z</dcterms:created>
  <dcterms:modified xsi:type="dcterms:W3CDTF">2026-10-04T04:46:13Z</dcterms:modified>
</cp:coreProperties>
</file>