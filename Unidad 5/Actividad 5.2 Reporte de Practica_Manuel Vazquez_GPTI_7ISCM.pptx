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7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F9985D9-15AE-4055-A8F0-569687BA6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059" y="375251"/>
            <a:ext cx="2362200" cy="103992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206881A-6C96-4D1D-920F-668B259F1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730" y="253289"/>
            <a:ext cx="2143125" cy="1039927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EAE7366D-2690-4945-B0B2-88BAF96675B4}"/>
              </a:ext>
            </a:extLst>
          </p:cNvPr>
          <p:cNvSpPr txBox="1"/>
          <p:nvPr/>
        </p:nvSpPr>
        <p:spPr>
          <a:xfrm>
            <a:off x="2844800" y="2605896"/>
            <a:ext cx="61468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del docente: </a:t>
            </a:r>
          </a:p>
          <a:p>
            <a:pPr algn="ctr"/>
            <a:r>
              <a:rPr lang="es-MX" sz="1400" dirty="0"/>
              <a:t>Ing. Francisco Javier mingo Velázquez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Materia: </a:t>
            </a:r>
          </a:p>
          <a:p>
            <a:pPr algn="ctr"/>
            <a:r>
              <a:rPr lang="es-MX" sz="1400" dirty="0"/>
              <a:t>Gestión de proyectos de Ti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Carrera:</a:t>
            </a:r>
          </a:p>
          <a:p>
            <a:pPr algn="ctr"/>
            <a:r>
              <a:rPr lang="es-MX" sz="1400" dirty="0"/>
              <a:t>Ing. Sistemas computacionales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Modalidad:</a:t>
            </a:r>
          </a:p>
          <a:p>
            <a:pPr algn="ctr"/>
            <a:r>
              <a:rPr lang="es-MX" sz="1400" dirty="0"/>
              <a:t>Mixta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Num.control:</a:t>
            </a:r>
          </a:p>
          <a:p>
            <a:pPr algn="ctr"/>
            <a:r>
              <a:rPr lang="es-MX" sz="1400" dirty="0"/>
              <a:t>231260036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del alumno:</a:t>
            </a:r>
          </a:p>
          <a:p>
            <a:pPr algn="ctr"/>
            <a:r>
              <a:rPr lang="es-MX" sz="1400" dirty="0"/>
              <a:t>Jose Manuel Vazquez Lopez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Semestre:</a:t>
            </a:r>
          </a:p>
          <a:p>
            <a:pPr algn="ctr"/>
            <a:r>
              <a:rPr lang="es-MX" sz="1400" dirty="0"/>
              <a:t>Sexto semestre</a:t>
            </a:r>
          </a:p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Nombre del trabajo:</a:t>
            </a:r>
          </a:p>
          <a:p>
            <a:pPr algn="ctr"/>
            <a:r>
              <a:rPr lang="es-MX" sz="1400" dirty="0"/>
              <a:t>Actividad 5.2-REPORTE DE PRACTICA</a:t>
            </a:r>
          </a:p>
          <a:p>
            <a:pPr algn="ctr"/>
            <a:r>
              <a:rPr lang="es-MX" sz="1400" dirty="0"/>
              <a:t>Fecha:</a:t>
            </a:r>
          </a:p>
          <a:p>
            <a:pPr algn="ctr"/>
            <a:r>
              <a:rPr lang="es-MX" sz="1400" dirty="0"/>
              <a:t>14/02/2026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0D3D50E-B484-4329-BE43-426F7F26FBEA}"/>
              </a:ext>
            </a:extLst>
          </p:cNvPr>
          <p:cNvSpPr/>
          <p:nvPr/>
        </p:nvSpPr>
        <p:spPr>
          <a:xfrm>
            <a:off x="1246094" y="1635257"/>
            <a:ext cx="969981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dirty="0"/>
              <a:t>Instituto Tecnológico de Frontera Comalapa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A0D1779E-5E03-4F33-9AF3-3721CFD24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120" y="239842"/>
            <a:ext cx="3276602" cy="10257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rPr dirty="0" err="1"/>
              <a:t>Introducción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1166842"/>
            <a:ext cx="95097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La gestión de proyectos de Tecnologías de la Información consiste en planificar actividades, establecer duraciones, identificar dependencias y asignar recursos, con el propósito de mantener un control ordenado de todo el trabajo que se realiza.</a:t>
            </a:r>
          </a:p>
          <a:p>
            <a:pPr algn="just"/>
            <a:endParaRPr lang="es-MX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Este proceso se desarrolla en tres etapas principales: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Planificación: Se utilizó la herramienta </a:t>
            </a:r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para organizar cada una de las tareas y representar su orden y secuencia mediante un diagrama de Gantt, lo que permite visualizar claramente el desarrollo del proyecto.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Seguimiento: El cronograma elaborado facilita la revisión constante del orden de las actividades y permite detectar de forma temprana cualquier retraso que pudiera presentarse, para tomar medidas a tiempo.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Gestión de cambios: Se tiene en cuenta que cualquier modificación en una tarea puede afectar a todas aquellas actividades que dependen de ella, por lo que se debe evaluar con cuidado cada ajuste antes de aplicarlo.</a:t>
            </a:r>
          </a:p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Para esta práctica, se aplicó este mismo enfoque de gestión en tres escenarios distintos: un Banco, una Fábrica y una Panadería, demostrando que los principios de planificación, seguimiento y control de cambios son aplicables en diferentes tipos de organizaciones.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rPr dirty="0" err="1"/>
              <a:t>Justificación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1" y="1111067"/>
            <a:ext cx="11140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El desarrollo de esta práctica se justifica por la importancia que tienen las herramientas tecnológicas en la planificación, administración y seguimiento de proyectos en distintos sectores productivos y de servicios. La organización de un proyecto no se limita a enumerar tareas, sino a establecer plazos claros, identificar relaciones entre actividades, asignar responsables y prever ajustes ante situaciones que alteren lo planeado.</a:t>
            </a:r>
          </a:p>
          <a:p>
            <a:pPr algn="just"/>
            <a:endParaRPr lang="es-MX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just"/>
            <a:r>
              <a:rPr lang="es-MX" b="0" dirty="0" err="1">
                <a:solidFill>
                  <a:srgbClr val="000000"/>
                </a:solidFill>
                <a:effectLst/>
                <a:latin typeface="ui-sans-serif"/>
              </a:rPr>
              <a:t>ProjectLibre</a:t>
            </a:r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 permitió estructurar y representar de forma ordenada los cronogramas de tres iniciativas: el Proyecto Banco, orientado a la optimización de procesos financieros y atención al cliente; el Proyecto Fábrica, enfocado en la organización de la cadena de producción, inventarios y distribución; y el Proyecto Panadería, centrado en la planificación de la elaboración diaria, control de insumos y atención al público. En cada caso, los diagramas de Gantt facilitan la visualización de la secuencia de tareas, sus dependencias y los recursos asignados, permitiendo detectar con anticipación posibles retrasos y evaluar cómo un cambio en una actividad puede afectar las siguientes.</a:t>
            </a:r>
          </a:p>
          <a:p>
            <a:pPr algn="just"/>
            <a:r>
              <a:rPr lang="es-MX" b="0" dirty="0">
                <a:solidFill>
                  <a:srgbClr val="000000"/>
                </a:solidFill>
                <a:effectLst/>
                <a:latin typeface="ui-sans-serif"/>
              </a:rPr>
              <a:t>Asimismo, integrar el análisis de riesgos y el control de cambios fortalece la gestión de cada proyecto, ya que cualquier modificación debe ser evaluada y documentada considerando su impacto en el tiempo, los recursos y el alcance establecido. De esta manera, la práctica contribuye al desarrollo de competencias prácticas en la planificación, supervisión y toma de decisiones aplicadas a la gestión de proyectos en ámbitos de servicios, producción y negocios locales.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Objetivos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9601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32588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81912"/>
            <a:ext cx="9189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11680"/>
            <a:ext cx="91897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8303A"/>
                </a:solidFill>
                <a:latin typeface="Aptos"/>
              </a:defRPr>
            </a:pPr>
            <a:r>
              <a:t>Aplicar ProjectLibre para analizar la planificación, seguimiento, riesgos y control de cambios de tres proyectos.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4617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73152" cy="233172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22783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Objetivos específicos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657600"/>
            <a:ext cx="42062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A"/>
                </a:solidFill>
                <a:latin typeface="Aptos"/>
              </a:defRPr>
            </a:pPr>
            <a:r>
              <a:t>• Revisar actividades, duraciones y dependencias.</a:t>
            </a:r>
            <a:br/>
            <a:r>
              <a:t>• Interpretar el diagrama de Gantt.</a:t>
            </a:r>
            <a:br/>
            <a:r>
              <a:t>• Identificar riesgos que afecten la ejecución.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063240"/>
            <a:ext cx="4709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23560" y="3063240"/>
            <a:ext cx="73152" cy="233172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2" y="32278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3657600"/>
            <a:ext cx="429768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A"/>
                </a:solidFill>
                <a:latin typeface="Aptos"/>
              </a:defRPr>
            </a:pPr>
            <a:r>
              <a:t>• Registrar cambios y su motivo.</a:t>
            </a:r>
            <a:br/>
            <a:r>
              <a:t>• Analizar el impacto de los cambios.</a:t>
            </a:r>
            <a:br/>
            <a:r>
              <a:t>• Actualizar el cronograma cuando sea necesario.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Los tres proyectos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2A41"/>
                </a:solidFill>
                <a:latin typeface="Aptos"/>
              </a:defRPr>
            </a:pPr>
            <a:r>
              <a:t>Los tres proyectos se analizaron con la misma herramienta: ProjectLibre.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4DAA0C7-126E-460C-8B9C-361D16435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840414"/>
              </p:ext>
            </p:extLst>
          </p:nvPr>
        </p:nvGraphicFramePr>
        <p:xfrm>
          <a:off x="1571625" y="1484598"/>
          <a:ext cx="8229600" cy="3200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959777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715827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5938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0000"/>
                          </a:solidFill>
                          <a:effectLst/>
                        </a:rPr>
                        <a:t>Proyecto Banco</a:t>
                      </a:r>
                      <a:endParaRPr lang="es-ES" b="1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0000"/>
                          </a:solidFill>
                          <a:effectLst/>
                        </a:rPr>
                        <a:t>Proyecto Fábrica</a:t>
                      </a:r>
                      <a:endParaRPr lang="es-ES" b="1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rgbClr val="000000"/>
                          </a:solidFill>
                          <a:effectLst/>
                        </a:rPr>
                        <a:t>Proyecto Panadería</a:t>
                      </a:r>
                      <a:endParaRPr lang="es-ES" b="1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572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Inicio: 03/08/2026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Inicio: 03/08/2026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Inicio: 03/08/2026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2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Duración: 4 semanas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Duración: 4 semanas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Duración: 3 semanas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125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Actividades: 5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Actividades: 5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b="0">
                          <a:solidFill>
                            <a:srgbClr val="000000"/>
                          </a:solidFill>
                          <a:effectLst/>
                        </a:rPr>
                        <a:t>Actividades: 5</a:t>
                      </a:r>
                      <a:endParaRPr lang="es-E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7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Enfoque: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procesos de atención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flujos de transacciones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asignación de personal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optimización de tiempos</a:t>
                      </a:r>
                      <a:endParaRPr lang="es-MX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Enfoque: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planificación de producción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control de inventarios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elaboración de productos</a:t>
                      </a:r>
                    </a:p>
                    <a:p>
                      <a:pPr algn="l"/>
                      <a:r>
                        <a:rPr lang="es-MX" b="0">
                          <a:solidFill>
                            <a:srgbClr val="000000"/>
                          </a:solidFill>
                          <a:effectLst/>
                        </a:rPr>
                        <a:t>• distribución y calidad</a:t>
                      </a:r>
                      <a:endParaRPr lang="es-MX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0" dirty="0">
                          <a:solidFill>
                            <a:srgbClr val="000000"/>
                          </a:solidFill>
                          <a:effectLst/>
                        </a:rPr>
                        <a:t>Enfoque:</a:t>
                      </a:r>
                    </a:p>
                    <a:p>
                      <a:pPr algn="l"/>
                      <a:r>
                        <a:rPr lang="es-MX" b="0" dirty="0">
                          <a:solidFill>
                            <a:srgbClr val="000000"/>
                          </a:solidFill>
                          <a:effectLst/>
                        </a:rPr>
                        <a:t>• compra de insumos</a:t>
                      </a:r>
                    </a:p>
                    <a:p>
                      <a:pPr algn="l"/>
                      <a:r>
                        <a:rPr lang="es-MX" b="0" dirty="0">
                          <a:solidFill>
                            <a:srgbClr val="000000"/>
                          </a:solidFill>
                          <a:effectLst/>
                        </a:rPr>
                        <a:t>• preparación y horneado</a:t>
                      </a:r>
                    </a:p>
                    <a:p>
                      <a:pPr algn="l"/>
                      <a:r>
                        <a:rPr lang="es-MX" b="0" dirty="0">
                          <a:solidFill>
                            <a:srgbClr val="000000"/>
                          </a:solidFill>
                          <a:effectLst/>
                        </a:rPr>
                        <a:t>• atención y ventas</a:t>
                      </a:r>
                    </a:p>
                    <a:p>
                      <a:pPr algn="l"/>
                      <a:r>
                        <a:rPr lang="es-MX" b="0" dirty="0">
                          <a:solidFill>
                            <a:srgbClr val="000000"/>
                          </a:solidFill>
                          <a:effectLst/>
                        </a:rPr>
                        <a:t>• control de mermas</a:t>
                      </a:r>
                      <a:endParaRPr lang="es-MX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0218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Metodología de trabajo en ProjectLibre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600200"/>
            <a:ext cx="658368" cy="658368"/>
          </a:xfrm>
          <a:prstGeom prst="ellipse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71907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423160"/>
            <a:ext cx="73152" cy="214884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5877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Abrir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17520"/>
            <a:ext cx="14173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Archivo del proyecto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1600200"/>
            <a:ext cx="658368" cy="658368"/>
          </a:xfrm>
          <a:prstGeom prst="ellipse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71907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42316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2423160"/>
            <a:ext cx="73152" cy="214884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53512" y="25877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Revisar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017520"/>
            <a:ext cx="14173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Tareas y duración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1600200"/>
            <a:ext cx="658368" cy="658368"/>
          </a:xfrm>
          <a:prstGeom prst="ellipse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171907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42316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92040" y="2423160"/>
            <a:ext cx="73152" cy="214884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25877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Relacionar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3017520"/>
            <a:ext cx="14173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Predecesoras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1600200"/>
            <a:ext cx="658368" cy="658368"/>
          </a:xfrm>
          <a:prstGeom prst="ellipse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35240" y="171907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242316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40880" y="2423160"/>
            <a:ext cx="73152" cy="214884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51192" y="25877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Visualizar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3017520"/>
            <a:ext cx="14173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Diagrama de Gantt</a:t>
            </a:r>
          </a:p>
        </p:txBody>
      </p:sp>
      <p:sp>
        <p:nvSpPr>
          <p:cNvPr id="30" name="Oval 29"/>
          <p:cNvSpPr/>
          <p:nvPr/>
        </p:nvSpPr>
        <p:spPr>
          <a:xfrm>
            <a:off x="9784080" y="1600200"/>
            <a:ext cx="658368" cy="658368"/>
          </a:xfrm>
          <a:prstGeom prst="ellipse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171907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242316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89720" y="2423160"/>
            <a:ext cx="73152" cy="214884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00032" y="25877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Analizar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3017520"/>
            <a:ext cx="14173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Riesgos y cambios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66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2A41"/>
                </a:solidFill>
                <a:latin typeface="Aptos"/>
              </a:defRPr>
            </a:pPr>
            <a:r>
              <a:t>Este procedimiento se aplicó a los tres proyectos para mantener un criterio de análisis uniforme.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EVIDENCIA DE PROJECTLIBRE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A41"/>
                </a:solidFill>
                <a:latin typeface="Aptos Display"/>
              </a:defRPr>
            </a:pPr>
            <a:r>
              <a:t>Banco — ProjectLibre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62940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3154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82880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2" y="167335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Qué se observa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2" y="2103120"/>
            <a:ext cx="2743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La captura muestra la tabla de tareas, duración, predecesoras y el diagrama de Gantt.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611880"/>
            <a:ext cx="3154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3611880"/>
            <a:ext cx="73152" cy="182880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2" y="3776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2" y="4206240"/>
            <a:ext cx="2743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Revisar el orden de las actividades y el efecto de posibles retrasos sobre las tareas dependientes.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EVIDENCIA DE PROJECTLIBRE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A41"/>
                </a:solidFill>
                <a:latin typeface="Aptos Display"/>
              </a:defRPr>
            </a:pPr>
            <a:r>
              <a:t>Fábrica — ProjectLibre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62940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3154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82880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2" y="167335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Qué se observa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2" y="2103120"/>
            <a:ext cx="2743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La captura permite observar la programación de las actividades del proceso de producción y su representación en el Gantt.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611880"/>
            <a:ext cx="3154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3611880"/>
            <a:ext cx="73152" cy="182880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2" y="3776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2" y="4206240"/>
            <a:ext cx="2743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Revisar la secuencia del proceso y detectar actividades cuyo retraso pueda desplazar las siguientes.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EVIDENCIA DE PROJECTLIBRE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A41"/>
                </a:solidFill>
                <a:latin typeface="Aptos Display"/>
              </a:defRPr>
            </a:pPr>
            <a:r>
              <a:t>Panadería — ProjectLibre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62940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3154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82880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2" y="167335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Qué se observa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2" y="2103120"/>
            <a:ext cx="2743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La captura muestra las tareas del proyecto, sus tiempos y la relación entre actividades mediante el Gantt.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611880"/>
            <a:ext cx="3154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3611880"/>
            <a:ext cx="73152" cy="182880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2" y="3776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2" y="4206240"/>
            <a:ext cx="2743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Revisar el orden de las tareas y conservar actualizado el cronograma cuando exista una modificación.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rPr dirty="0"/>
              <a:t>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Dependencias y efecto de los retrasos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73152" cy="182880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39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Actividad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68879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Inicio del flujo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2A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874519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73152" cy="182880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2039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Actividad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68879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Depende de la actividad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2A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874519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874519"/>
            <a:ext cx="73152" cy="182880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2039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Actividad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468879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Depende de la actividad anterior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2A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874519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49640" y="1874519"/>
            <a:ext cx="73152" cy="182880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59952" y="2039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2468879"/>
            <a:ext cx="1737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A"/>
                </a:solidFill>
                <a:latin typeface="Aptos"/>
              </a:defRPr>
            </a:pPr>
            <a:r>
              <a:t>Depende de las actividades previas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343400"/>
            <a:ext cx="9144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51560" y="4343400"/>
            <a:ext cx="73152" cy="105156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61872" y="4507992"/>
            <a:ext cx="873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Efecto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937760"/>
            <a:ext cx="873252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303A"/>
                </a:solidFill>
                <a:latin typeface="Aptos"/>
              </a:defRPr>
            </a:pPr>
            <a:r>
              <a:t>Un cambio en la duración o secuencia puede desplazar actividades posteriores y modificar la fecha final del proyecto.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Control de cambios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160020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73351"/>
            <a:ext cx="4251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Registrar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03120"/>
            <a:ext cx="425195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A"/>
                </a:solidFill>
                <a:latin typeface="Aptos"/>
              </a:defRPr>
            </a:pPr>
            <a:r>
              <a:t>Describir el cambio y su motivo.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50876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0" y="1508760"/>
            <a:ext cx="73152" cy="160020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62472" y="1673351"/>
            <a:ext cx="4251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Analizar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103120"/>
            <a:ext cx="425195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A"/>
                </a:solidFill>
                <a:latin typeface="Aptos"/>
              </a:defRPr>
            </a:pPr>
            <a:r>
              <a:t>Valorar el impacto en tiempo, costo y alcance.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6616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566160"/>
            <a:ext cx="73152" cy="160020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730752"/>
            <a:ext cx="4251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Actualizar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160520"/>
            <a:ext cx="425195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A"/>
                </a:solidFill>
                <a:latin typeface="Aptos"/>
              </a:defRPr>
            </a:pPr>
            <a:r>
              <a:t>Modificar el cronograma cuando corresponda.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566160"/>
            <a:ext cx="4663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0" y="3566160"/>
            <a:ext cx="73152" cy="160020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62472" y="3730752"/>
            <a:ext cx="4251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Verificar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4160520"/>
            <a:ext cx="4251959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A"/>
                </a:solidFill>
                <a:latin typeface="Aptos"/>
              </a:defRPr>
            </a:pPr>
            <a:r>
              <a:t>Comprobar el resultado y conservar evidencia.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Ejemplos de cambios en los tres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41732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527048"/>
            <a:ext cx="1271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417320"/>
            <a:ext cx="256032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93392" y="1527048"/>
            <a:ext cx="2414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Cambio a registrar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297180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27048"/>
            <a:ext cx="2825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Motivo / situación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417320"/>
            <a:ext cx="301752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25512" y="1527048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Impacto a revisar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84248"/>
            <a:ext cx="141732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2148840"/>
            <a:ext cx="12710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Banco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984248"/>
            <a:ext cx="256032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93392" y="2148840"/>
            <a:ext cx="241401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Ajustar secuencia de tareas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984248"/>
            <a:ext cx="297180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2148840"/>
            <a:ext cx="28254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Retraso en una actividad previa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984248"/>
            <a:ext cx="301752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25512" y="2148840"/>
            <a:ext cx="287121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Tiempo y tareas dependientes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63239"/>
            <a:ext cx="14173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" y="3227832"/>
            <a:ext cx="12710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Fábrica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063239"/>
            <a:ext cx="25603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93392" y="3227832"/>
            <a:ext cx="241401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Reprogramar actividades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063239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227832"/>
            <a:ext cx="28254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Retraso en el proceso de producción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3063239"/>
            <a:ext cx="30175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25512" y="3227832"/>
            <a:ext cx="287121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Tiempo y fecha de entrega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42231"/>
            <a:ext cx="141732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" y="4306823"/>
            <a:ext cx="12710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Panadería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4142231"/>
            <a:ext cx="256032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93392" y="4306823"/>
            <a:ext cx="241401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Actualizar el cronograma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142231"/>
            <a:ext cx="297180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53712" y="4306823"/>
            <a:ext cx="28254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Cambio en tiempos de operación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4142231"/>
            <a:ext cx="3017520" cy="107899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25512" y="4306823"/>
            <a:ext cx="287121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A"/>
                </a:solidFill>
                <a:latin typeface="Aptos"/>
              </a:defRPr>
            </a:pPr>
            <a:r>
              <a:t>Tiempo y actividades posteriores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Riesgos y acciones de seguimiento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25196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58191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11680"/>
            <a:ext cx="2834639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A"/>
                </a:solidFill>
                <a:latin typeface="Aptos"/>
              </a:defRPr>
            </a:pPr>
            <a:r>
              <a:t>Riesgos a considerar:</a:t>
            </a:r>
            <a:br/>
            <a:r>
              <a:t>• retrasos en actividades</a:t>
            </a:r>
            <a:br/>
            <a:r>
              <a:t>• problemas de operación o conectividad</a:t>
            </a:r>
            <a:br/>
            <a:r>
              <a:t>• afectación de tareas dependientes</a:t>
            </a:r>
            <a:br/>
            <a:br/>
            <a:r>
              <a:t>Acción:</a:t>
            </a:r>
            <a:br/>
            <a:r>
              <a:t>revisar dependencias y actualizar el cronograma.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9080" y="1417320"/>
            <a:ext cx="73152" cy="425196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158191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Fábrica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011680"/>
            <a:ext cx="2834639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A"/>
                </a:solidFill>
                <a:latin typeface="Aptos"/>
              </a:defRPr>
            </a:pPr>
            <a:r>
              <a:t>Riesgos a considerar:</a:t>
            </a:r>
            <a:br/>
            <a:r>
              <a:t>• retrasos en producción</a:t>
            </a:r>
            <a:br/>
            <a:r>
              <a:t>• problemas en una actividad previa</a:t>
            </a:r>
            <a:br/>
            <a:r>
              <a:t>• desplazamiento de tareas posteriores</a:t>
            </a:r>
            <a:br/>
            <a:br/>
            <a:r>
              <a:t>Acción:</a:t>
            </a:r>
            <a:br/>
            <a:r>
              <a:t>reprogramar actividades afectadas.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1732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1417320"/>
            <a:ext cx="73152" cy="425196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4112" y="158191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Panadería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011680"/>
            <a:ext cx="2834639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A"/>
                </a:solidFill>
                <a:latin typeface="Aptos"/>
              </a:defRPr>
            </a:pPr>
            <a:r>
              <a:t>Riesgos a considerar:</a:t>
            </a:r>
            <a:br/>
            <a:r>
              <a:t>• cambios en tiempos de operación</a:t>
            </a:r>
            <a:br/>
            <a:r>
              <a:t>• retrasos en actividades</a:t>
            </a:r>
            <a:br/>
            <a:r>
              <a:t>• afectación de la fecha final</a:t>
            </a:r>
            <a:br/>
            <a:br/>
            <a:r>
              <a:t>Acción:</a:t>
            </a:r>
            <a:br/>
            <a:r>
              <a:t>validar tiempos y actualizar el cronograma.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Comparación de los tres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28600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3" y="153619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Aspecto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17320"/>
            <a:ext cx="242316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9504" y="1536192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Banco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417320"/>
            <a:ext cx="242316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12664" y="1536192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Fábrica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417320"/>
            <a:ext cx="2423160" cy="566928"/>
          </a:xfrm>
          <a:prstGeom prst="rect">
            <a:avLst/>
          </a:prstGeom>
          <a:solidFill>
            <a:srgbClr val="19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35824" y="1536192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Panadería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84248"/>
            <a:ext cx="228600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130552"/>
            <a:ext cx="2139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Herramienta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984248"/>
            <a:ext cx="242316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7792" y="2130552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ProjectLibre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1984248"/>
            <a:ext cx="242316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0952" y="2130552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ProjectLibre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984248"/>
            <a:ext cx="242316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54112" y="2130552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ProjectLibre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71800"/>
            <a:ext cx="228600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3118104"/>
            <a:ext cx="2139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Elemento central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971800"/>
            <a:ext cx="24231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07792" y="3118104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Actividades y Gantt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971800"/>
            <a:ext cx="24231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2" y="3118104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Proceso de producción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971800"/>
            <a:ext cx="24231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54112" y="3118104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Secuencia de actividades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59352"/>
            <a:ext cx="228600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4105656"/>
            <a:ext cx="2139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959352"/>
            <a:ext cx="242316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07792" y="4105656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Dependencias y tiempos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3959352"/>
            <a:ext cx="242316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30952" y="4105656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Orden de producción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3959352"/>
            <a:ext cx="2423160" cy="987552"/>
          </a:xfrm>
          <a:prstGeom prst="rect">
            <a:avLst/>
          </a:prstGeom>
          <a:solidFill>
            <a:srgbClr val="F7F9FB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54112" y="4105656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Tiempos y dependencias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46904"/>
            <a:ext cx="228600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5093208"/>
            <a:ext cx="21396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8303A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946904"/>
            <a:ext cx="24231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07792" y="5093208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Cambios en tareas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800" y="4946904"/>
            <a:ext cx="24231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30952" y="5093208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Reprogramación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4946904"/>
            <a:ext cx="242316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54112" y="5093208"/>
            <a:ext cx="2276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A"/>
                </a:solidFill>
                <a:latin typeface="Aptos"/>
              </a:defRPr>
            </a:pPr>
            <a:r>
              <a:t>Actualización del cronograma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23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92A41"/>
                </a:solidFill>
                <a:latin typeface="Aptos"/>
              </a:defRPr>
            </a:pPr>
            <a:r>
              <a:t>La herramienta y el método de seguimiento se mantienen, aunque las actividades de cada proyecto son diferentes.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Resultados de la práctica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0632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Planificación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26517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303A"/>
                </a:solidFill>
                <a:latin typeface="Aptos"/>
              </a:defRPr>
            </a:pPr>
            <a:r>
              <a:t>Los tres proyectos cuentan con actividades y una representación mediante diagramas de Gantt.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417320"/>
            <a:ext cx="30632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9080" y="1417320"/>
            <a:ext cx="73152" cy="3566160"/>
          </a:xfrm>
          <a:prstGeom prst="rect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15819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011680"/>
            <a:ext cx="26517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303A"/>
                </a:solidFill>
                <a:latin typeface="Aptos"/>
              </a:defRPr>
            </a:pPr>
            <a:r>
              <a:t>El cronograma permite revisar el orden del trabajo y reconocer el efecto de retrasos sobre tareas posteriores.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417320"/>
            <a:ext cx="30632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2360" y="1417320"/>
            <a:ext cx="73152" cy="3566160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2" y="15819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A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011680"/>
            <a:ext cx="265176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303A"/>
                </a:solidFill>
                <a:latin typeface="Aptos"/>
              </a:defRPr>
            </a:pPr>
            <a:r>
              <a:t>Los cambios deben justificarse y registrarse para mantener coherencia entre lo planeado y lo ejecutado.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2A41"/>
                </a:solidFill>
                <a:latin typeface="Aptos"/>
              </a:defRPr>
            </a:pPr>
            <a:r>
              <a:t>ProjectLibre funciona como apoyo para integrar planificación, seguimiento y control.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2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778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6C7A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C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4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95097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700" b="0">
                <a:solidFill>
                  <a:srgbClr val="28303A"/>
                </a:solidFill>
                <a:latin typeface="Aptos"/>
              </a:defRPr>
            </a:pPr>
            <a:r>
              <a:rPr sz="2000" dirty="0"/>
              <a:t>La </a:t>
            </a:r>
            <a:r>
              <a:rPr sz="2000" dirty="0" err="1"/>
              <a:t>realización</a:t>
            </a:r>
            <a:r>
              <a:rPr sz="2000" dirty="0"/>
              <a:t> de </a:t>
            </a:r>
            <a:r>
              <a:rPr sz="2000" dirty="0" err="1"/>
              <a:t>esta</a:t>
            </a:r>
            <a:r>
              <a:rPr sz="2000" dirty="0"/>
              <a:t> </a:t>
            </a:r>
            <a:r>
              <a:rPr sz="2000" dirty="0" err="1"/>
              <a:t>práctica</a:t>
            </a:r>
            <a:r>
              <a:rPr sz="2000" dirty="0"/>
              <a:t> </a:t>
            </a:r>
            <a:r>
              <a:rPr sz="2000" dirty="0" err="1"/>
              <a:t>permitió</a:t>
            </a:r>
            <a:r>
              <a:rPr sz="2000" dirty="0"/>
              <a:t> </a:t>
            </a:r>
            <a:r>
              <a:rPr sz="2000" dirty="0" err="1"/>
              <a:t>comprender</a:t>
            </a:r>
            <a:r>
              <a:rPr sz="2000" dirty="0"/>
              <a:t> la </a:t>
            </a:r>
            <a:r>
              <a:rPr sz="2000" dirty="0" err="1"/>
              <a:t>importancia</a:t>
            </a:r>
            <a:r>
              <a:rPr sz="2000" dirty="0"/>
              <a:t> de </a:t>
            </a:r>
            <a:r>
              <a:rPr sz="2000" dirty="0" err="1"/>
              <a:t>utilizar</a:t>
            </a:r>
            <a:r>
              <a:rPr sz="2000" dirty="0"/>
              <a:t> una </a:t>
            </a:r>
            <a:r>
              <a:rPr sz="2000" dirty="0" err="1"/>
              <a:t>herramienta</a:t>
            </a:r>
            <a:r>
              <a:rPr sz="2000" dirty="0"/>
              <a:t> </a:t>
            </a:r>
            <a:r>
              <a:rPr sz="2000" dirty="0" err="1"/>
              <a:t>tecnológica</a:t>
            </a:r>
            <a:r>
              <a:rPr sz="2000" dirty="0"/>
              <a:t> para </a:t>
            </a:r>
            <a:r>
              <a:rPr sz="2000" dirty="0" err="1"/>
              <a:t>organizar</a:t>
            </a:r>
            <a:r>
              <a:rPr sz="2000" dirty="0"/>
              <a:t> y </a:t>
            </a:r>
            <a:r>
              <a:rPr sz="2000" dirty="0" err="1"/>
              <a:t>dar</a:t>
            </a:r>
            <a:r>
              <a:rPr sz="2000" dirty="0"/>
              <a:t> </a:t>
            </a:r>
            <a:r>
              <a:rPr sz="2000" dirty="0" err="1"/>
              <a:t>seguimiento</a:t>
            </a:r>
            <a:r>
              <a:rPr sz="2000" dirty="0"/>
              <a:t> a </a:t>
            </a:r>
            <a:r>
              <a:rPr sz="2000" dirty="0" err="1"/>
              <a:t>proyectos</a:t>
            </a:r>
            <a:r>
              <a:rPr sz="2000" dirty="0"/>
              <a:t>. Mediante </a:t>
            </a:r>
            <a:r>
              <a:rPr sz="2000" dirty="0" err="1"/>
              <a:t>ProjectLibre</a:t>
            </a:r>
            <a:r>
              <a:rPr sz="2000" dirty="0"/>
              <a:t> se </a:t>
            </a:r>
            <a:r>
              <a:rPr sz="2000" dirty="0" err="1"/>
              <a:t>trabajó</a:t>
            </a:r>
            <a:r>
              <a:rPr sz="2000" dirty="0"/>
              <a:t> con los </a:t>
            </a:r>
            <a:r>
              <a:rPr sz="2000" dirty="0" err="1"/>
              <a:t>cronogramas</a:t>
            </a:r>
            <a:r>
              <a:rPr sz="2000" dirty="0"/>
              <a:t> de Banco, </a:t>
            </a:r>
            <a:r>
              <a:rPr sz="2000" dirty="0" err="1"/>
              <a:t>Fábrica</a:t>
            </a:r>
            <a:r>
              <a:rPr sz="2000" dirty="0"/>
              <a:t> y </a:t>
            </a:r>
            <a:r>
              <a:rPr sz="2000" dirty="0" err="1"/>
              <a:t>Panadería</a:t>
            </a:r>
            <a:r>
              <a:rPr sz="2000" dirty="0"/>
              <a:t>, </a:t>
            </a:r>
            <a:r>
              <a:rPr sz="2000" dirty="0" err="1"/>
              <a:t>observando</a:t>
            </a:r>
            <a:r>
              <a:rPr sz="2000" dirty="0"/>
              <a:t> sus </a:t>
            </a:r>
            <a:r>
              <a:rPr sz="2000" dirty="0" err="1"/>
              <a:t>actividades</a:t>
            </a:r>
            <a:r>
              <a:rPr sz="2000" dirty="0"/>
              <a:t>, </a:t>
            </a:r>
            <a:r>
              <a:rPr sz="2000" dirty="0" err="1"/>
              <a:t>tiempos</a:t>
            </a:r>
            <a:r>
              <a:rPr sz="2000" dirty="0"/>
              <a:t>, </a:t>
            </a:r>
            <a:r>
              <a:rPr sz="2000" dirty="0" err="1"/>
              <a:t>dependencias</a:t>
            </a:r>
            <a:r>
              <a:rPr sz="2000" dirty="0"/>
              <a:t> y </a:t>
            </a:r>
            <a:r>
              <a:rPr sz="2000" dirty="0" err="1"/>
              <a:t>representación</a:t>
            </a:r>
            <a:r>
              <a:rPr sz="2000" dirty="0"/>
              <a:t> </a:t>
            </a:r>
            <a:r>
              <a:rPr sz="2000" dirty="0" err="1"/>
              <a:t>mediante</a:t>
            </a:r>
            <a:r>
              <a:rPr sz="2000" dirty="0"/>
              <a:t> </a:t>
            </a:r>
            <a:r>
              <a:rPr sz="2000" dirty="0" err="1"/>
              <a:t>diagramas</a:t>
            </a:r>
            <a:r>
              <a:rPr sz="2000" dirty="0"/>
              <a:t> de Gantt.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07612"/>
            <a:ext cx="9509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700" b="0">
                <a:solidFill>
                  <a:srgbClr val="28303A"/>
                </a:solidFill>
                <a:latin typeface="Aptos"/>
              </a:defRPr>
            </a:pPr>
            <a:r>
              <a:rPr sz="2000" dirty="0"/>
              <a:t>El </a:t>
            </a:r>
            <a:r>
              <a:rPr sz="2000" dirty="0" err="1"/>
              <a:t>análisis</a:t>
            </a:r>
            <a:r>
              <a:rPr sz="2000" dirty="0"/>
              <a:t> </a:t>
            </a:r>
            <a:r>
              <a:rPr sz="2000" dirty="0" err="1"/>
              <a:t>también</a:t>
            </a:r>
            <a:r>
              <a:rPr sz="2000" dirty="0"/>
              <a:t> </a:t>
            </a:r>
            <a:r>
              <a:rPr sz="2000" dirty="0" err="1"/>
              <a:t>permitió</a:t>
            </a:r>
            <a:r>
              <a:rPr sz="2000" dirty="0"/>
              <a:t> </a:t>
            </a:r>
            <a:r>
              <a:rPr sz="2000" dirty="0" err="1"/>
              <a:t>reconocer</a:t>
            </a:r>
            <a:r>
              <a:rPr sz="2000" dirty="0"/>
              <a:t> que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cronograma</a:t>
            </a:r>
            <a:r>
              <a:rPr sz="2000" dirty="0"/>
              <a:t> </a:t>
            </a:r>
            <a:r>
              <a:rPr sz="2000" dirty="0" err="1"/>
              <a:t>puede</a:t>
            </a:r>
            <a:r>
              <a:rPr sz="2000" dirty="0"/>
              <a:t> </a:t>
            </a:r>
            <a:r>
              <a:rPr sz="2000" dirty="0" err="1"/>
              <a:t>utilizarse</a:t>
            </a:r>
            <a:r>
              <a:rPr sz="2000" dirty="0"/>
              <a:t> </a:t>
            </a:r>
            <a:r>
              <a:rPr sz="2000" dirty="0" err="1"/>
              <a:t>durante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desarrollo</a:t>
            </a:r>
            <a:r>
              <a:rPr sz="2000" dirty="0"/>
              <a:t> del </a:t>
            </a:r>
            <a:r>
              <a:rPr sz="2000" dirty="0" err="1"/>
              <a:t>proyecto</a:t>
            </a:r>
            <a:r>
              <a:rPr sz="2000" dirty="0"/>
              <a:t> para </a:t>
            </a:r>
            <a:r>
              <a:rPr sz="2000" dirty="0" err="1"/>
              <a:t>identificar</a:t>
            </a:r>
            <a:r>
              <a:rPr sz="2000" dirty="0"/>
              <a:t> </a:t>
            </a:r>
            <a:r>
              <a:rPr sz="2000" dirty="0" err="1"/>
              <a:t>posibles</a:t>
            </a:r>
            <a:r>
              <a:rPr sz="2000" dirty="0"/>
              <a:t> </a:t>
            </a:r>
            <a:r>
              <a:rPr sz="2000" dirty="0" err="1"/>
              <a:t>afectaciones</a:t>
            </a:r>
            <a:r>
              <a:rPr sz="2000" dirty="0"/>
              <a:t>. </a:t>
            </a:r>
            <a:r>
              <a:rPr sz="2000" dirty="0" err="1"/>
              <a:t>Cuando</a:t>
            </a:r>
            <a:r>
              <a:rPr sz="2000" dirty="0"/>
              <a:t> </a:t>
            </a:r>
            <a:r>
              <a:rPr sz="2000" dirty="0" err="1"/>
              <a:t>aparece</a:t>
            </a:r>
            <a:r>
              <a:rPr sz="2000" dirty="0"/>
              <a:t> un </a:t>
            </a:r>
            <a:r>
              <a:rPr sz="2000" dirty="0" err="1"/>
              <a:t>retraso</a:t>
            </a:r>
            <a:r>
              <a:rPr sz="2000" dirty="0"/>
              <a:t> o una </a:t>
            </a:r>
            <a:r>
              <a:rPr sz="2000" dirty="0" err="1"/>
              <a:t>modificación</a:t>
            </a:r>
            <a:r>
              <a:rPr sz="2000" dirty="0"/>
              <a:t>, es </a:t>
            </a:r>
            <a:r>
              <a:rPr sz="2000" dirty="0" err="1"/>
              <a:t>necesario</a:t>
            </a:r>
            <a:r>
              <a:rPr sz="2000" dirty="0"/>
              <a:t> </a:t>
            </a:r>
            <a:r>
              <a:rPr sz="2000" dirty="0" err="1"/>
              <a:t>revisar</a:t>
            </a:r>
            <a:r>
              <a:rPr sz="2000" dirty="0"/>
              <a:t> las </a:t>
            </a:r>
            <a:r>
              <a:rPr sz="2000" dirty="0" err="1"/>
              <a:t>actividades</a:t>
            </a:r>
            <a:r>
              <a:rPr sz="2000" dirty="0"/>
              <a:t> </a:t>
            </a:r>
            <a:r>
              <a:rPr sz="2000" dirty="0" err="1"/>
              <a:t>relacionadas</a:t>
            </a:r>
            <a:r>
              <a:rPr sz="2000" dirty="0"/>
              <a:t> y </a:t>
            </a:r>
            <a:r>
              <a:rPr sz="2000" dirty="0" err="1"/>
              <a:t>actualizar</a:t>
            </a:r>
            <a:r>
              <a:rPr sz="2000" dirty="0"/>
              <a:t> la </a:t>
            </a:r>
            <a:r>
              <a:rPr sz="2000" dirty="0" err="1"/>
              <a:t>planificación</a:t>
            </a:r>
            <a:r>
              <a:rPr sz="2000" dirty="0"/>
              <a:t>. De </a:t>
            </a:r>
            <a:r>
              <a:rPr sz="2000" dirty="0" err="1"/>
              <a:t>esta</a:t>
            </a:r>
            <a:r>
              <a:rPr sz="2000" dirty="0"/>
              <a:t> </a:t>
            </a:r>
            <a:r>
              <a:rPr sz="2000" dirty="0" err="1"/>
              <a:t>manera</a:t>
            </a:r>
            <a:r>
              <a:rPr sz="2000" dirty="0"/>
              <a:t>,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seguimiento</a:t>
            </a:r>
            <a:r>
              <a:rPr sz="2000" dirty="0"/>
              <a:t> y </a:t>
            </a:r>
            <a:r>
              <a:rPr sz="2000" dirty="0" err="1"/>
              <a:t>el</a:t>
            </a:r>
            <a:r>
              <a:rPr sz="2000" dirty="0"/>
              <a:t> control de </a:t>
            </a:r>
            <a:r>
              <a:rPr sz="2000" dirty="0" err="1"/>
              <a:t>cambios</a:t>
            </a:r>
            <a:r>
              <a:rPr sz="2000" dirty="0"/>
              <a:t> </a:t>
            </a:r>
            <a:r>
              <a:rPr sz="2000" dirty="0" err="1"/>
              <a:t>ayudan</a:t>
            </a:r>
            <a:r>
              <a:rPr sz="2000" dirty="0"/>
              <a:t> a </a:t>
            </a:r>
            <a:r>
              <a:rPr sz="2000" dirty="0" err="1"/>
              <a:t>mantener</a:t>
            </a:r>
            <a:r>
              <a:rPr sz="2000" dirty="0"/>
              <a:t> una </a:t>
            </a:r>
            <a:r>
              <a:rPr sz="2000" dirty="0" err="1"/>
              <a:t>mejor</a:t>
            </a:r>
            <a:r>
              <a:rPr sz="2000" dirty="0"/>
              <a:t> </a:t>
            </a:r>
            <a:r>
              <a:rPr sz="2000" dirty="0" err="1"/>
              <a:t>organización</a:t>
            </a:r>
            <a:r>
              <a:rPr sz="2000" dirty="0"/>
              <a:t> del </a:t>
            </a:r>
            <a:r>
              <a:rPr sz="2000" dirty="0" err="1"/>
              <a:t>trabajo</a:t>
            </a:r>
            <a:r>
              <a:rPr sz="2000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0198"/>
            <a:ext cx="9464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A"/>
                </a:solidFill>
                <a:latin typeface="Aptos"/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Planificar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seguimiento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controlar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cambios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mantener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organizado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1908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F6C7A"/>
                </a:solidFill>
                <a:latin typeface="Aptos"/>
              </a:defRPr>
            </a:pPr>
            <a:r>
              <a:t>Gestión de proyectos de 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1479</Words>
  <Application>Microsoft Office PowerPoint</Application>
  <PresentationFormat>Panorámica</PresentationFormat>
  <Paragraphs>221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ui-sans-serif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Jose Manuel Vazquez Lopez</dc:creator>
  <cp:keywords/>
  <dc:description>generated using python-pptx</dc:description>
  <cp:lastModifiedBy>joselopezmanuel200@gmail.com</cp:lastModifiedBy>
  <cp:revision>8</cp:revision>
  <dcterms:created xsi:type="dcterms:W3CDTF">2013-01-27T09:14:16Z</dcterms:created>
  <dcterms:modified xsi:type="dcterms:W3CDTF">2026-10-04T04:35:01Z</dcterms:modified>
  <cp:category/>
</cp:coreProperties>
</file>