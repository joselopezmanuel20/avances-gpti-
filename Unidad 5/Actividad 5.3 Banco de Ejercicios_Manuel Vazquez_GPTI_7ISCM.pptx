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75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250248-DE60-43E2-974D-521195232E4E}" type="datetimeFigureOut">
              <a:rPr lang="es-ES" smtClean="0"/>
              <a:t>03/10/2026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9144F7-98B1-48DF-9989-12C0DB213B17}" type="slidenum">
              <a:rPr lang="es-ES" smtClean="0"/>
              <a:t>‹Nº›</a:t>
            </a:fld>
            <a:endParaRPr lang="es-ES"/>
          </a:p>
        </p:txBody>
      </p:sp>
    </p:spTree>
    <p:extLst>
      <p:ext uri="{BB962C8B-B14F-4D97-AF65-F5344CB8AC3E}">
        <p14:creationId xmlns:p14="http://schemas.microsoft.com/office/powerpoint/2010/main" val="9573823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A09144F7-98B1-48DF-9989-12C0DB213B17}" type="slidenum">
              <a:rPr lang="es-ES" smtClean="0"/>
              <a:t>5</a:t>
            </a:fld>
            <a:endParaRPr lang="es-ES"/>
          </a:p>
        </p:txBody>
      </p:sp>
    </p:spTree>
    <p:extLst>
      <p:ext uri="{BB962C8B-B14F-4D97-AF65-F5344CB8AC3E}">
        <p14:creationId xmlns:p14="http://schemas.microsoft.com/office/powerpoint/2010/main" val="3987374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4008"/>
          </a:xfrm>
          <a:prstGeom prst="rect">
            <a:avLst/>
          </a:prstGeom>
          <a:solidFill>
            <a:srgbClr val="21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1">
            <a:extLst>
              <a:ext uri="{FF2B5EF4-FFF2-40B4-BE49-F238E27FC236}">
                <a16:creationId xmlns:a16="http://schemas.microsoft.com/office/drawing/2014/main" id="{72C4B624-CCD9-45FE-9B82-D9813F2BFF6E}"/>
              </a:ext>
            </a:extLst>
          </p:cNvPr>
          <p:cNvSpPr/>
          <p:nvPr/>
        </p:nvSpPr>
        <p:spPr>
          <a:xfrm>
            <a:off x="0" y="0"/>
            <a:ext cx="12192000" cy="64008"/>
          </a:xfrm>
          <a:prstGeom prst="rect">
            <a:avLst/>
          </a:prstGeom>
          <a:solidFill>
            <a:srgbClr val="209D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Imagen 21">
            <a:extLst>
              <a:ext uri="{FF2B5EF4-FFF2-40B4-BE49-F238E27FC236}">
                <a16:creationId xmlns:a16="http://schemas.microsoft.com/office/drawing/2014/main" id="{95C1ED91-A378-42FB-B9BF-C2E165C7ECFB}"/>
              </a:ext>
            </a:extLst>
          </p:cNvPr>
          <p:cNvPicPr>
            <a:picLocks noChangeAspect="1"/>
          </p:cNvPicPr>
          <p:nvPr/>
        </p:nvPicPr>
        <p:blipFill>
          <a:blip r:embed="rId2"/>
          <a:stretch>
            <a:fillRect/>
          </a:stretch>
        </p:blipFill>
        <p:spPr>
          <a:xfrm>
            <a:off x="8310059" y="375251"/>
            <a:ext cx="2362200" cy="1039927"/>
          </a:xfrm>
          <a:prstGeom prst="rect">
            <a:avLst/>
          </a:prstGeom>
        </p:spPr>
      </p:pic>
      <p:pic>
        <p:nvPicPr>
          <p:cNvPr id="23" name="Imagen 22">
            <a:extLst>
              <a:ext uri="{FF2B5EF4-FFF2-40B4-BE49-F238E27FC236}">
                <a16:creationId xmlns:a16="http://schemas.microsoft.com/office/drawing/2014/main" id="{A4354994-2281-4A1D-9EF5-8B6C9A6DB069}"/>
              </a:ext>
            </a:extLst>
          </p:cNvPr>
          <p:cNvPicPr>
            <a:picLocks noChangeAspect="1"/>
          </p:cNvPicPr>
          <p:nvPr/>
        </p:nvPicPr>
        <p:blipFill>
          <a:blip r:embed="rId3"/>
          <a:stretch>
            <a:fillRect/>
          </a:stretch>
        </p:blipFill>
        <p:spPr>
          <a:xfrm>
            <a:off x="5126730" y="253289"/>
            <a:ext cx="2143125" cy="1039927"/>
          </a:xfrm>
          <a:prstGeom prst="rect">
            <a:avLst/>
          </a:prstGeom>
        </p:spPr>
      </p:pic>
      <p:sp>
        <p:nvSpPr>
          <p:cNvPr id="24" name="CuadroTexto 23">
            <a:extLst>
              <a:ext uri="{FF2B5EF4-FFF2-40B4-BE49-F238E27FC236}">
                <a16:creationId xmlns:a16="http://schemas.microsoft.com/office/drawing/2014/main" id="{74C8E5E7-A07E-40C0-AB02-D06B295DBA03}"/>
              </a:ext>
            </a:extLst>
          </p:cNvPr>
          <p:cNvSpPr txBox="1"/>
          <p:nvPr/>
        </p:nvSpPr>
        <p:spPr>
          <a:xfrm>
            <a:off x="2844800" y="2605896"/>
            <a:ext cx="6146800" cy="4216539"/>
          </a:xfrm>
          <a:prstGeom prst="rect">
            <a:avLst/>
          </a:prstGeom>
          <a:noFill/>
        </p:spPr>
        <p:txBody>
          <a:bodyPr wrap="square" rtlCol="0">
            <a:spAutoFit/>
          </a:bodyPr>
          <a:lstStyle/>
          <a:p>
            <a:pPr algn="ctr"/>
            <a:r>
              <a:rPr lang="es-MX" sz="1600" b="1" dirty="0">
                <a:latin typeface="Arial" panose="020B0604020202020204" pitchFamily="34" charset="0"/>
                <a:cs typeface="Arial" panose="020B0604020202020204" pitchFamily="34" charset="0"/>
              </a:rPr>
              <a:t>Nombre del docente: </a:t>
            </a:r>
          </a:p>
          <a:p>
            <a:pPr algn="ctr"/>
            <a:r>
              <a:rPr lang="es-MX" sz="1400" dirty="0"/>
              <a:t>Ing. Francisco Javier mingo Velázquez</a:t>
            </a:r>
          </a:p>
          <a:p>
            <a:pPr algn="ctr"/>
            <a:r>
              <a:rPr lang="es-MX" sz="1600" b="1" dirty="0">
                <a:latin typeface="Arial" panose="020B0604020202020204" pitchFamily="34" charset="0"/>
                <a:cs typeface="Arial" panose="020B0604020202020204" pitchFamily="34" charset="0"/>
              </a:rPr>
              <a:t>Materia: </a:t>
            </a:r>
          </a:p>
          <a:p>
            <a:pPr algn="ctr"/>
            <a:r>
              <a:rPr lang="es-MX" sz="1400" dirty="0"/>
              <a:t>Gestión de proyectos de Ti</a:t>
            </a:r>
          </a:p>
          <a:p>
            <a:pPr algn="ctr"/>
            <a:r>
              <a:rPr lang="es-MX" sz="1600" b="1" dirty="0">
                <a:latin typeface="Arial" panose="020B0604020202020204" pitchFamily="34" charset="0"/>
                <a:cs typeface="Arial" panose="020B0604020202020204" pitchFamily="34" charset="0"/>
              </a:rPr>
              <a:t>Carrera:</a:t>
            </a:r>
          </a:p>
          <a:p>
            <a:pPr algn="ctr"/>
            <a:r>
              <a:rPr lang="es-MX" sz="1400" dirty="0"/>
              <a:t>Ing. Sistemas computacionales</a:t>
            </a:r>
          </a:p>
          <a:p>
            <a:pPr algn="ctr"/>
            <a:r>
              <a:rPr lang="es-MX" sz="1600" b="1" dirty="0">
                <a:latin typeface="Arial" panose="020B0604020202020204" pitchFamily="34" charset="0"/>
                <a:cs typeface="Arial" panose="020B0604020202020204" pitchFamily="34" charset="0"/>
              </a:rPr>
              <a:t>Modalidad:</a:t>
            </a:r>
          </a:p>
          <a:p>
            <a:pPr algn="ctr"/>
            <a:r>
              <a:rPr lang="es-MX" sz="1400" dirty="0"/>
              <a:t>Mixta</a:t>
            </a:r>
          </a:p>
          <a:p>
            <a:pPr algn="ctr"/>
            <a:r>
              <a:rPr lang="es-MX" sz="1600" b="1" dirty="0">
                <a:latin typeface="Arial" panose="020B0604020202020204" pitchFamily="34" charset="0"/>
                <a:cs typeface="Arial" panose="020B0604020202020204" pitchFamily="34" charset="0"/>
              </a:rPr>
              <a:t>Num.control:</a:t>
            </a:r>
          </a:p>
          <a:p>
            <a:pPr algn="ctr"/>
            <a:r>
              <a:rPr lang="es-MX" sz="1400" dirty="0"/>
              <a:t>231260036</a:t>
            </a:r>
          </a:p>
          <a:p>
            <a:pPr algn="ctr"/>
            <a:r>
              <a:rPr lang="es-MX" sz="1600" b="1" dirty="0">
                <a:latin typeface="Arial" panose="020B0604020202020204" pitchFamily="34" charset="0"/>
                <a:cs typeface="Arial" panose="020B0604020202020204" pitchFamily="34" charset="0"/>
              </a:rPr>
              <a:t>Nombre del alumno:</a:t>
            </a:r>
          </a:p>
          <a:p>
            <a:pPr algn="ctr"/>
            <a:r>
              <a:rPr lang="es-MX" sz="1400" dirty="0"/>
              <a:t>Jose Manuel Vazquez Lopez</a:t>
            </a:r>
          </a:p>
          <a:p>
            <a:pPr algn="ctr"/>
            <a:r>
              <a:rPr lang="es-MX" sz="1600" b="1" dirty="0">
                <a:latin typeface="Arial" panose="020B0604020202020204" pitchFamily="34" charset="0"/>
                <a:cs typeface="Arial" panose="020B0604020202020204" pitchFamily="34" charset="0"/>
              </a:rPr>
              <a:t>Semestre:</a:t>
            </a:r>
          </a:p>
          <a:p>
            <a:pPr algn="ctr"/>
            <a:r>
              <a:rPr lang="es-MX" sz="1400" dirty="0"/>
              <a:t>Sexto semestre</a:t>
            </a:r>
          </a:p>
          <a:p>
            <a:pPr algn="ctr"/>
            <a:r>
              <a:rPr lang="es-MX" sz="1600" b="1" dirty="0">
                <a:latin typeface="Arial" panose="020B0604020202020204" pitchFamily="34" charset="0"/>
                <a:cs typeface="Arial" panose="020B0604020202020204" pitchFamily="34" charset="0"/>
              </a:rPr>
              <a:t>Nombre del trabajo:</a:t>
            </a:r>
          </a:p>
          <a:p>
            <a:pPr algn="ctr"/>
            <a:r>
              <a:rPr lang="es-MX" sz="1400" dirty="0"/>
              <a:t>Actividad 5.3-Ejercicios</a:t>
            </a:r>
          </a:p>
          <a:p>
            <a:pPr algn="ctr"/>
            <a:r>
              <a:rPr lang="es-MX" sz="1400" dirty="0"/>
              <a:t>Fecha:</a:t>
            </a:r>
          </a:p>
          <a:p>
            <a:pPr algn="ctr"/>
            <a:r>
              <a:rPr lang="es-MX" sz="1400" dirty="0"/>
              <a:t>14/02/2026</a:t>
            </a:r>
          </a:p>
        </p:txBody>
      </p:sp>
      <p:sp>
        <p:nvSpPr>
          <p:cNvPr id="25" name="Rectángulo 24">
            <a:extLst>
              <a:ext uri="{FF2B5EF4-FFF2-40B4-BE49-F238E27FC236}">
                <a16:creationId xmlns:a16="http://schemas.microsoft.com/office/drawing/2014/main" id="{7A8F02F8-E0C1-4079-BCD1-EA43E8657910}"/>
              </a:ext>
            </a:extLst>
          </p:cNvPr>
          <p:cNvSpPr/>
          <p:nvPr/>
        </p:nvSpPr>
        <p:spPr>
          <a:xfrm>
            <a:off x="1246094" y="1635257"/>
            <a:ext cx="9699811" cy="707886"/>
          </a:xfrm>
          <a:prstGeom prst="rect">
            <a:avLst/>
          </a:prstGeom>
          <a:noFill/>
        </p:spPr>
        <p:txBody>
          <a:bodyPr wrap="square" lIns="91440" tIns="45720" rIns="91440" bIns="45720">
            <a:spAutoFit/>
          </a:bodyPr>
          <a:lstStyle/>
          <a:p>
            <a:pPr algn="ctr"/>
            <a:r>
              <a:rPr lang="es-ES" sz="4000" dirty="0"/>
              <a:t>Instituto Tecnológico de Frontera Comalapa</a:t>
            </a:r>
          </a:p>
        </p:txBody>
      </p:sp>
      <p:pic>
        <p:nvPicPr>
          <p:cNvPr id="26" name="Imagen 25">
            <a:extLst>
              <a:ext uri="{FF2B5EF4-FFF2-40B4-BE49-F238E27FC236}">
                <a16:creationId xmlns:a16="http://schemas.microsoft.com/office/drawing/2014/main" id="{801ED095-05EF-4980-8C77-22C47F7100A8}"/>
              </a:ext>
            </a:extLst>
          </p:cNvPr>
          <p:cNvPicPr>
            <a:picLocks noChangeAspect="1"/>
          </p:cNvPicPr>
          <p:nvPr/>
        </p:nvPicPr>
        <p:blipFill>
          <a:blip r:embed="rId4"/>
          <a:stretch>
            <a:fillRect/>
          </a:stretch>
        </p:blipFill>
        <p:spPr>
          <a:xfrm>
            <a:off x="1282120" y="239842"/>
            <a:ext cx="3276602" cy="102576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4008"/>
          </a:xfrm>
          <a:prstGeom prst="rect">
            <a:avLst/>
          </a:prstGeom>
          <a:solidFill>
            <a:srgbClr val="21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9601200" cy="502920"/>
          </a:xfrm>
          <a:prstGeom prst="rect">
            <a:avLst/>
          </a:prstGeom>
          <a:noFill/>
        </p:spPr>
        <p:txBody>
          <a:bodyPr wrap="square">
            <a:spAutoFit/>
          </a:bodyPr>
          <a:lstStyle/>
          <a:p>
            <a:pPr algn="l">
              <a:defRPr sz="2700" b="1">
                <a:solidFill>
                  <a:srgbClr val="1C2D44"/>
                </a:solidFill>
                <a:latin typeface="Aptos"/>
              </a:defRPr>
            </a:pPr>
            <a:r>
              <a:t>Introducción</a:t>
            </a:r>
          </a:p>
        </p:txBody>
      </p:sp>
      <p:sp>
        <p:nvSpPr>
          <p:cNvPr id="4" name="TextBox 3"/>
          <p:cNvSpPr txBox="1"/>
          <p:nvPr/>
        </p:nvSpPr>
        <p:spPr>
          <a:xfrm>
            <a:off x="10149840" y="201168"/>
            <a:ext cx="502920" cy="274320"/>
          </a:xfrm>
          <a:prstGeom prst="rect">
            <a:avLst/>
          </a:prstGeom>
          <a:noFill/>
        </p:spPr>
        <p:txBody>
          <a:bodyPr wrap="square">
            <a:spAutoFit/>
          </a:bodyPr>
          <a:lstStyle/>
          <a:p>
            <a:pPr algn="r">
              <a:defRPr sz="1000" b="1">
                <a:solidFill>
                  <a:srgbClr val="64707D"/>
                </a:solidFill>
                <a:latin typeface="Aptos"/>
              </a:defRPr>
            </a:pPr>
            <a:r>
              <a:t>02</a:t>
            </a:r>
          </a:p>
        </p:txBody>
      </p:sp>
      <p:sp>
        <p:nvSpPr>
          <p:cNvPr id="5" name="TextBox 4"/>
          <p:cNvSpPr txBox="1"/>
          <p:nvPr/>
        </p:nvSpPr>
        <p:spPr>
          <a:xfrm>
            <a:off x="647700" y="1275433"/>
            <a:ext cx="10949940" cy="3139321"/>
          </a:xfrm>
          <a:prstGeom prst="rect">
            <a:avLst/>
          </a:prstGeom>
          <a:noFill/>
        </p:spPr>
        <p:txBody>
          <a:bodyPr wrap="square">
            <a:spAutoFit/>
          </a:bodyPr>
          <a:lstStyle/>
          <a:p>
            <a:pPr algn="just"/>
            <a:r>
              <a:rPr lang="es-MX" b="0" dirty="0">
                <a:solidFill>
                  <a:srgbClr val="000000"/>
                </a:solidFill>
                <a:effectLst/>
                <a:latin typeface="ui-sans-serif"/>
              </a:rPr>
              <a:t>La planificación y el seguimiento permiten convertir un proyecto en trabajo organizado.</a:t>
            </a:r>
          </a:p>
          <a:p>
            <a:pPr algn="just"/>
            <a:endParaRPr lang="es-MX" b="0" dirty="0">
              <a:solidFill>
                <a:srgbClr val="000000"/>
              </a:solidFill>
              <a:effectLst/>
              <a:latin typeface="ui-sans-serif"/>
            </a:endParaRPr>
          </a:p>
          <a:p>
            <a:pPr algn="just"/>
            <a:r>
              <a:rPr lang="es-MX" b="0" dirty="0">
                <a:solidFill>
                  <a:srgbClr val="000000"/>
                </a:solidFill>
                <a:effectLst/>
                <a:latin typeface="ui-sans-serif"/>
              </a:rPr>
              <a:t>Este trabajo aplica las herramientas de gestión de proyectos a tres iniciativas concretas: el servicio bancario, el proceso de fabricación y la operación de una panadería.</a:t>
            </a:r>
          </a:p>
          <a:p>
            <a:pPr algn="just"/>
            <a:r>
              <a:rPr lang="es-MX" b="0" dirty="0" err="1">
                <a:solidFill>
                  <a:srgbClr val="000000"/>
                </a:solidFill>
                <a:effectLst/>
                <a:latin typeface="ui-sans-serif"/>
              </a:rPr>
              <a:t>ProjectLibre</a:t>
            </a:r>
            <a:r>
              <a:rPr lang="es-MX" b="0" dirty="0">
                <a:solidFill>
                  <a:srgbClr val="000000"/>
                </a:solidFill>
                <a:effectLst/>
                <a:latin typeface="ui-sans-serif"/>
              </a:rPr>
              <a:t> organiza el calendario de actividades, establece los tiempos de cada tarea y muestra la secuencia de trabajo mediante diagramas de Gantt. La asignación de recursos y la definición de dependencias permiten prever retrasos y ajustar el desarrollo cuando sea necesario.</a:t>
            </a:r>
          </a:p>
          <a:p>
            <a:pPr algn="just"/>
            <a:r>
              <a:rPr lang="es-MX" b="0" dirty="0">
                <a:solidFill>
                  <a:srgbClr val="000000"/>
                </a:solidFill>
                <a:effectLst/>
                <a:latin typeface="ui-sans-serif"/>
              </a:rPr>
              <a:t>Cada proyecto responde a una necesidad real: optimizar la atención y los procesos financieros en el banco, coordinar la producción y la distribución en la fábrica, y planificar la elaboración, ventas y control de insumos en la panadería. Todo ello constituye la base para supervisar el avance, tomar decisiones y asegurar que los resultados se alcancen en el tiempo establecido.</a:t>
            </a:r>
          </a:p>
        </p:txBody>
      </p:sp>
      <p:sp>
        <p:nvSpPr>
          <p:cNvPr id="19" name="TextBox 18"/>
          <p:cNvSpPr txBox="1"/>
          <p:nvPr/>
        </p:nvSpPr>
        <p:spPr>
          <a:xfrm>
            <a:off x="594360" y="6419088"/>
            <a:ext cx="3657600" cy="182880"/>
          </a:xfrm>
          <a:prstGeom prst="rect">
            <a:avLst/>
          </a:prstGeom>
          <a:noFill/>
        </p:spPr>
        <p:txBody>
          <a:bodyPr wrap="square">
            <a:spAutoFit/>
          </a:bodyPr>
          <a:lstStyle/>
          <a:p>
            <a:pPr algn="l">
              <a:defRPr sz="850" b="0">
                <a:solidFill>
                  <a:srgbClr val="64707D"/>
                </a:solidFill>
                <a:latin typeface="Aptos"/>
              </a:defRPr>
            </a:pPr>
            <a:r>
              <a:t>Gestión de proyectos de TI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4008"/>
          </a:xfrm>
          <a:prstGeom prst="rect">
            <a:avLst/>
          </a:prstGeom>
          <a:solidFill>
            <a:srgbClr val="21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9601200" cy="502920"/>
          </a:xfrm>
          <a:prstGeom prst="rect">
            <a:avLst/>
          </a:prstGeom>
          <a:noFill/>
        </p:spPr>
        <p:txBody>
          <a:bodyPr wrap="square">
            <a:spAutoFit/>
          </a:bodyPr>
          <a:lstStyle/>
          <a:p>
            <a:pPr algn="l">
              <a:defRPr sz="2700" b="1">
                <a:solidFill>
                  <a:srgbClr val="1C2D44"/>
                </a:solidFill>
                <a:latin typeface="Aptos"/>
              </a:defRPr>
            </a:pPr>
            <a:r>
              <a:t>Justificación</a:t>
            </a:r>
          </a:p>
        </p:txBody>
      </p:sp>
      <p:sp>
        <p:nvSpPr>
          <p:cNvPr id="4" name="TextBox 3"/>
          <p:cNvSpPr txBox="1"/>
          <p:nvPr/>
        </p:nvSpPr>
        <p:spPr>
          <a:xfrm>
            <a:off x="10149840" y="201168"/>
            <a:ext cx="502920" cy="274320"/>
          </a:xfrm>
          <a:prstGeom prst="rect">
            <a:avLst/>
          </a:prstGeom>
          <a:noFill/>
        </p:spPr>
        <p:txBody>
          <a:bodyPr wrap="square">
            <a:spAutoFit/>
          </a:bodyPr>
          <a:lstStyle/>
          <a:p>
            <a:pPr algn="r">
              <a:defRPr sz="1000" b="1">
                <a:solidFill>
                  <a:srgbClr val="64707D"/>
                </a:solidFill>
                <a:latin typeface="Aptos"/>
              </a:defRPr>
            </a:pPr>
            <a:r>
              <a:t>03</a:t>
            </a:r>
          </a:p>
        </p:txBody>
      </p:sp>
      <p:sp>
        <p:nvSpPr>
          <p:cNvPr id="5" name="TextBox 4"/>
          <p:cNvSpPr txBox="1"/>
          <p:nvPr/>
        </p:nvSpPr>
        <p:spPr>
          <a:xfrm>
            <a:off x="594359" y="1132070"/>
            <a:ext cx="10997565" cy="3693319"/>
          </a:xfrm>
          <a:prstGeom prst="rect">
            <a:avLst/>
          </a:prstGeom>
          <a:noFill/>
        </p:spPr>
        <p:txBody>
          <a:bodyPr wrap="square">
            <a:spAutoFit/>
          </a:bodyPr>
          <a:lstStyle/>
          <a:p>
            <a:pPr algn="just"/>
            <a:r>
              <a:rPr lang="es-MX" b="0" dirty="0">
                <a:solidFill>
                  <a:srgbClr val="000000"/>
                </a:solidFill>
                <a:effectLst/>
                <a:latin typeface="ui-sans-serif"/>
              </a:rPr>
              <a:t>La elaboración de este trabajo es importante porque permite aplicar los conceptos de gestión de proyectos a situaciones prácticas que pueden presentarse durante el desarrollo de cualquier iniciativa. Una planificación adecuada requiere no solamente establecer actividades y tiempos, sino también supervisar su cumplimiento, identificar riesgos y controlar las modificaciones que puedan surgir durante la ejecución.</a:t>
            </a:r>
          </a:p>
          <a:p>
            <a:pPr algn="just"/>
            <a:endParaRPr lang="es-MX" b="0" dirty="0">
              <a:solidFill>
                <a:srgbClr val="000000"/>
              </a:solidFill>
              <a:effectLst/>
              <a:latin typeface="ui-sans-serif"/>
            </a:endParaRPr>
          </a:p>
          <a:p>
            <a:pPr algn="just"/>
            <a:r>
              <a:rPr lang="es-MX" b="0" dirty="0">
                <a:solidFill>
                  <a:srgbClr val="000000"/>
                </a:solidFill>
                <a:effectLst/>
                <a:latin typeface="ui-sans-serif"/>
              </a:rPr>
              <a:t>Los ejercicios desarrollados a partir de los proyectos Banco, Fábrica y Panadería permiten analizar diferentes escenarios relacionados con dependencias, retrasos, asignación de recursos, control de inventarios, tiempos de producción y atención al público. </a:t>
            </a:r>
            <a:r>
              <a:rPr lang="es-MX" b="0" dirty="0" err="1">
                <a:solidFill>
                  <a:srgbClr val="000000"/>
                </a:solidFill>
                <a:effectLst/>
                <a:latin typeface="ui-sans-serif"/>
              </a:rPr>
              <a:t>ProjectLibre</a:t>
            </a:r>
            <a:r>
              <a:rPr lang="es-MX" b="0" dirty="0">
                <a:solidFill>
                  <a:srgbClr val="000000"/>
                </a:solidFill>
                <a:effectLst/>
                <a:latin typeface="ui-sans-serif"/>
              </a:rPr>
              <a:t> sirve como referencia para comprender cómo estas situaciones pueden afectar el cronograma y las tareas relacionadas en cada uno de los casos.</a:t>
            </a:r>
          </a:p>
          <a:p>
            <a:pPr algn="just"/>
            <a:r>
              <a:rPr lang="es-MX" b="0" dirty="0">
                <a:solidFill>
                  <a:srgbClr val="000000"/>
                </a:solidFill>
                <a:effectLst/>
                <a:latin typeface="ui-sans-serif"/>
              </a:rPr>
              <a:t>Por lo tanto, esta actividad contribuye al fortalecimiento de competencias para analizar problemas, tomar decisiones y proponer acciones de seguimiento y control. Además, permite relacionar los conocimientos teóricos con los proyectos desarrollados, logrando un aprendizaje más práctico y aplicado a la gestión de proyectos en ámbitos de servicios, producción y comercio.</a:t>
            </a:r>
          </a:p>
        </p:txBody>
      </p:sp>
      <p:sp>
        <p:nvSpPr>
          <p:cNvPr id="19" name="TextBox 18"/>
          <p:cNvSpPr txBox="1"/>
          <p:nvPr/>
        </p:nvSpPr>
        <p:spPr>
          <a:xfrm>
            <a:off x="594360" y="6419088"/>
            <a:ext cx="3657600" cy="182880"/>
          </a:xfrm>
          <a:prstGeom prst="rect">
            <a:avLst/>
          </a:prstGeom>
          <a:noFill/>
        </p:spPr>
        <p:txBody>
          <a:bodyPr wrap="square">
            <a:spAutoFit/>
          </a:bodyPr>
          <a:lstStyle/>
          <a:p>
            <a:pPr algn="l">
              <a:defRPr sz="850" b="0">
                <a:solidFill>
                  <a:srgbClr val="64707D"/>
                </a:solidFill>
                <a:latin typeface="Aptos"/>
              </a:defRPr>
            </a:pPr>
            <a:r>
              <a:t>Gestión de proyectos de TI</a:t>
            </a:r>
          </a:p>
        </p:txBody>
      </p:sp>
      <p:sp>
        <p:nvSpPr>
          <p:cNvPr id="21" name="CuadroTexto 20">
            <a:extLst>
              <a:ext uri="{FF2B5EF4-FFF2-40B4-BE49-F238E27FC236}">
                <a16:creationId xmlns:a16="http://schemas.microsoft.com/office/drawing/2014/main" id="{10D7EC5B-FD73-4A17-80BE-8397C2EA9218}"/>
              </a:ext>
            </a:extLst>
          </p:cNvPr>
          <p:cNvSpPr txBox="1"/>
          <p:nvPr/>
        </p:nvSpPr>
        <p:spPr>
          <a:xfrm>
            <a:off x="669798" y="5325844"/>
            <a:ext cx="9800082" cy="646331"/>
          </a:xfrm>
          <a:prstGeom prst="rect">
            <a:avLst/>
          </a:prstGeom>
          <a:noFill/>
        </p:spPr>
        <p:txBody>
          <a:bodyPr wrap="square" rtlCol="0">
            <a:spAutoFit/>
          </a:bodyPr>
          <a:lstStyle/>
          <a:p>
            <a:r>
              <a:rPr lang="es-MX" dirty="0"/>
              <a:t>Propósito: relacionar la planificación con el seguimiento y la toma de decisiones.</a:t>
            </a:r>
          </a:p>
          <a:p>
            <a:endParaRPr lang="es-E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4008"/>
          </a:xfrm>
          <a:prstGeom prst="rect">
            <a:avLst/>
          </a:prstGeom>
          <a:solidFill>
            <a:srgbClr val="21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493395"/>
            <a:ext cx="9601200" cy="502920"/>
          </a:xfrm>
          <a:prstGeom prst="rect">
            <a:avLst/>
          </a:prstGeom>
          <a:noFill/>
        </p:spPr>
        <p:txBody>
          <a:bodyPr wrap="square">
            <a:spAutoFit/>
          </a:bodyPr>
          <a:lstStyle/>
          <a:p>
            <a:pPr algn="l">
              <a:defRPr sz="2700" b="1">
                <a:solidFill>
                  <a:srgbClr val="1C2D44"/>
                </a:solidFill>
                <a:latin typeface="Aptos"/>
              </a:defRPr>
            </a:pPr>
            <a:r>
              <a:t>Casos de aplicación</a:t>
            </a:r>
          </a:p>
        </p:txBody>
      </p:sp>
      <p:sp>
        <p:nvSpPr>
          <p:cNvPr id="4" name="TextBox 3"/>
          <p:cNvSpPr txBox="1"/>
          <p:nvPr/>
        </p:nvSpPr>
        <p:spPr>
          <a:xfrm>
            <a:off x="10149840" y="201168"/>
            <a:ext cx="502920" cy="274320"/>
          </a:xfrm>
          <a:prstGeom prst="rect">
            <a:avLst/>
          </a:prstGeom>
          <a:noFill/>
        </p:spPr>
        <p:txBody>
          <a:bodyPr wrap="square">
            <a:spAutoFit/>
          </a:bodyPr>
          <a:lstStyle/>
          <a:p>
            <a:pPr algn="r">
              <a:defRPr sz="1000" b="1">
                <a:solidFill>
                  <a:srgbClr val="64707D"/>
                </a:solidFill>
                <a:latin typeface="Aptos"/>
              </a:defRPr>
            </a:pPr>
            <a:r>
              <a:t>04</a:t>
            </a:r>
          </a:p>
        </p:txBody>
      </p:sp>
      <p:sp>
        <p:nvSpPr>
          <p:cNvPr id="5" name="Rectangle 4"/>
          <p:cNvSpPr/>
          <p:nvPr/>
        </p:nvSpPr>
        <p:spPr>
          <a:xfrm>
            <a:off x="502920" y="1371600"/>
            <a:ext cx="1508760" cy="594360"/>
          </a:xfrm>
          <a:prstGeom prst="rect">
            <a:avLst/>
          </a:prstGeom>
          <a:solidFill>
            <a:srgbClr val="1C2D4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6072" y="1490472"/>
            <a:ext cx="1362456" cy="320040"/>
          </a:xfrm>
          <a:prstGeom prst="rect">
            <a:avLst/>
          </a:prstGeom>
          <a:noFill/>
        </p:spPr>
        <p:txBody>
          <a:bodyPr wrap="square">
            <a:spAutoFit/>
          </a:bodyPr>
          <a:lstStyle/>
          <a:p>
            <a:pPr algn="ctr">
              <a:defRPr sz="1150" b="1">
                <a:solidFill>
                  <a:srgbClr val="FFFFFF"/>
                </a:solidFill>
                <a:latin typeface="Aptos"/>
              </a:defRPr>
            </a:pPr>
            <a:r>
              <a:t>Proyecto</a:t>
            </a:r>
          </a:p>
        </p:txBody>
      </p:sp>
      <p:sp>
        <p:nvSpPr>
          <p:cNvPr id="7" name="Rectangle 6"/>
          <p:cNvSpPr/>
          <p:nvPr/>
        </p:nvSpPr>
        <p:spPr>
          <a:xfrm>
            <a:off x="2011680" y="1371600"/>
            <a:ext cx="3794760" cy="594360"/>
          </a:xfrm>
          <a:prstGeom prst="rect">
            <a:avLst/>
          </a:prstGeom>
          <a:solidFill>
            <a:srgbClr val="1C2D4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84832" y="1490472"/>
            <a:ext cx="3648456" cy="320040"/>
          </a:xfrm>
          <a:prstGeom prst="rect">
            <a:avLst/>
          </a:prstGeom>
          <a:noFill/>
        </p:spPr>
        <p:txBody>
          <a:bodyPr wrap="square">
            <a:spAutoFit/>
          </a:bodyPr>
          <a:lstStyle/>
          <a:p>
            <a:pPr algn="ctr">
              <a:defRPr sz="1150" b="1">
                <a:solidFill>
                  <a:srgbClr val="FFFFFF"/>
                </a:solidFill>
                <a:latin typeface="Aptos"/>
              </a:defRPr>
            </a:pPr>
            <a:r>
              <a:t>Proceso del modelo</a:t>
            </a:r>
          </a:p>
        </p:txBody>
      </p:sp>
      <p:sp>
        <p:nvSpPr>
          <p:cNvPr id="9" name="Rectangle 8"/>
          <p:cNvSpPr/>
          <p:nvPr/>
        </p:nvSpPr>
        <p:spPr>
          <a:xfrm>
            <a:off x="5806440" y="1371600"/>
            <a:ext cx="4800600" cy="594360"/>
          </a:xfrm>
          <a:prstGeom prst="rect">
            <a:avLst/>
          </a:prstGeom>
          <a:solidFill>
            <a:srgbClr val="1C2D4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79592" y="1490472"/>
            <a:ext cx="4654296" cy="320040"/>
          </a:xfrm>
          <a:prstGeom prst="rect">
            <a:avLst/>
          </a:prstGeom>
          <a:noFill/>
        </p:spPr>
        <p:txBody>
          <a:bodyPr wrap="square">
            <a:spAutoFit/>
          </a:bodyPr>
          <a:lstStyle/>
          <a:p>
            <a:pPr algn="ctr">
              <a:defRPr sz="1150" b="1">
                <a:solidFill>
                  <a:srgbClr val="FFFFFF"/>
                </a:solidFill>
                <a:latin typeface="Aptos"/>
              </a:defRPr>
            </a:pPr>
            <a:r>
              <a:t>Uso de las herramientas</a:t>
            </a:r>
          </a:p>
        </p:txBody>
      </p:sp>
      <p:sp>
        <p:nvSpPr>
          <p:cNvPr id="11" name="Rectangle 10"/>
          <p:cNvSpPr/>
          <p:nvPr/>
        </p:nvSpPr>
        <p:spPr>
          <a:xfrm>
            <a:off x="502920" y="1965960"/>
            <a:ext cx="1508760" cy="1234440"/>
          </a:xfrm>
          <a:prstGeom prst="rect">
            <a:avLst/>
          </a:prstGeom>
          <a:solidFill>
            <a:srgbClr val="F7F9FB"/>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2148840"/>
            <a:ext cx="1325880" cy="822960"/>
          </a:xfrm>
          <a:prstGeom prst="rect">
            <a:avLst/>
          </a:prstGeom>
          <a:noFill/>
        </p:spPr>
        <p:txBody>
          <a:bodyPr wrap="square">
            <a:spAutoFit/>
          </a:bodyPr>
          <a:lstStyle/>
          <a:p>
            <a:pPr algn="l">
              <a:defRPr sz="1150" b="1">
                <a:solidFill>
                  <a:srgbClr val="2D353F"/>
                </a:solidFill>
                <a:latin typeface="Aptos"/>
              </a:defRPr>
            </a:pPr>
            <a:r>
              <a:t>Banco</a:t>
            </a:r>
          </a:p>
        </p:txBody>
      </p:sp>
      <p:sp>
        <p:nvSpPr>
          <p:cNvPr id="13" name="Rectangle 12"/>
          <p:cNvSpPr/>
          <p:nvPr/>
        </p:nvSpPr>
        <p:spPr>
          <a:xfrm>
            <a:off x="2011680" y="1965960"/>
            <a:ext cx="3794760" cy="1234440"/>
          </a:xfrm>
          <a:prstGeom prst="rect">
            <a:avLst/>
          </a:prstGeom>
          <a:solidFill>
            <a:srgbClr val="F7F9FB"/>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103120" y="2148840"/>
            <a:ext cx="3611880" cy="822960"/>
          </a:xfrm>
          <a:prstGeom prst="rect">
            <a:avLst/>
          </a:prstGeom>
          <a:noFill/>
        </p:spPr>
        <p:txBody>
          <a:bodyPr wrap="square">
            <a:spAutoFit/>
          </a:bodyPr>
          <a:lstStyle/>
          <a:p>
            <a:pPr algn="l">
              <a:defRPr sz="1150" b="0">
                <a:solidFill>
                  <a:srgbClr val="2D353F"/>
                </a:solidFill>
                <a:latin typeface="Aptos"/>
              </a:defRPr>
            </a:pPr>
            <a:r>
              <a:t>Atención, operaciones y flujo de clientes</a:t>
            </a:r>
          </a:p>
        </p:txBody>
      </p:sp>
      <p:sp>
        <p:nvSpPr>
          <p:cNvPr id="15" name="Rectangle 14"/>
          <p:cNvSpPr/>
          <p:nvPr/>
        </p:nvSpPr>
        <p:spPr>
          <a:xfrm>
            <a:off x="5806440" y="1965960"/>
            <a:ext cx="4800600" cy="1234440"/>
          </a:xfrm>
          <a:prstGeom prst="rect">
            <a:avLst/>
          </a:prstGeom>
          <a:solidFill>
            <a:srgbClr val="F7F9FB"/>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897880" y="2148840"/>
            <a:ext cx="4617720" cy="822960"/>
          </a:xfrm>
          <a:prstGeom prst="rect">
            <a:avLst/>
          </a:prstGeom>
          <a:noFill/>
        </p:spPr>
        <p:txBody>
          <a:bodyPr wrap="square">
            <a:spAutoFit/>
          </a:bodyPr>
          <a:lstStyle/>
          <a:p>
            <a:pPr algn="l">
              <a:defRPr sz="1150" b="0">
                <a:solidFill>
                  <a:srgbClr val="2D353F"/>
                </a:solidFill>
                <a:latin typeface="Aptos"/>
              </a:defRPr>
            </a:pPr>
            <a:r>
              <a:t>Planificar actividades, priorizar requisitos y controlar estados.</a:t>
            </a:r>
          </a:p>
        </p:txBody>
      </p:sp>
      <p:sp>
        <p:nvSpPr>
          <p:cNvPr id="17" name="Rectangle 16"/>
          <p:cNvSpPr/>
          <p:nvPr/>
        </p:nvSpPr>
        <p:spPr>
          <a:xfrm>
            <a:off x="502920" y="3200400"/>
            <a:ext cx="1508760" cy="1234440"/>
          </a:xfrm>
          <a:prstGeom prst="rect">
            <a:avLst/>
          </a:prstGeom>
          <a:solidFill>
            <a:srgbClr val="FFFFFF"/>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94360" y="3383280"/>
            <a:ext cx="1325880" cy="822960"/>
          </a:xfrm>
          <a:prstGeom prst="rect">
            <a:avLst/>
          </a:prstGeom>
          <a:noFill/>
        </p:spPr>
        <p:txBody>
          <a:bodyPr wrap="square">
            <a:spAutoFit/>
          </a:bodyPr>
          <a:lstStyle/>
          <a:p>
            <a:pPr algn="l">
              <a:defRPr sz="1150" b="1">
                <a:solidFill>
                  <a:srgbClr val="2D353F"/>
                </a:solidFill>
                <a:latin typeface="Aptos"/>
              </a:defRPr>
            </a:pPr>
            <a:r>
              <a:t>Fábrica</a:t>
            </a:r>
          </a:p>
        </p:txBody>
      </p:sp>
      <p:sp>
        <p:nvSpPr>
          <p:cNvPr id="19" name="Rectangle 18"/>
          <p:cNvSpPr/>
          <p:nvPr/>
        </p:nvSpPr>
        <p:spPr>
          <a:xfrm>
            <a:off x="2011680" y="3200400"/>
            <a:ext cx="3794760" cy="1234440"/>
          </a:xfrm>
          <a:prstGeom prst="rect">
            <a:avLst/>
          </a:prstGeom>
          <a:solidFill>
            <a:srgbClr val="FFFFFF"/>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03120" y="3383280"/>
            <a:ext cx="3611880" cy="822960"/>
          </a:xfrm>
          <a:prstGeom prst="rect">
            <a:avLst/>
          </a:prstGeom>
          <a:noFill/>
        </p:spPr>
        <p:txBody>
          <a:bodyPr wrap="square">
            <a:spAutoFit/>
          </a:bodyPr>
          <a:lstStyle/>
          <a:p>
            <a:pPr algn="l">
              <a:defRPr sz="1150" b="0">
                <a:solidFill>
                  <a:srgbClr val="2D353F"/>
                </a:solidFill>
                <a:latin typeface="Aptos"/>
              </a:defRPr>
            </a:pPr>
            <a:r>
              <a:t>Producción, inventario y distribución</a:t>
            </a:r>
          </a:p>
        </p:txBody>
      </p:sp>
      <p:sp>
        <p:nvSpPr>
          <p:cNvPr id="21" name="Rectangle 20"/>
          <p:cNvSpPr/>
          <p:nvPr/>
        </p:nvSpPr>
        <p:spPr>
          <a:xfrm>
            <a:off x="5806440" y="3200400"/>
            <a:ext cx="4800600" cy="1234440"/>
          </a:xfrm>
          <a:prstGeom prst="rect">
            <a:avLst/>
          </a:prstGeom>
          <a:solidFill>
            <a:srgbClr val="FFFFFF"/>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97880" y="3383280"/>
            <a:ext cx="4617720" cy="822960"/>
          </a:xfrm>
          <a:prstGeom prst="rect">
            <a:avLst/>
          </a:prstGeom>
          <a:noFill/>
        </p:spPr>
        <p:txBody>
          <a:bodyPr wrap="square">
            <a:spAutoFit/>
          </a:bodyPr>
          <a:lstStyle/>
          <a:p>
            <a:pPr algn="l">
              <a:defRPr sz="1150" b="0">
                <a:solidFill>
                  <a:srgbClr val="2D353F"/>
                </a:solidFill>
                <a:latin typeface="Aptos"/>
              </a:defRPr>
            </a:pPr>
            <a:r>
              <a:t>Organizar etapas, requisitos del proceso y seguimiento del avance.</a:t>
            </a:r>
          </a:p>
        </p:txBody>
      </p:sp>
      <p:sp>
        <p:nvSpPr>
          <p:cNvPr id="23" name="Rectangle 22"/>
          <p:cNvSpPr/>
          <p:nvPr/>
        </p:nvSpPr>
        <p:spPr>
          <a:xfrm>
            <a:off x="502920" y="4434840"/>
            <a:ext cx="1508760" cy="1234440"/>
          </a:xfrm>
          <a:prstGeom prst="rect">
            <a:avLst/>
          </a:prstGeom>
          <a:solidFill>
            <a:srgbClr val="F7F9FB"/>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4360" y="4617720"/>
            <a:ext cx="1325880" cy="822960"/>
          </a:xfrm>
          <a:prstGeom prst="rect">
            <a:avLst/>
          </a:prstGeom>
          <a:noFill/>
        </p:spPr>
        <p:txBody>
          <a:bodyPr wrap="square">
            <a:spAutoFit/>
          </a:bodyPr>
          <a:lstStyle/>
          <a:p>
            <a:pPr algn="l">
              <a:defRPr sz="1150" b="1">
                <a:solidFill>
                  <a:srgbClr val="2D353F"/>
                </a:solidFill>
                <a:latin typeface="Aptos"/>
              </a:defRPr>
            </a:pPr>
            <a:r>
              <a:t>Panadería</a:t>
            </a:r>
          </a:p>
        </p:txBody>
      </p:sp>
      <p:sp>
        <p:nvSpPr>
          <p:cNvPr id="25" name="Rectangle 24"/>
          <p:cNvSpPr/>
          <p:nvPr/>
        </p:nvSpPr>
        <p:spPr>
          <a:xfrm>
            <a:off x="2011680" y="4434840"/>
            <a:ext cx="3794760" cy="1234440"/>
          </a:xfrm>
          <a:prstGeom prst="rect">
            <a:avLst/>
          </a:prstGeom>
          <a:solidFill>
            <a:srgbClr val="F7F9FB"/>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103120" y="4617720"/>
            <a:ext cx="3611880" cy="822960"/>
          </a:xfrm>
          <a:prstGeom prst="rect">
            <a:avLst/>
          </a:prstGeom>
          <a:noFill/>
        </p:spPr>
        <p:txBody>
          <a:bodyPr wrap="square">
            <a:spAutoFit/>
          </a:bodyPr>
          <a:lstStyle/>
          <a:p>
            <a:pPr algn="l">
              <a:defRPr sz="1150" b="0">
                <a:solidFill>
                  <a:srgbClr val="2D353F"/>
                </a:solidFill>
                <a:latin typeface="Aptos"/>
              </a:defRPr>
            </a:pPr>
            <a:r>
              <a:t>Preparación, producción, inventario y ventas</a:t>
            </a:r>
          </a:p>
        </p:txBody>
      </p:sp>
      <p:sp>
        <p:nvSpPr>
          <p:cNvPr id="27" name="Rectangle 26"/>
          <p:cNvSpPr/>
          <p:nvPr/>
        </p:nvSpPr>
        <p:spPr>
          <a:xfrm>
            <a:off x="5806440" y="4434840"/>
            <a:ext cx="4800600" cy="1234440"/>
          </a:xfrm>
          <a:prstGeom prst="rect">
            <a:avLst/>
          </a:prstGeom>
          <a:solidFill>
            <a:srgbClr val="F7F9FB"/>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897880" y="4617720"/>
            <a:ext cx="4617720" cy="822960"/>
          </a:xfrm>
          <a:prstGeom prst="rect">
            <a:avLst/>
          </a:prstGeom>
          <a:noFill/>
        </p:spPr>
        <p:txBody>
          <a:bodyPr wrap="square">
            <a:spAutoFit/>
          </a:bodyPr>
          <a:lstStyle/>
          <a:p>
            <a:pPr algn="l">
              <a:defRPr sz="1150" b="0">
                <a:solidFill>
                  <a:srgbClr val="2D353F"/>
                </a:solidFill>
                <a:latin typeface="Aptos"/>
              </a:defRPr>
            </a:pPr>
            <a:r>
              <a:t>Programar tareas, documentar necesidades y visualizar el estado.</a:t>
            </a:r>
          </a:p>
        </p:txBody>
      </p:sp>
      <p:sp>
        <p:nvSpPr>
          <p:cNvPr id="29" name="TextBox 28"/>
          <p:cNvSpPr txBox="1"/>
          <p:nvPr/>
        </p:nvSpPr>
        <p:spPr>
          <a:xfrm>
            <a:off x="822960" y="5650230"/>
            <a:ext cx="9326880" cy="457200"/>
          </a:xfrm>
          <a:prstGeom prst="rect">
            <a:avLst/>
          </a:prstGeom>
          <a:noFill/>
        </p:spPr>
        <p:txBody>
          <a:bodyPr wrap="square">
            <a:spAutoFit/>
          </a:bodyPr>
          <a:lstStyle/>
          <a:p>
            <a:pPr algn="ctr">
              <a:defRPr sz="1600" b="1">
                <a:solidFill>
                  <a:srgbClr val="1C2D44"/>
                </a:solidFill>
                <a:latin typeface="Aptos"/>
              </a:defRPr>
            </a:pPr>
            <a:r>
              <a:rPr dirty="0"/>
              <a:t>Los </a:t>
            </a:r>
            <a:r>
              <a:rPr dirty="0" err="1"/>
              <a:t>tres</a:t>
            </a:r>
            <a:r>
              <a:rPr dirty="0"/>
              <a:t> </a:t>
            </a:r>
            <a:r>
              <a:rPr dirty="0" err="1"/>
              <a:t>casos</a:t>
            </a:r>
            <a:r>
              <a:rPr dirty="0"/>
              <a:t> </a:t>
            </a:r>
            <a:r>
              <a:rPr dirty="0" err="1"/>
              <a:t>permiten</a:t>
            </a:r>
            <a:r>
              <a:rPr dirty="0"/>
              <a:t> </a:t>
            </a:r>
            <a:r>
              <a:rPr dirty="0" err="1"/>
              <a:t>aplicar</a:t>
            </a:r>
            <a:r>
              <a:rPr dirty="0"/>
              <a:t> </a:t>
            </a:r>
            <a:r>
              <a:rPr dirty="0" err="1"/>
              <a:t>el</a:t>
            </a:r>
            <a:r>
              <a:rPr dirty="0"/>
              <a:t> </a:t>
            </a:r>
            <a:r>
              <a:rPr dirty="0" err="1"/>
              <a:t>mismo</a:t>
            </a:r>
            <a:r>
              <a:rPr dirty="0"/>
              <a:t> </a:t>
            </a:r>
            <a:r>
              <a:rPr dirty="0" err="1"/>
              <a:t>método</a:t>
            </a:r>
            <a:r>
              <a:rPr dirty="0"/>
              <a:t> de </a:t>
            </a:r>
            <a:r>
              <a:rPr dirty="0" err="1"/>
              <a:t>gestión</a:t>
            </a:r>
            <a:r>
              <a:rPr dirty="0"/>
              <a:t> a </a:t>
            </a:r>
            <a:r>
              <a:rPr dirty="0" err="1"/>
              <a:t>proyectos</a:t>
            </a:r>
            <a:r>
              <a:rPr dirty="0"/>
              <a:t> con </a:t>
            </a:r>
            <a:r>
              <a:rPr dirty="0" err="1"/>
              <a:t>actividades</a:t>
            </a:r>
            <a:r>
              <a:rPr dirty="0"/>
              <a:t> </a:t>
            </a:r>
            <a:r>
              <a:rPr dirty="0" err="1"/>
              <a:t>diferentes</a:t>
            </a:r>
            <a:r>
              <a:rPr dirty="0"/>
              <a:t>.</a:t>
            </a:r>
          </a:p>
        </p:txBody>
      </p:sp>
      <p:sp>
        <p:nvSpPr>
          <p:cNvPr id="30" name="TextBox 29"/>
          <p:cNvSpPr txBox="1"/>
          <p:nvPr/>
        </p:nvSpPr>
        <p:spPr>
          <a:xfrm>
            <a:off x="594360" y="6419088"/>
            <a:ext cx="3657600" cy="182880"/>
          </a:xfrm>
          <a:prstGeom prst="rect">
            <a:avLst/>
          </a:prstGeom>
          <a:noFill/>
        </p:spPr>
        <p:txBody>
          <a:bodyPr wrap="square">
            <a:spAutoFit/>
          </a:bodyPr>
          <a:lstStyle/>
          <a:p>
            <a:pPr algn="l">
              <a:defRPr sz="850" b="0">
                <a:solidFill>
                  <a:srgbClr val="64707D"/>
                </a:solidFill>
                <a:latin typeface="Aptos"/>
              </a:defRPr>
            </a:pPr>
            <a:r>
              <a:t>Gestión de proyectos de TI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4008"/>
          </a:xfrm>
          <a:prstGeom prst="rect">
            <a:avLst/>
          </a:prstGeom>
          <a:solidFill>
            <a:srgbClr val="21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9601200" cy="502920"/>
          </a:xfrm>
          <a:prstGeom prst="rect">
            <a:avLst/>
          </a:prstGeom>
          <a:noFill/>
        </p:spPr>
        <p:txBody>
          <a:bodyPr wrap="square">
            <a:spAutoFit/>
          </a:bodyPr>
          <a:lstStyle/>
          <a:p>
            <a:pPr algn="l">
              <a:defRPr sz="2700" b="1">
                <a:solidFill>
                  <a:srgbClr val="1C2D44"/>
                </a:solidFill>
                <a:latin typeface="Aptos"/>
              </a:defRPr>
            </a:pPr>
            <a:r>
              <a:t>ProjectLibre: planificación del tiempo</a:t>
            </a:r>
          </a:p>
        </p:txBody>
      </p:sp>
      <p:sp>
        <p:nvSpPr>
          <p:cNvPr id="4" name="TextBox 3"/>
          <p:cNvSpPr txBox="1"/>
          <p:nvPr/>
        </p:nvSpPr>
        <p:spPr>
          <a:xfrm>
            <a:off x="10149840" y="201168"/>
            <a:ext cx="502920" cy="274320"/>
          </a:xfrm>
          <a:prstGeom prst="rect">
            <a:avLst/>
          </a:prstGeom>
          <a:noFill/>
        </p:spPr>
        <p:txBody>
          <a:bodyPr wrap="square">
            <a:spAutoFit/>
          </a:bodyPr>
          <a:lstStyle/>
          <a:p>
            <a:pPr algn="r">
              <a:defRPr sz="1000" b="1">
                <a:solidFill>
                  <a:srgbClr val="64707D"/>
                </a:solidFill>
                <a:latin typeface="Aptos"/>
              </a:defRPr>
            </a:pPr>
            <a:r>
              <a:t>05</a:t>
            </a:r>
          </a:p>
        </p:txBody>
      </p:sp>
      <p:sp>
        <p:nvSpPr>
          <p:cNvPr id="5" name="TextBox 4"/>
          <p:cNvSpPr txBox="1"/>
          <p:nvPr/>
        </p:nvSpPr>
        <p:spPr>
          <a:xfrm>
            <a:off x="640080" y="1097280"/>
            <a:ext cx="9784080" cy="502920"/>
          </a:xfrm>
          <a:prstGeom prst="rect">
            <a:avLst/>
          </a:prstGeom>
          <a:noFill/>
        </p:spPr>
        <p:txBody>
          <a:bodyPr wrap="square">
            <a:spAutoFit/>
          </a:bodyPr>
          <a:lstStyle/>
          <a:p>
            <a:pPr algn="l">
              <a:defRPr sz="1500" b="0">
                <a:solidFill>
                  <a:srgbClr val="2D353F"/>
                </a:solidFill>
                <a:latin typeface="Aptos"/>
              </a:defRPr>
            </a:pPr>
            <a:r>
              <a:t>El cronograma define la duración de las tareas y las relaciones que determinan su orden. El Gantt permite revisar esa secuencia.</a:t>
            </a:r>
          </a:p>
        </p:txBody>
      </p:sp>
      <p:pic>
        <p:nvPicPr>
          <p:cNvPr id="6" name="Picture 5" descr="image.png"/>
          <p:cNvPicPr>
            <a:picLocks noChangeAspect="1"/>
          </p:cNvPicPr>
          <p:nvPr/>
        </p:nvPicPr>
        <p:blipFill rotWithShape="1">
          <a:blip r:embed="rId3"/>
          <a:srcRect t="3516"/>
          <a:stretch/>
        </p:blipFill>
        <p:spPr>
          <a:xfrm>
            <a:off x="502920" y="1837944"/>
            <a:ext cx="6629400" cy="4014216"/>
          </a:xfrm>
          <a:prstGeom prst="rect">
            <a:avLst/>
          </a:prstGeom>
        </p:spPr>
      </p:pic>
      <p:sp>
        <p:nvSpPr>
          <p:cNvPr id="7" name="Rounded Rectangle 6"/>
          <p:cNvSpPr/>
          <p:nvPr/>
        </p:nvSpPr>
        <p:spPr>
          <a:xfrm>
            <a:off x="7360920" y="1691640"/>
            <a:ext cx="3154680" cy="1828800"/>
          </a:xfrm>
          <a:prstGeom prst="roundRect">
            <a:avLst/>
          </a:prstGeom>
          <a:solidFill>
            <a:srgbClr val="FFFFFF"/>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60920" y="1691640"/>
            <a:ext cx="73152" cy="1828800"/>
          </a:xfrm>
          <a:prstGeom prst="rect">
            <a:avLst/>
          </a:prstGeom>
          <a:solidFill>
            <a:srgbClr val="21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71232" y="1837944"/>
            <a:ext cx="2788920" cy="320040"/>
          </a:xfrm>
          <a:prstGeom prst="rect">
            <a:avLst/>
          </a:prstGeom>
          <a:noFill/>
        </p:spPr>
        <p:txBody>
          <a:bodyPr wrap="square">
            <a:spAutoFit/>
          </a:bodyPr>
          <a:lstStyle/>
          <a:p>
            <a:pPr algn="l">
              <a:defRPr sz="1500" b="1">
                <a:solidFill>
                  <a:srgbClr val="1C2D44"/>
                </a:solidFill>
                <a:latin typeface="Aptos"/>
              </a:defRPr>
            </a:pPr>
            <a:r>
              <a:t>Aplicación en los 3 proyectos</a:t>
            </a:r>
          </a:p>
        </p:txBody>
      </p:sp>
      <p:sp>
        <p:nvSpPr>
          <p:cNvPr id="10" name="TextBox 9"/>
          <p:cNvSpPr txBox="1"/>
          <p:nvPr/>
        </p:nvSpPr>
        <p:spPr>
          <a:xfrm>
            <a:off x="7571232" y="2258568"/>
            <a:ext cx="2788920" cy="1143000"/>
          </a:xfrm>
          <a:prstGeom prst="rect">
            <a:avLst/>
          </a:prstGeom>
          <a:noFill/>
        </p:spPr>
        <p:txBody>
          <a:bodyPr wrap="square">
            <a:spAutoFit/>
          </a:bodyPr>
          <a:lstStyle/>
          <a:p>
            <a:pPr algn="l">
              <a:defRPr sz="1250" b="0">
                <a:solidFill>
                  <a:srgbClr val="2D353F"/>
                </a:solidFill>
                <a:latin typeface="Aptos"/>
              </a:defRPr>
            </a:pPr>
            <a:r>
              <a:t>Banco: ordenar actividades de atención.</a:t>
            </a:r>
            <a:br/>
            <a:r>
              <a:t>Fábrica: organizar etapas de producción.</a:t>
            </a:r>
            <a:br/>
            <a:r>
              <a:t>Panadería: programar preparación, producción y ventas.</a:t>
            </a:r>
          </a:p>
        </p:txBody>
      </p:sp>
      <p:sp>
        <p:nvSpPr>
          <p:cNvPr id="11" name="Rounded Rectangle 10"/>
          <p:cNvSpPr/>
          <p:nvPr/>
        </p:nvSpPr>
        <p:spPr>
          <a:xfrm>
            <a:off x="7360920" y="3794760"/>
            <a:ext cx="3154680" cy="1554480"/>
          </a:xfrm>
          <a:prstGeom prst="roundRect">
            <a:avLst/>
          </a:prstGeom>
          <a:solidFill>
            <a:srgbClr val="FFFFFF"/>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60920" y="3794760"/>
            <a:ext cx="73152" cy="1554480"/>
          </a:xfrm>
          <a:prstGeom prst="rect">
            <a:avLst/>
          </a:prstGeom>
          <a:solidFill>
            <a:srgbClr val="3A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71232" y="3941064"/>
            <a:ext cx="2788920" cy="320040"/>
          </a:xfrm>
          <a:prstGeom prst="rect">
            <a:avLst/>
          </a:prstGeom>
          <a:noFill/>
        </p:spPr>
        <p:txBody>
          <a:bodyPr wrap="square">
            <a:spAutoFit/>
          </a:bodyPr>
          <a:lstStyle/>
          <a:p>
            <a:pPr algn="l">
              <a:defRPr sz="1500" b="1">
                <a:solidFill>
                  <a:srgbClr val="1C2D44"/>
                </a:solidFill>
                <a:latin typeface="Aptos"/>
              </a:defRPr>
            </a:pPr>
            <a:r>
              <a:t>Ejercicio</a:t>
            </a:r>
          </a:p>
        </p:txBody>
      </p:sp>
      <p:sp>
        <p:nvSpPr>
          <p:cNvPr id="14" name="TextBox 13"/>
          <p:cNvSpPr txBox="1"/>
          <p:nvPr/>
        </p:nvSpPr>
        <p:spPr>
          <a:xfrm>
            <a:off x="7571232" y="4361688"/>
            <a:ext cx="2788920" cy="868680"/>
          </a:xfrm>
          <a:prstGeom prst="rect">
            <a:avLst/>
          </a:prstGeom>
          <a:noFill/>
        </p:spPr>
        <p:txBody>
          <a:bodyPr wrap="square">
            <a:spAutoFit/>
          </a:bodyPr>
          <a:lstStyle/>
          <a:p>
            <a:pPr algn="l">
              <a:defRPr sz="1300" b="0">
                <a:solidFill>
                  <a:srgbClr val="2D353F"/>
                </a:solidFill>
                <a:latin typeface="Aptos"/>
              </a:defRPr>
            </a:pPr>
            <a:r>
              <a:t>Aumentar la duración de una tarea y registrar qué actividades cambian de fecha.</a:t>
            </a:r>
          </a:p>
        </p:txBody>
      </p:sp>
      <p:sp>
        <p:nvSpPr>
          <p:cNvPr id="15" name="TextBox 14"/>
          <p:cNvSpPr txBox="1"/>
          <p:nvPr/>
        </p:nvSpPr>
        <p:spPr>
          <a:xfrm>
            <a:off x="594360" y="6419088"/>
            <a:ext cx="3657600" cy="182880"/>
          </a:xfrm>
          <a:prstGeom prst="rect">
            <a:avLst/>
          </a:prstGeom>
          <a:noFill/>
        </p:spPr>
        <p:txBody>
          <a:bodyPr wrap="square">
            <a:spAutoFit/>
          </a:bodyPr>
          <a:lstStyle/>
          <a:p>
            <a:pPr algn="l">
              <a:defRPr sz="850" b="0">
                <a:solidFill>
                  <a:srgbClr val="64707D"/>
                </a:solidFill>
                <a:latin typeface="Aptos"/>
              </a:defRPr>
            </a:pPr>
            <a:r>
              <a:t>Gestión de proyectos de TI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4008"/>
          </a:xfrm>
          <a:prstGeom prst="rect">
            <a:avLst/>
          </a:prstGeom>
          <a:solidFill>
            <a:srgbClr val="21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9601200" cy="502920"/>
          </a:xfrm>
          <a:prstGeom prst="rect">
            <a:avLst/>
          </a:prstGeom>
          <a:noFill/>
        </p:spPr>
        <p:txBody>
          <a:bodyPr wrap="square">
            <a:spAutoFit/>
          </a:bodyPr>
          <a:lstStyle/>
          <a:p>
            <a:pPr algn="l">
              <a:defRPr sz="2700" b="1">
                <a:solidFill>
                  <a:srgbClr val="1C2D44"/>
                </a:solidFill>
                <a:latin typeface="Aptos"/>
              </a:defRPr>
            </a:pPr>
            <a:r>
              <a:t>Jira: requisitos y prioridades</a:t>
            </a:r>
          </a:p>
        </p:txBody>
      </p:sp>
      <p:sp>
        <p:nvSpPr>
          <p:cNvPr id="4" name="TextBox 3"/>
          <p:cNvSpPr txBox="1"/>
          <p:nvPr/>
        </p:nvSpPr>
        <p:spPr>
          <a:xfrm>
            <a:off x="10149840" y="201168"/>
            <a:ext cx="502920" cy="274320"/>
          </a:xfrm>
          <a:prstGeom prst="rect">
            <a:avLst/>
          </a:prstGeom>
          <a:noFill/>
        </p:spPr>
        <p:txBody>
          <a:bodyPr wrap="square">
            <a:spAutoFit/>
          </a:bodyPr>
          <a:lstStyle/>
          <a:p>
            <a:pPr algn="r">
              <a:defRPr sz="1000" b="1">
                <a:solidFill>
                  <a:srgbClr val="64707D"/>
                </a:solidFill>
                <a:latin typeface="Aptos"/>
              </a:defRPr>
            </a:pPr>
            <a:r>
              <a:t>06</a:t>
            </a:r>
          </a:p>
        </p:txBody>
      </p:sp>
      <p:sp>
        <p:nvSpPr>
          <p:cNvPr id="5" name="TextBox 4"/>
          <p:cNvSpPr txBox="1"/>
          <p:nvPr/>
        </p:nvSpPr>
        <p:spPr>
          <a:xfrm>
            <a:off x="640080" y="1097280"/>
            <a:ext cx="9784080" cy="502920"/>
          </a:xfrm>
          <a:prstGeom prst="rect">
            <a:avLst/>
          </a:prstGeom>
          <a:noFill/>
        </p:spPr>
        <p:txBody>
          <a:bodyPr wrap="square">
            <a:spAutoFit/>
          </a:bodyPr>
          <a:lstStyle/>
          <a:p>
            <a:pPr algn="l">
              <a:defRPr sz="1500" b="0">
                <a:solidFill>
                  <a:srgbClr val="2D353F"/>
                </a:solidFill>
                <a:latin typeface="Aptos"/>
              </a:defRPr>
            </a:pPr>
            <a:r>
              <a:t>El backlog reúne el trabajo pendiente. Cada historia expresa una necesidad, su prioridad y una estimación.</a:t>
            </a:r>
          </a:p>
        </p:txBody>
      </p:sp>
      <p:pic>
        <p:nvPicPr>
          <p:cNvPr id="6" name="Picture 5" descr="image.png"/>
          <p:cNvPicPr>
            <a:picLocks noChangeAspect="1"/>
          </p:cNvPicPr>
          <p:nvPr/>
        </p:nvPicPr>
        <p:blipFill>
          <a:blip r:embed="rId2"/>
          <a:stretch>
            <a:fillRect/>
          </a:stretch>
        </p:blipFill>
        <p:spPr>
          <a:xfrm>
            <a:off x="502920" y="1691640"/>
            <a:ext cx="6629400" cy="4160520"/>
          </a:xfrm>
          <a:prstGeom prst="rect">
            <a:avLst/>
          </a:prstGeom>
        </p:spPr>
      </p:pic>
      <p:sp>
        <p:nvSpPr>
          <p:cNvPr id="7" name="Rounded Rectangle 6"/>
          <p:cNvSpPr/>
          <p:nvPr/>
        </p:nvSpPr>
        <p:spPr>
          <a:xfrm>
            <a:off x="7360920" y="1691640"/>
            <a:ext cx="3154680" cy="1828800"/>
          </a:xfrm>
          <a:prstGeom prst="roundRect">
            <a:avLst/>
          </a:prstGeom>
          <a:solidFill>
            <a:srgbClr val="FFFFFF"/>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60920" y="1691640"/>
            <a:ext cx="73152" cy="1828800"/>
          </a:xfrm>
          <a:prstGeom prst="rect">
            <a:avLst/>
          </a:prstGeom>
          <a:solidFill>
            <a:srgbClr val="3A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71232" y="1837944"/>
            <a:ext cx="2788920" cy="320040"/>
          </a:xfrm>
          <a:prstGeom prst="rect">
            <a:avLst/>
          </a:prstGeom>
          <a:noFill/>
        </p:spPr>
        <p:txBody>
          <a:bodyPr wrap="square">
            <a:spAutoFit/>
          </a:bodyPr>
          <a:lstStyle/>
          <a:p>
            <a:pPr algn="l">
              <a:defRPr sz="1500" b="1">
                <a:solidFill>
                  <a:srgbClr val="1C2D44"/>
                </a:solidFill>
                <a:latin typeface="Aptos"/>
              </a:defRPr>
            </a:pPr>
            <a:r>
              <a:t>Aplicación en los 3 proyectos</a:t>
            </a:r>
          </a:p>
        </p:txBody>
      </p:sp>
      <p:sp>
        <p:nvSpPr>
          <p:cNvPr id="10" name="TextBox 9"/>
          <p:cNvSpPr txBox="1"/>
          <p:nvPr/>
        </p:nvSpPr>
        <p:spPr>
          <a:xfrm>
            <a:off x="7571232" y="2258568"/>
            <a:ext cx="2788920" cy="1143000"/>
          </a:xfrm>
          <a:prstGeom prst="rect">
            <a:avLst/>
          </a:prstGeom>
          <a:noFill/>
        </p:spPr>
        <p:txBody>
          <a:bodyPr wrap="square">
            <a:spAutoFit/>
          </a:bodyPr>
          <a:lstStyle/>
          <a:p>
            <a:pPr algn="l">
              <a:defRPr sz="1230" b="0">
                <a:solidFill>
                  <a:srgbClr val="2D353F"/>
                </a:solidFill>
                <a:latin typeface="Aptos"/>
              </a:defRPr>
            </a:pPr>
            <a:r>
              <a:t>Banco: historias sobre atención y operaciones.</a:t>
            </a:r>
            <a:br/>
            <a:r>
              <a:t>Fábrica: historias sobre producción e inventario.</a:t>
            </a:r>
            <a:br/>
            <a:r>
              <a:t>Panadería: historias sobre preparación, producción y ventas.</a:t>
            </a:r>
          </a:p>
        </p:txBody>
      </p:sp>
      <p:sp>
        <p:nvSpPr>
          <p:cNvPr id="11" name="Rounded Rectangle 10"/>
          <p:cNvSpPr/>
          <p:nvPr/>
        </p:nvSpPr>
        <p:spPr>
          <a:xfrm>
            <a:off x="7360920" y="3794760"/>
            <a:ext cx="3154680" cy="1554480"/>
          </a:xfrm>
          <a:prstGeom prst="roundRect">
            <a:avLst/>
          </a:prstGeom>
          <a:solidFill>
            <a:srgbClr val="FFFFFF"/>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60920" y="3794760"/>
            <a:ext cx="73152" cy="1554480"/>
          </a:xfrm>
          <a:prstGeom prst="rect">
            <a:avLst/>
          </a:prstGeom>
          <a:solidFill>
            <a:srgbClr val="21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71232" y="3941064"/>
            <a:ext cx="2788920" cy="320040"/>
          </a:xfrm>
          <a:prstGeom prst="rect">
            <a:avLst/>
          </a:prstGeom>
          <a:noFill/>
        </p:spPr>
        <p:txBody>
          <a:bodyPr wrap="square">
            <a:spAutoFit/>
          </a:bodyPr>
          <a:lstStyle/>
          <a:p>
            <a:pPr algn="l">
              <a:defRPr sz="1500" b="1">
                <a:solidFill>
                  <a:srgbClr val="1C2D44"/>
                </a:solidFill>
                <a:latin typeface="Aptos"/>
              </a:defRPr>
            </a:pPr>
            <a:r>
              <a:t>Ejercicio</a:t>
            </a:r>
          </a:p>
        </p:txBody>
      </p:sp>
      <p:sp>
        <p:nvSpPr>
          <p:cNvPr id="14" name="TextBox 13"/>
          <p:cNvSpPr txBox="1"/>
          <p:nvPr/>
        </p:nvSpPr>
        <p:spPr>
          <a:xfrm>
            <a:off x="7571232" y="4361688"/>
            <a:ext cx="2788920" cy="868680"/>
          </a:xfrm>
          <a:prstGeom prst="rect">
            <a:avLst/>
          </a:prstGeom>
          <a:noFill/>
        </p:spPr>
        <p:txBody>
          <a:bodyPr wrap="square">
            <a:spAutoFit/>
          </a:bodyPr>
          <a:lstStyle/>
          <a:p>
            <a:pPr algn="l">
              <a:defRPr sz="1300" b="0">
                <a:solidFill>
                  <a:srgbClr val="2D353F"/>
                </a:solidFill>
                <a:latin typeface="Aptos"/>
              </a:defRPr>
            </a:pPr>
            <a:r>
              <a:t>Revisar una historia y definir una condición que permita comprobar su cumplimiento.</a:t>
            </a:r>
          </a:p>
        </p:txBody>
      </p:sp>
      <p:sp>
        <p:nvSpPr>
          <p:cNvPr id="15" name="TextBox 14"/>
          <p:cNvSpPr txBox="1"/>
          <p:nvPr/>
        </p:nvSpPr>
        <p:spPr>
          <a:xfrm>
            <a:off x="594360" y="6419088"/>
            <a:ext cx="3657600" cy="182880"/>
          </a:xfrm>
          <a:prstGeom prst="rect">
            <a:avLst/>
          </a:prstGeom>
          <a:noFill/>
        </p:spPr>
        <p:txBody>
          <a:bodyPr wrap="square">
            <a:spAutoFit/>
          </a:bodyPr>
          <a:lstStyle/>
          <a:p>
            <a:pPr algn="l">
              <a:defRPr sz="850" b="0">
                <a:solidFill>
                  <a:srgbClr val="64707D"/>
                </a:solidFill>
                <a:latin typeface="Aptos"/>
              </a:defRPr>
            </a:pPr>
            <a:r>
              <a:t>Gestión de proyectos de TI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4008"/>
          </a:xfrm>
          <a:prstGeom prst="rect">
            <a:avLst/>
          </a:prstGeom>
          <a:solidFill>
            <a:srgbClr val="21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9601200" cy="502920"/>
          </a:xfrm>
          <a:prstGeom prst="rect">
            <a:avLst/>
          </a:prstGeom>
          <a:noFill/>
        </p:spPr>
        <p:txBody>
          <a:bodyPr wrap="square">
            <a:spAutoFit/>
          </a:bodyPr>
          <a:lstStyle/>
          <a:p>
            <a:pPr algn="l">
              <a:defRPr sz="2700" b="1">
                <a:solidFill>
                  <a:srgbClr val="1C2D44"/>
                </a:solidFill>
                <a:latin typeface="Aptos"/>
              </a:defRPr>
            </a:pPr>
            <a:r>
              <a:t>Trello: estado de las actividades</a:t>
            </a:r>
          </a:p>
        </p:txBody>
      </p:sp>
      <p:sp>
        <p:nvSpPr>
          <p:cNvPr id="4" name="TextBox 3"/>
          <p:cNvSpPr txBox="1"/>
          <p:nvPr/>
        </p:nvSpPr>
        <p:spPr>
          <a:xfrm>
            <a:off x="10149840" y="201168"/>
            <a:ext cx="502920" cy="274320"/>
          </a:xfrm>
          <a:prstGeom prst="rect">
            <a:avLst/>
          </a:prstGeom>
          <a:noFill/>
        </p:spPr>
        <p:txBody>
          <a:bodyPr wrap="square">
            <a:spAutoFit/>
          </a:bodyPr>
          <a:lstStyle/>
          <a:p>
            <a:pPr algn="r">
              <a:defRPr sz="1000" b="1">
                <a:solidFill>
                  <a:srgbClr val="64707D"/>
                </a:solidFill>
                <a:latin typeface="Aptos"/>
              </a:defRPr>
            </a:pPr>
            <a:r>
              <a:t>07</a:t>
            </a:r>
          </a:p>
        </p:txBody>
      </p:sp>
      <p:sp>
        <p:nvSpPr>
          <p:cNvPr id="5" name="TextBox 4"/>
          <p:cNvSpPr txBox="1"/>
          <p:nvPr/>
        </p:nvSpPr>
        <p:spPr>
          <a:xfrm>
            <a:off x="640080" y="1097280"/>
            <a:ext cx="9784080" cy="502920"/>
          </a:xfrm>
          <a:prstGeom prst="rect">
            <a:avLst/>
          </a:prstGeom>
          <a:noFill/>
        </p:spPr>
        <p:txBody>
          <a:bodyPr wrap="square">
            <a:spAutoFit/>
          </a:bodyPr>
          <a:lstStyle/>
          <a:p>
            <a:pPr algn="l">
              <a:defRPr sz="1500" b="0">
                <a:solidFill>
                  <a:srgbClr val="2D353F"/>
                </a:solidFill>
                <a:latin typeface="Aptos"/>
              </a:defRPr>
            </a:pPr>
            <a:r>
              <a:t>Trello permite consultar visualmente el estado del trabajo mediante listas y tarjetas que representan las actividades de cada proyecto.</a:t>
            </a:r>
          </a:p>
        </p:txBody>
      </p:sp>
      <p:pic>
        <p:nvPicPr>
          <p:cNvPr id="6" name="Picture 5" descr="image.png"/>
          <p:cNvPicPr>
            <a:picLocks noChangeAspect="1"/>
          </p:cNvPicPr>
          <p:nvPr/>
        </p:nvPicPr>
        <p:blipFill>
          <a:blip r:embed="rId2"/>
          <a:stretch>
            <a:fillRect/>
          </a:stretch>
        </p:blipFill>
        <p:spPr>
          <a:xfrm>
            <a:off x="502920" y="1691640"/>
            <a:ext cx="6629400" cy="4160520"/>
          </a:xfrm>
          <a:prstGeom prst="rect">
            <a:avLst/>
          </a:prstGeom>
        </p:spPr>
      </p:pic>
      <p:sp>
        <p:nvSpPr>
          <p:cNvPr id="7" name="Rounded Rectangle 6"/>
          <p:cNvSpPr/>
          <p:nvPr/>
        </p:nvSpPr>
        <p:spPr>
          <a:xfrm>
            <a:off x="7360920" y="1691640"/>
            <a:ext cx="3154680" cy="1828800"/>
          </a:xfrm>
          <a:prstGeom prst="roundRect">
            <a:avLst/>
          </a:prstGeom>
          <a:solidFill>
            <a:srgbClr val="FFFFFF"/>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60920" y="1691640"/>
            <a:ext cx="73152" cy="1828800"/>
          </a:xfrm>
          <a:prstGeom prst="rect">
            <a:avLst/>
          </a:prstGeom>
          <a:solidFill>
            <a:srgbClr val="21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571232" y="1837944"/>
            <a:ext cx="2788920" cy="320040"/>
          </a:xfrm>
          <a:prstGeom prst="rect">
            <a:avLst/>
          </a:prstGeom>
          <a:noFill/>
        </p:spPr>
        <p:txBody>
          <a:bodyPr wrap="square">
            <a:spAutoFit/>
          </a:bodyPr>
          <a:lstStyle/>
          <a:p>
            <a:pPr algn="l">
              <a:defRPr sz="1500" b="1">
                <a:solidFill>
                  <a:srgbClr val="1C2D44"/>
                </a:solidFill>
                <a:latin typeface="Aptos"/>
              </a:defRPr>
            </a:pPr>
            <a:r>
              <a:t>Flujo de seguimiento</a:t>
            </a:r>
          </a:p>
        </p:txBody>
      </p:sp>
      <p:sp>
        <p:nvSpPr>
          <p:cNvPr id="10" name="TextBox 9"/>
          <p:cNvSpPr txBox="1"/>
          <p:nvPr/>
        </p:nvSpPr>
        <p:spPr>
          <a:xfrm>
            <a:off x="7571232" y="2258568"/>
            <a:ext cx="2788920" cy="1143000"/>
          </a:xfrm>
          <a:prstGeom prst="rect">
            <a:avLst/>
          </a:prstGeom>
          <a:noFill/>
        </p:spPr>
        <p:txBody>
          <a:bodyPr wrap="square">
            <a:spAutoFit/>
          </a:bodyPr>
          <a:lstStyle/>
          <a:p>
            <a:pPr algn="l">
              <a:defRPr sz="1280" b="0">
                <a:solidFill>
                  <a:srgbClr val="2D353F"/>
                </a:solidFill>
                <a:latin typeface="Aptos"/>
              </a:defRPr>
            </a:pPr>
            <a:r>
              <a:t>Por hacer → En proceso → En revisión → Terminado.</a:t>
            </a:r>
            <a:br/>
            <a:r>
              <a:t>Cada tarjeta puede identificar la actividad, responsable y fecha.</a:t>
            </a:r>
          </a:p>
        </p:txBody>
      </p:sp>
      <p:sp>
        <p:nvSpPr>
          <p:cNvPr id="11" name="Rounded Rectangle 10"/>
          <p:cNvSpPr/>
          <p:nvPr/>
        </p:nvSpPr>
        <p:spPr>
          <a:xfrm>
            <a:off x="7360920" y="3794760"/>
            <a:ext cx="3154680" cy="1554480"/>
          </a:xfrm>
          <a:prstGeom prst="roundRect">
            <a:avLst/>
          </a:prstGeom>
          <a:solidFill>
            <a:srgbClr val="FFFFFF"/>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60920" y="3794760"/>
            <a:ext cx="73152" cy="1554480"/>
          </a:xfrm>
          <a:prstGeom prst="rect">
            <a:avLst/>
          </a:prstGeom>
          <a:solidFill>
            <a:srgbClr val="3A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571232" y="3941064"/>
            <a:ext cx="2788920" cy="320040"/>
          </a:xfrm>
          <a:prstGeom prst="rect">
            <a:avLst/>
          </a:prstGeom>
          <a:noFill/>
        </p:spPr>
        <p:txBody>
          <a:bodyPr wrap="square">
            <a:spAutoFit/>
          </a:bodyPr>
          <a:lstStyle/>
          <a:p>
            <a:pPr algn="l">
              <a:defRPr sz="1500" b="1">
                <a:solidFill>
                  <a:srgbClr val="1C2D44"/>
                </a:solidFill>
                <a:latin typeface="Aptos"/>
              </a:defRPr>
            </a:pPr>
            <a:r>
              <a:t>Aplicación</a:t>
            </a:r>
          </a:p>
        </p:txBody>
      </p:sp>
      <p:sp>
        <p:nvSpPr>
          <p:cNvPr id="14" name="TextBox 13"/>
          <p:cNvSpPr txBox="1"/>
          <p:nvPr/>
        </p:nvSpPr>
        <p:spPr>
          <a:xfrm>
            <a:off x="7571232" y="4361688"/>
            <a:ext cx="2788920" cy="868680"/>
          </a:xfrm>
          <a:prstGeom prst="rect">
            <a:avLst/>
          </a:prstGeom>
          <a:noFill/>
        </p:spPr>
        <p:txBody>
          <a:bodyPr wrap="square">
            <a:spAutoFit/>
          </a:bodyPr>
          <a:lstStyle/>
          <a:p>
            <a:pPr algn="l">
              <a:defRPr sz="1300" b="0">
                <a:solidFill>
                  <a:srgbClr val="2D353F"/>
                </a:solidFill>
                <a:latin typeface="Aptos"/>
              </a:defRPr>
            </a:pPr>
            <a:r>
              <a:t>Actualizar una tarjeta y explicar qué evidencia justifica el nuevo estado.</a:t>
            </a:r>
          </a:p>
        </p:txBody>
      </p:sp>
      <p:sp>
        <p:nvSpPr>
          <p:cNvPr id="15" name="TextBox 14"/>
          <p:cNvSpPr txBox="1"/>
          <p:nvPr/>
        </p:nvSpPr>
        <p:spPr>
          <a:xfrm>
            <a:off x="594360" y="6419088"/>
            <a:ext cx="3657600" cy="182880"/>
          </a:xfrm>
          <a:prstGeom prst="rect">
            <a:avLst/>
          </a:prstGeom>
          <a:noFill/>
        </p:spPr>
        <p:txBody>
          <a:bodyPr wrap="square">
            <a:spAutoFit/>
          </a:bodyPr>
          <a:lstStyle/>
          <a:p>
            <a:pPr algn="l">
              <a:defRPr sz="850" b="0">
                <a:solidFill>
                  <a:srgbClr val="64707D"/>
                </a:solidFill>
                <a:latin typeface="Aptos"/>
              </a:defRPr>
            </a:pPr>
            <a:r>
              <a:t>Gestión de proyectos de TI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4008"/>
          </a:xfrm>
          <a:prstGeom prst="rect">
            <a:avLst/>
          </a:prstGeom>
          <a:solidFill>
            <a:srgbClr val="21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9601200" cy="502920"/>
          </a:xfrm>
          <a:prstGeom prst="rect">
            <a:avLst/>
          </a:prstGeom>
          <a:noFill/>
        </p:spPr>
        <p:txBody>
          <a:bodyPr wrap="square">
            <a:spAutoFit/>
          </a:bodyPr>
          <a:lstStyle/>
          <a:p>
            <a:pPr algn="l">
              <a:defRPr sz="2700" b="1">
                <a:solidFill>
                  <a:srgbClr val="1C2D44"/>
                </a:solidFill>
                <a:latin typeface="Aptos"/>
              </a:defRPr>
            </a:pPr>
            <a:r>
              <a:t>Aplicación de las herramientas</a:t>
            </a:r>
          </a:p>
        </p:txBody>
      </p:sp>
      <p:sp>
        <p:nvSpPr>
          <p:cNvPr id="4" name="TextBox 3"/>
          <p:cNvSpPr txBox="1"/>
          <p:nvPr/>
        </p:nvSpPr>
        <p:spPr>
          <a:xfrm>
            <a:off x="10149840" y="201168"/>
            <a:ext cx="502920" cy="274320"/>
          </a:xfrm>
          <a:prstGeom prst="rect">
            <a:avLst/>
          </a:prstGeom>
          <a:noFill/>
        </p:spPr>
        <p:txBody>
          <a:bodyPr wrap="square">
            <a:spAutoFit/>
          </a:bodyPr>
          <a:lstStyle/>
          <a:p>
            <a:pPr algn="r">
              <a:defRPr sz="1000" b="1">
                <a:solidFill>
                  <a:srgbClr val="64707D"/>
                </a:solidFill>
                <a:latin typeface="Aptos"/>
              </a:defRPr>
            </a:pPr>
            <a:r>
              <a:t>08</a:t>
            </a:r>
          </a:p>
        </p:txBody>
      </p:sp>
      <p:sp>
        <p:nvSpPr>
          <p:cNvPr id="5" name="Rectangle 4"/>
          <p:cNvSpPr/>
          <p:nvPr/>
        </p:nvSpPr>
        <p:spPr>
          <a:xfrm>
            <a:off x="411480" y="1325880"/>
            <a:ext cx="1645920" cy="594360"/>
          </a:xfrm>
          <a:prstGeom prst="rect">
            <a:avLst/>
          </a:prstGeom>
          <a:solidFill>
            <a:srgbClr val="1C2D4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66344" y="1444752"/>
            <a:ext cx="1536192" cy="320040"/>
          </a:xfrm>
          <a:prstGeom prst="rect">
            <a:avLst/>
          </a:prstGeom>
          <a:noFill/>
        </p:spPr>
        <p:txBody>
          <a:bodyPr wrap="square">
            <a:spAutoFit/>
          </a:bodyPr>
          <a:lstStyle/>
          <a:p>
            <a:pPr algn="ctr">
              <a:defRPr sz="1150" b="1">
                <a:solidFill>
                  <a:srgbClr val="FFFFFF"/>
                </a:solidFill>
                <a:latin typeface="Aptos"/>
              </a:defRPr>
            </a:pPr>
            <a:r>
              <a:t>Proyecto</a:t>
            </a:r>
          </a:p>
        </p:txBody>
      </p:sp>
      <p:sp>
        <p:nvSpPr>
          <p:cNvPr id="7" name="Rectangle 6"/>
          <p:cNvSpPr/>
          <p:nvPr/>
        </p:nvSpPr>
        <p:spPr>
          <a:xfrm>
            <a:off x="2057400" y="1325880"/>
            <a:ext cx="2880360" cy="594360"/>
          </a:xfrm>
          <a:prstGeom prst="rect">
            <a:avLst/>
          </a:prstGeom>
          <a:solidFill>
            <a:srgbClr val="1C2D4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12264" y="1444752"/>
            <a:ext cx="2770632" cy="320040"/>
          </a:xfrm>
          <a:prstGeom prst="rect">
            <a:avLst/>
          </a:prstGeom>
          <a:noFill/>
        </p:spPr>
        <p:txBody>
          <a:bodyPr wrap="square">
            <a:spAutoFit/>
          </a:bodyPr>
          <a:lstStyle/>
          <a:p>
            <a:pPr algn="ctr">
              <a:defRPr sz="1150" b="1">
                <a:solidFill>
                  <a:srgbClr val="FFFFFF"/>
                </a:solidFill>
                <a:latin typeface="Aptos"/>
              </a:defRPr>
            </a:pPr>
            <a:r>
              <a:t>ProjectLibre</a:t>
            </a:r>
          </a:p>
        </p:txBody>
      </p:sp>
      <p:sp>
        <p:nvSpPr>
          <p:cNvPr id="9" name="Rectangle 8"/>
          <p:cNvSpPr/>
          <p:nvPr/>
        </p:nvSpPr>
        <p:spPr>
          <a:xfrm>
            <a:off x="4937760" y="1325880"/>
            <a:ext cx="3246120" cy="594360"/>
          </a:xfrm>
          <a:prstGeom prst="rect">
            <a:avLst/>
          </a:prstGeom>
          <a:solidFill>
            <a:srgbClr val="1C2D4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992624" y="1444752"/>
            <a:ext cx="3136391" cy="320040"/>
          </a:xfrm>
          <a:prstGeom prst="rect">
            <a:avLst/>
          </a:prstGeom>
          <a:noFill/>
        </p:spPr>
        <p:txBody>
          <a:bodyPr wrap="square">
            <a:spAutoFit/>
          </a:bodyPr>
          <a:lstStyle/>
          <a:p>
            <a:pPr algn="ctr">
              <a:defRPr sz="1150" b="1">
                <a:solidFill>
                  <a:srgbClr val="FFFFFF"/>
                </a:solidFill>
                <a:latin typeface="Aptos"/>
              </a:defRPr>
            </a:pPr>
            <a:r>
              <a:t>Jira</a:t>
            </a:r>
          </a:p>
        </p:txBody>
      </p:sp>
      <p:sp>
        <p:nvSpPr>
          <p:cNvPr id="11" name="Rectangle 10"/>
          <p:cNvSpPr/>
          <p:nvPr/>
        </p:nvSpPr>
        <p:spPr>
          <a:xfrm>
            <a:off x="8183879" y="1325880"/>
            <a:ext cx="2743200" cy="594360"/>
          </a:xfrm>
          <a:prstGeom prst="rect">
            <a:avLst/>
          </a:prstGeom>
          <a:solidFill>
            <a:srgbClr val="1C2D44"/>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38744" y="1444752"/>
            <a:ext cx="2633472" cy="320040"/>
          </a:xfrm>
          <a:prstGeom prst="rect">
            <a:avLst/>
          </a:prstGeom>
          <a:noFill/>
        </p:spPr>
        <p:txBody>
          <a:bodyPr wrap="square">
            <a:spAutoFit/>
          </a:bodyPr>
          <a:lstStyle/>
          <a:p>
            <a:pPr algn="ctr">
              <a:defRPr sz="1150" b="1">
                <a:solidFill>
                  <a:srgbClr val="FFFFFF"/>
                </a:solidFill>
                <a:latin typeface="Aptos"/>
              </a:defRPr>
            </a:pPr>
            <a:r>
              <a:t>Trello</a:t>
            </a:r>
          </a:p>
        </p:txBody>
      </p:sp>
      <p:sp>
        <p:nvSpPr>
          <p:cNvPr id="13" name="Rectangle 12"/>
          <p:cNvSpPr/>
          <p:nvPr/>
        </p:nvSpPr>
        <p:spPr>
          <a:xfrm>
            <a:off x="411480" y="1920240"/>
            <a:ext cx="1645920" cy="1188720"/>
          </a:xfrm>
          <a:prstGeom prst="rect">
            <a:avLst/>
          </a:prstGeom>
          <a:solidFill>
            <a:srgbClr val="F7F9FB"/>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4632" y="2084832"/>
            <a:ext cx="1499616" cy="777240"/>
          </a:xfrm>
          <a:prstGeom prst="rect">
            <a:avLst/>
          </a:prstGeom>
          <a:noFill/>
        </p:spPr>
        <p:txBody>
          <a:bodyPr wrap="square">
            <a:spAutoFit/>
          </a:bodyPr>
          <a:lstStyle/>
          <a:p>
            <a:pPr algn="l">
              <a:defRPr sz="1120" b="1">
                <a:solidFill>
                  <a:srgbClr val="2D353F"/>
                </a:solidFill>
                <a:latin typeface="Aptos"/>
              </a:defRPr>
            </a:pPr>
            <a:r>
              <a:t>Banco</a:t>
            </a:r>
          </a:p>
        </p:txBody>
      </p:sp>
      <p:sp>
        <p:nvSpPr>
          <p:cNvPr id="15" name="Rectangle 14"/>
          <p:cNvSpPr/>
          <p:nvPr/>
        </p:nvSpPr>
        <p:spPr>
          <a:xfrm>
            <a:off x="2057400" y="1920240"/>
            <a:ext cx="2880360" cy="1188720"/>
          </a:xfrm>
          <a:prstGeom prst="rect">
            <a:avLst/>
          </a:prstGeom>
          <a:solidFill>
            <a:srgbClr val="F7F9FB"/>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30552" y="2084832"/>
            <a:ext cx="2734056" cy="777240"/>
          </a:xfrm>
          <a:prstGeom prst="rect">
            <a:avLst/>
          </a:prstGeom>
          <a:noFill/>
        </p:spPr>
        <p:txBody>
          <a:bodyPr wrap="square">
            <a:spAutoFit/>
          </a:bodyPr>
          <a:lstStyle/>
          <a:p>
            <a:pPr algn="ctr">
              <a:defRPr sz="1120" b="0">
                <a:solidFill>
                  <a:srgbClr val="2D353F"/>
                </a:solidFill>
                <a:latin typeface="Aptos"/>
              </a:defRPr>
            </a:pPr>
            <a:r>
              <a:t>Actividades y cronograma</a:t>
            </a:r>
          </a:p>
        </p:txBody>
      </p:sp>
      <p:sp>
        <p:nvSpPr>
          <p:cNvPr id="17" name="Rectangle 16"/>
          <p:cNvSpPr/>
          <p:nvPr/>
        </p:nvSpPr>
        <p:spPr>
          <a:xfrm>
            <a:off x="4937760" y="1920240"/>
            <a:ext cx="3246120" cy="1188720"/>
          </a:xfrm>
          <a:prstGeom prst="rect">
            <a:avLst/>
          </a:prstGeom>
          <a:solidFill>
            <a:srgbClr val="F7F9FB"/>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010912" y="2084832"/>
            <a:ext cx="3099815" cy="777240"/>
          </a:xfrm>
          <a:prstGeom prst="rect">
            <a:avLst/>
          </a:prstGeom>
          <a:noFill/>
        </p:spPr>
        <p:txBody>
          <a:bodyPr wrap="square">
            <a:spAutoFit/>
          </a:bodyPr>
          <a:lstStyle/>
          <a:p>
            <a:pPr algn="ctr">
              <a:defRPr sz="1120" b="0">
                <a:solidFill>
                  <a:srgbClr val="2D353F"/>
                </a:solidFill>
                <a:latin typeface="Aptos"/>
              </a:defRPr>
            </a:pPr>
            <a:r>
              <a:t>Requisitos de atención y operaciones</a:t>
            </a:r>
          </a:p>
        </p:txBody>
      </p:sp>
      <p:sp>
        <p:nvSpPr>
          <p:cNvPr id="19" name="Rectangle 18"/>
          <p:cNvSpPr/>
          <p:nvPr/>
        </p:nvSpPr>
        <p:spPr>
          <a:xfrm>
            <a:off x="8183879" y="1920240"/>
            <a:ext cx="2743200" cy="1188720"/>
          </a:xfrm>
          <a:prstGeom prst="rect">
            <a:avLst/>
          </a:prstGeom>
          <a:solidFill>
            <a:srgbClr val="F7F9FB"/>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57031" y="2084832"/>
            <a:ext cx="2596896" cy="777240"/>
          </a:xfrm>
          <a:prstGeom prst="rect">
            <a:avLst/>
          </a:prstGeom>
          <a:noFill/>
        </p:spPr>
        <p:txBody>
          <a:bodyPr wrap="square">
            <a:spAutoFit/>
          </a:bodyPr>
          <a:lstStyle/>
          <a:p>
            <a:pPr algn="ctr">
              <a:defRPr sz="1120" b="0">
                <a:solidFill>
                  <a:srgbClr val="2D353F"/>
                </a:solidFill>
                <a:latin typeface="Aptos"/>
              </a:defRPr>
            </a:pPr>
            <a:r>
              <a:t>Estado de las tareas</a:t>
            </a:r>
          </a:p>
        </p:txBody>
      </p:sp>
      <p:sp>
        <p:nvSpPr>
          <p:cNvPr id="21" name="Rectangle 20"/>
          <p:cNvSpPr/>
          <p:nvPr/>
        </p:nvSpPr>
        <p:spPr>
          <a:xfrm>
            <a:off x="411480" y="3108960"/>
            <a:ext cx="1645920" cy="1188720"/>
          </a:xfrm>
          <a:prstGeom prst="rect">
            <a:avLst/>
          </a:prstGeom>
          <a:solidFill>
            <a:srgbClr val="FFFFFF"/>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4632" y="3273552"/>
            <a:ext cx="1499616" cy="777240"/>
          </a:xfrm>
          <a:prstGeom prst="rect">
            <a:avLst/>
          </a:prstGeom>
          <a:noFill/>
        </p:spPr>
        <p:txBody>
          <a:bodyPr wrap="square">
            <a:spAutoFit/>
          </a:bodyPr>
          <a:lstStyle/>
          <a:p>
            <a:pPr algn="l">
              <a:defRPr sz="1120" b="1">
                <a:solidFill>
                  <a:srgbClr val="2D353F"/>
                </a:solidFill>
                <a:latin typeface="Aptos"/>
              </a:defRPr>
            </a:pPr>
            <a:r>
              <a:t>Fábrica</a:t>
            </a:r>
          </a:p>
        </p:txBody>
      </p:sp>
      <p:sp>
        <p:nvSpPr>
          <p:cNvPr id="23" name="Rectangle 22"/>
          <p:cNvSpPr/>
          <p:nvPr/>
        </p:nvSpPr>
        <p:spPr>
          <a:xfrm>
            <a:off x="2057400" y="3108960"/>
            <a:ext cx="2880360" cy="1188720"/>
          </a:xfrm>
          <a:prstGeom prst="rect">
            <a:avLst/>
          </a:prstGeom>
          <a:solidFill>
            <a:srgbClr val="FFFFFF"/>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30552" y="3273552"/>
            <a:ext cx="2734056" cy="777240"/>
          </a:xfrm>
          <a:prstGeom prst="rect">
            <a:avLst/>
          </a:prstGeom>
          <a:noFill/>
        </p:spPr>
        <p:txBody>
          <a:bodyPr wrap="square">
            <a:spAutoFit/>
          </a:bodyPr>
          <a:lstStyle/>
          <a:p>
            <a:pPr algn="ctr">
              <a:defRPr sz="1120" b="0">
                <a:solidFill>
                  <a:srgbClr val="2D353F"/>
                </a:solidFill>
                <a:latin typeface="Aptos"/>
              </a:defRPr>
            </a:pPr>
            <a:r>
              <a:t>Etapas y tiempos de producción</a:t>
            </a:r>
          </a:p>
        </p:txBody>
      </p:sp>
      <p:sp>
        <p:nvSpPr>
          <p:cNvPr id="25" name="Rectangle 24"/>
          <p:cNvSpPr/>
          <p:nvPr/>
        </p:nvSpPr>
        <p:spPr>
          <a:xfrm>
            <a:off x="4937760" y="3108960"/>
            <a:ext cx="3246120" cy="1188720"/>
          </a:xfrm>
          <a:prstGeom prst="rect">
            <a:avLst/>
          </a:prstGeom>
          <a:solidFill>
            <a:srgbClr val="FFFFFF"/>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10912" y="3273552"/>
            <a:ext cx="3099815" cy="777240"/>
          </a:xfrm>
          <a:prstGeom prst="rect">
            <a:avLst/>
          </a:prstGeom>
          <a:noFill/>
        </p:spPr>
        <p:txBody>
          <a:bodyPr wrap="square">
            <a:spAutoFit/>
          </a:bodyPr>
          <a:lstStyle/>
          <a:p>
            <a:pPr algn="ctr">
              <a:defRPr sz="1120" b="0">
                <a:solidFill>
                  <a:srgbClr val="2D353F"/>
                </a:solidFill>
                <a:latin typeface="Aptos"/>
              </a:defRPr>
            </a:pPr>
            <a:r>
              <a:t>Requisitos de producción e inventario</a:t>
            </a:r>
          </a:p>
        </p:txBody>
      </p:sp>
      <p:sp>
        <p:nvSpPr>
          <p:cNvPr id="27" name="Rectangle 26"/>
          <p:cNvSpPr/>
          <p:nvPr/>
        </p:nvSpPr>
        <p:spPr>
          <a:xfrm>
            <a:off x="8183879" y="3108960"/>
            <a:ext cx="2743200" cy="1188720"/>
          </a:xfrm>
          <a:prstGeom prst="rect">
            <a:avLst/>
          </a:prstGeom>
          <a:solidFill>
            <a:srgbClr val="FFFFFF"/>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257031" y="3273552"/>
            <a:ext cx="2596896" cy="777240"/>
          </a:xfrm>
          <a:prstGeom prst="rect">
            <a:avLst/>
          </a:prstGeom>
          <a:noFill/>
        </p:spPr>
        <p:txBody>
          <a:bodyPr wrap="square">
            <a:spAutoFit/>
          </a:bodyPr>
          <a:lstStyle/>
          <a:p>
            <a:pPr algn="ctr">
              <a:defRPr sz="1120" b="0">
                <a:solidFill>
                  <a:srgbClr val="2D353F"/>
                </a:solidFill>
                <a:latin typeface="Aptos"/>
              </a:defRPr>
            </a:pPr>
            <a:r>
              <a:t>Avance de actividades</a:t>
            </a:r>
          </a:p>
        </p:txBody>
      </p:sp>
      <p:sp>
        <p:nvSpPr>
          <p:cNvPr id="29" name="Rectangle 28"/>
          <p:cNvSpPr/>
          <p:nvPr/>
        </p:nvSpPr>
        <p:spPr>
          <a:xfrm>
            <a:off x="411480" y="4297680"/>
            <a:ext cx="1645920" cy="1188720"/>
          </a:xfrm>
          <a:prstGeom prst="rect">
            <a:avLst/>
          </a:prstGeom>
          <a:solidFill>
            <a:srgbClr val="F7F9FB"/>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4632" y="4462272"/>
            <a:ext cx="1499616" cy="777240"/>
          </a:xfrm>
          <a:prstGeom prst="rect">
            <a:avLst/>
          </a:prstGeom>
          <a:noFill/>
        </p:spPr>
        <p:txBody>
          <a:bodyPr wrap="square">
            <a:spAutoFit/>
          </a:bodyPr>
          <a:lstStyle/>
          <a:p>
            <a:pPr algn="l">
              <a:defRPr sz="1120" b="1">
                <a:solidFill>
                  <a:srgbClr val="2D353F"/>
                </a:solidFill>
                <a:latin typeface="Aptos"/>
              </a:defRPr>
            </a:pPr>
            <a:r>
              <a:t>Panadería</a:t>
            </a:r>
          </a:p>
        </p:txBody>
      </p:sp>
      <p:sp>
        <p:nvSpPr>
          <p:cNvPr id="31" name="Rectangle 30"/>
          <p:cNvSpPr/>
          <p:nvPr/>
        </p:nvSpPr>
        <p:spPr>
          <a:xfrm>
            <a:off x="2057400" y="4297680"/>
            <a:ext cx="2880360" cy="1188720"/>
          </a:xfrm>
          <a:prstGeom prst="rect">
            <a:avLst/>
          </a:prstGeom>
          <a:solidFill>
            <a:srgbClr val="F7F9FB"/>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30552" y="4462272"/>
            <a:ext cx="2734056" cy="777240"/>
          </a:xfrm>
          <a:prstGeom prst="rect">
            <a:avLst/>
          </a:prstGeom>
          <a:noFill/>
        </p:spPr>
        <p:txBody>
          <a:bodyPr wrap="square">
            <a:spAutoFit/>
          </a:bodyPr>
          <a:lstStyle/>
          <a:p>
            <a:pPr algn="ctr">
              <a:defRPr sz="1120" b="0">
                <a:solidFill>
                  <a:srgbClr val="2D353F"/>
                </a:solidFill>
                <a:latin typeface="Aptos"/>
              </a:defRPr>
            </a:pPr>
            <a:r>
              <a:t>Preparación, producción y ventas</a:t>
            </a:r>
          </a:p>
        </p:txBody>
      </p:sp>
      <p:sp>
        <p:nvSpPr>
          <p:cNvPr id="33" name="Rectangle 32"/>
          <p:cNvSpPr/>
          <p:nvPr/>
        </p:nvSpPr>
        <p:spPr>
          <a:xfrm>
            <a:off x="4937760" y="4297680"/>
            <a:ext cx="3246120" cy="1188720"/>
          </a:xfrm>
          <a:prstGeom prst="rect">
            <a:avLst/>
          </a:prstGeom>
          <a:solidFill>
            <a:srgbClr val="F7F9FB"/>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010912" y="4462272"/>
            <a:ext cx="3099815" cy="777240"/>
          </a:xfrm>
          <a:prstGeom prst="rect">
            <a:avLst/>
          </a:prstGeom>
          <a:noFill/>
        </p:spPr>
        <p:txBody>
          <a:bodyPr wrap="square">
            <a:spAutoFit/>
          </a:bodyPr>
          <a:lstStyle/>
          <a:p>
            <a:pPr algn="ctr">
              <a:defRPr sz="1120" b="0">
                <a:solidFill>
                  <a:srgbClr val="2D353F"/>
                </a:solidFill>
                <a:latin typeface="Aptos"/>
              </a:defRPr>
            </a:pPr>
            <a:r>
              <a:t>Requisitos de operación</a:t>
            </a:r>
          </a:p>
        </p:txBody>
      </p:sp>
      <p:sp>
        <p:nvSpPr>
          <p:cNvPr id="35" name="Rectangle 34"/>
          <p:cNvSpPr/>
          <p:nvPr/>
        </p:nvSpPr>
        <p:spPr>
          <a:xfrm>
            <a:off x="8183879" y="4297680"/>
            <a:ext cx="2743200" cy="1188720"/>
          </a:xfrm>
          <a:prstGeom prst="rect">
            <a:avLst/>
          </a:prstGeom>
          <a:solidFill>
            <a:srgbClr val="F7F9FB"/>
          </a:solidFill>
          <a:ln>
            <a:solidFill>
              <a:srgbClr val="DAE1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257031" y="4462272"/>
            <a:ext cx="2596896" cy="777240"/>
          </a:xfrm>
          <a:prstGeom prst="rect">
            <a:avLst/>
          </a:prstGeom>
          <a:noFill/>
        </p:spPr>
        <p:txBody>
          <a:bodyPr wrap="square">
            <a:spAutoFit/>
          </a:bodyPr>
          <a:lstStyle/>
          <a:p>
            <a:pPr algn="ctr">
              <a:defRPr sz="1120" b="0">
                <a:solidFill>
                  <a:srgbClr val="2D353F"/>
                </a:solidFill>
                <a:latin typeface="Aptos"/>
              </a:defRPr>
            </a:pPr>
            <a:r>
              <a:t>Seguimiento de tareas</a:t>
            </a:r>
          </a:p>
        </p:txBody>
      </p:sp>
      <p:sp>
        <p:nvSpPr>
          <p:cNvPr id="39" name="TextBox 38"/>
          <p:cNvSpPr txBox="1"/>
          <p:nvPr/>
        </p:nvSpPr>
        <p:spPr>
          <a:xfrm>
            <a:off x="1097280" y="5733288"/>
            <a:ext cx="8961119" cy="320040"/>
          </a:xfrm>
          <a:prstGeom prst="rect">
            <a:avLst/>
          </a:prstGeom>
          <a:noFill/>
        </p:spPr>
        <p:txBody>
          <a:bodyPr wrap="square">
            <a:spAutoFit/>
          </a:bodyPr>
          <a:lstStyle/>
          <a:p>
            <a:pPr algn="l">
              <a:defRPr sz="1500" b="1">
                <a:solidFill>
                  <a:srgbClr val="1C2D44"/>
                </a:solidFill>
                <a:latin typeface="Aptos"/>
              </a:defRPr>
            </a:pPr>
            <a:r>
              <a:t>Integración</a:t>
            </a:r>
          </a:p>
        </p:txBody>
      </p:sp>
      <p:sp>
        <p:nvSpPr>
          <p:cNvPr id="40" name="TextBox 39"/>
          <p:cNvSpPr txBox="1"/>
          <p:nvPr/>
        </p:nvSpPr>
        <p:spPr>
          <a:xfrm>
            <a:off x="1097280" y="6007608"/>
            <a:ext cx="8961119" cy="0"/>
          </a:xfrm>
          <a:prstGeom prst="rect">
            <a:avLst/>
          </a:prstGeom>
          <a:noFill/>
        </p:spPr>
        <p:txBody>
          <a:bodyPr wrap="square">
            <a:spAutoFit/>
          </a:bodyPr>
          <a:lstStyle/>
          <a:p>
            <a:pPr algn="l">
              <a:defRPr sz="1300" b="0">
                <a:solidFill>
                  <a:srgbClr val="2D353F"/>
                </a:solidFill>
                <a:latin typeface="Aptos"/>
              </a:defRPr>
            </a:pPr>
            <a:r>
              <a:rPr dirty="0" err="1"/>
              <a:t>ProjectLibre</a:t>
            </a:r>
            <a:r>
              <a:rPr dirty="0"/>
              <a:t> </a:t>
            </a:r>
            <a:r>
              <a:rPr dirty="0" err="1"/>
              <a:t>muestra</a:t>
            </a:r>
            <a:r>
              <a:rPr dirty="0"/>
              <a:t> </a:t>
            </a:r>
            <a:r>
              <a:rPr dirty="0" err="1"/>
              <a:t>cuándo</a:t>
            </a:r>
            <a:r>
              <a:rPr dirty="0"/>
              <a:t> se </a:t>
            </a:r>
            <a:r>
              <a:rPr dirty="0" err="1"/>
              <a:t>trabaja</a:t>
            </a:r>
            <a:r>
              <a:rPr dirty="0"/>
              <a:t>; Jira </a:t>
            </a:r>
            <a:r>
              <a:rPr dirty="0" err="1"/>
              <a:t>qué</a:t>
            </a:r>
            <a:r>
              <a:rPr dirty="0"/>
              <a:t> se debe </a:t>
            </a:r>
            <a:r>
              <a:rPr dirty="0" err="1"/>
              <a:t>hacer</a:t>
            </a:r>
            <a:r>
              <a:rPr dirty="0"/>
              <a:t>; Trello </a:t>
            </a:r>
            <a:r>
              <a:rPr dirty="0" err="1"/>
              <a:t>en</a:t>
            </a:r>
            <a:r>
              <a:rPr dirty="0"/>
              <a:t> </a:t>
            </a:r>
            <a:r>
              <a:rPr dirty="0" err="1"/>
              <a:t>qué</a:t>
            </a:r>
            <a:r>
              <a:rPr dirty="0"/>
              <a:t> </a:t>
            </a:r>
            <a:r>
              <a:rPr dirty="0" err="1"/>
              <a:t>estado</a:t>
            </a:r>
            <a:r>
              <a:rPr dirty="0"/>
              <a:t> se </a:t>
            </a:r>
            <a:r>
              <a:rPr dirty="0" err="1"/>
              <a:t>encuentra</a:t>
            </a:r>
            <a:r>
              <a:rPr dirty="0"/>
              <a:t>.</a:t>
            </a:r>
          </a:p>
        </p:txBody>
      </p:sp>
      <p:sp>
        <p:nvSpPr>
          <p:cNvPr id="41" name="TextBox 40"/>
          <p:cNvSpPr txBox="1"/>
          <p:nvPr/>
        </p:nvSpPr>
        <p:spPr>
          <a:xfrm>
            <a:off x="594360" y="6419088"/>
            <a:ext cx="3657600" cy="182880"/>
          </a:xfrm>
          <a:prstGeom prst="rect">
            <a:avLst/>
          </a:prstGeom>
          <a:noFill/>
        </p:spPr>
        <p:txBody>
          <a:bodyPr wrap="square">
            <a:spAutoFit/>
          </a:bodyPr>
          <a:lstStyle/>
          <a:p>
            <a:pPr algn="l">
              <a:defRPr sz="850" b="0">
                <a:solidFill>
                  <a:srgbClr val="64707D"/>
                </a:solidFill>
                <a:latin typeface="Aptos"/>
              </a:defRPr>
            </a:pPr>
            <a:r>
              <a:t>Gestión de proyectos de TI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64008"/>
          </a:xfrm>
          <a:prstGeom prst="rect">
            <a:avLst/>
          </a:prstGeom>
          <a:solidFill>
            <a:srgbClr val="2196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502920"/>
            <a:ext cx="9601200" cy="502920"/>
          </a:xfrm>
          <a:prstGeom prst="rect">
            <a:avLst/>
          </a:prstGeom>
          <a:noFill/>
        </p:spPr>
        <p:txBody>
          <a:bodyPr wrap="square">
            <a:spAutoFit/>
          </a:bodyPr>
          <a:lstStyle/>
          <a:p>
            <a:pPr algn="l">
              <a:defRPr sz="2700" b="1">
                <a:solidFill>
                  <a:srgbClr val="1C2D44"/>
                </a:solidFill>
                <a:latin typeface="Aptos"/>
              </a:defRPr>
            </a:pPr>
            <a:r>
              <a:t>Conclusiones</a:t>
            </a:r>
          </a:p>
        </p:txBody>
      </p:sp>
      <p:sp>
        <p:nvSpPr>
          <p:cNvPr id="4" name="TextBox 3"/>
          <p:cNvSpPr txBox="1"/>
          <p:nvPr/>
        </p:nvSpPr>
        <p:spPr>
          <a:xfrm>
            <a:off x="10149840" y="201168"/>
            <a:ext cx="502920" cy="274320"/>
          </a:xfrm>
          <a:prstGeom prst="rect">
            <a:avLst/>
          </a:prstGeom>
          <a:noFill/>
        </p:spPr>
        <p:txBody>
          <a:bodyPr wrap="square">
            <a:spAutoFit/>
          </a:bodyPr>
          <a:lstStyle/>
          <a:p>
            <a:pPr algn="r">
              <a:defRPr sz="1000" b="1">
                <a:solidFill>
                  <a:srgbClr val="64707D"/>
                </a:solidFill>
                <a:latin typeface="Aptos"/>
              </a:defRPr>
            </a:pPr>
            <a:r>
              <a:t>09</a:t>
            </a:r>
          </a:p>
        </p:txBody>
      </p:sp>
      <p:sp>
        <p:nvSpPr>
          <p:cNvPr id="5" name="TextBox 4"/>
          <p:cNvSpPr txBox="1"/>
          <p:nvPr/>
        </p:nvSpPr>
        <p:spPr>
          <a:xfrm>
            <a:off x="731519" y="1325880"/>
            <a:ext cx="10765155" cy="3477875"/>
          </a:xfrm>
          <a:prstGeom prst="rect">
            <a:avLst/>
          </a:prstGeom>
          <a:noFill/>
        </p:spPr>
        <p:txBody>
          <a:bodyPr wrap="square">
            <a:spAutoFit/>
          </a:bodyPr>
          <a:lstStyle/>
          <a:p>
            <a:pPr algn="just"/>
            <a:r>
              <a:rPr lang="es-MX" b="0" dirty="0" err="1">
                <a:solidFill>
                  <a:srgbClr val="000000"/>
                </a:solidFill>
                <a:effectLst/>
                <a:latin typeface="ui-sans-serif"/>
              </a:rPr>
              <a:t>Proj</a:t>
            </a:r>
            <a:r>
              <a:rPr lang="es-MX" sz="2000" b="0" dirty="0" err="1">
                <a:solidFill>
                  <a:srgbClr val="000000"/>
                </a:solidFill>
                <a:effectLst/>
                <a:latin typeface="ui-sans-serif"/>
              </a:rPr>
              <a:t>ectLibre</a:t>
            </a:r>
            <a:r>
              <a:rPr lang="es-MX" sz="2000" b="0" dirty="0">
                <a:solidFill>
                  <a:srgbClr val="000000"/>
                </a:solidFill>
                <a:effectLst/>
                <a:latin typeface="ui-sans-serif"/>
              </a:rPr>
              <a:t> permite organizar las actividades, sus dependencias y recursos, y visualizar cómo un cambio en la duración de una tarea afecta a las siguientes. En el Banco, se apreció que la demora en el diseño de procesos repercute en la atención al cliente. En la Fábrica, que los retrasos en inventarios impactan la producción y distribución. En la Panadería, que la compra oportuna de insumos es clave para todo el proceso de elaboración y ventas.</a:t>
            </a:r>
          </a:p>
          <a:p>
            <a:pPr algn="just"/>
            <a:r>
              <a:rPr lang="es-MX" sz="2000" b="0" dirty="0">
                <a:solidFill>
                  <a:srgbClr val="000000"/>
                </a:solidFill>
                <a:effectLst/>
                <a:latin typeface="ui-sans-serif"/>
              </a:rPr>
              <a:t>La planificación requiere también supervisión y ajustes ante imprevistos; cada proyecto tiene sus prioridades y riesgos propios. El control de cambios permite registrar y evaluar el impacto de cada modificación, manteniendo el cronograma coherente con el trabajo real.</a:t>
            </a:r>
          </a:p>
          <a:p>
            <a:pPr algn="just"/>
            <a:r>
              <a:rPr lang="es-MX" sz="2000" b="0" dirty="0">
                <a:solidFill>
                  <a:srgbClr val="000000"/>
                </a:solidFill>
                <a:effectLst/>
                <a:latin typeface="ui-sans-serif"/>
              </a:rPr>
              <a:t>Finalmente, esta práctica mostró que una gestión ordenada y con información actualizada facilita la toma de decisiones y mejora las probabilidades de cumplir los objetivos en servicios, producción y comercio.</a:t>
            </a:r>
          </a:p>
        </p:txBody>
      </p:sp>
      <p:sp>
        <p:nvSpPr>
          <p:cNvPr id="13" name="TextBox 12"/>
          <p:cNvSpPr txBox="1"/>
          <p:nvPr/>
        </p:nvSpPr>
        <p:spPr>
          <a:xfrm>
            <a:off x="594360" y="6419088"/>
            <a:ext cx="3657600" cy="182880"/>
          </a:xfrm>
          <a:prstGeom prst="rect">
            <a:avLst/>
          </a:prstGeom>
          <a:noFill/>
        </p:spPr>
        <p:txBody>
          <a:bodyPr wrap="square">
            <a:spAutoFit/>
          </a:bodyPr>
          <a:lstStyle/>
          <a:p>
            <a:pPr algn="l">
              <a:defRPr sz="850" b="0">
                <a:solidFill>
                  <a:srgbClr val="64707D"/>
                </a:solidFill>
                <a:latin typeface="Aptos"/>
              </a:defRPr>
            </a:pPr>
            <a:r>
              <a:t>Gestión de proyectos de TI</a:t>
            </a:r>
          </a:p>
        </p:txBody>
      </p:sp>
      <p:sp>
        <p:nvSpPr>
          <p:cNvPr id="14" name="CuadroTexto 13">
            <a:extLst>
              <a:ext uri="{FF2B5EF4-FFF2-40B4-BE49-F238E27FC236}">
                <a16:creationId xmlns:a16="http://schemas.microsoft.com/office/drawing/2014/main" id="{0DE462A3-68B7-4073-AE2F-3E32237E0970}"/>
              </a:ext>
            </a:extLst>
          </p:cNvPr>
          <p:cNvSpPr txBox="1"/>
          <p:nvPr/>
        </p:nvSpPr>
        <p:spPr>
          <a:xfrm>
            <a:off x="731518" y="4797385"/>
            <a:ext cx="10679431" cy="1015663"/>
          </a:xfrm>
          <a:prstGeom prst="rect">
            <a:avLst/>
          </a:prstGeom>
          <a:noFill/>
        </p:spPr>
        <p:txBody>
          <a:bodyPr wrap="square" rtlCol="0">
            <a:spAutoFit/>
          </a:bodyPr>
          <a:lstStyle/>
          <a:p>
            <a:r>
              <a:rPr lang="es-MX" sz="2000" dirty="0">
                <a:latin typeface="ui-sans-serif"/>
              </a:rPr>
              <a:t>La información actualizada permite dar seguimiento y mantener coherencia entre lo planeado y lo realizado.</a:t>
            </a:r>
          </a:p>
          <a:p>
            <a:endParaRPr lang="es-E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986</Words>
  <Application>Microsoft Office PowerPoint</Application>
  <PresentationFormat>Panorámica</PresentationFormat>
  <Paragraphs>104</Paragraphs>
  <Slides>9</Slides>
  <Notes>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Aptos</vt:lpstr>
      <vt:lpstr>Arial</vt:lpstr>
      <vt:lpstr>Calibri</vt:lpstr>
      <vt:lpstr>ui-sans-serif</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Jose Manuel Vazquez Lopez</dc:creator>
  <cp:keywords/>
  <dc:description>generated using python-pptx</dc:description>
  <cp:lastModifiedBy>joselopezmanuel200@gmail.com</cp:lastModifiedBy>
  <cp:revision>6</cp:revision>
  <dcterms:created xsi:type="dcterms:W3CDTF">2013-01-27T09:14:16Z</dcterms:created>
  <dcterms:modified xsi:type="dcterms:W3CDTF">2026-10-03T22:52:37Z</dcterms:modified>
  <cp:category/>
</cp:coreProperties>
</file>